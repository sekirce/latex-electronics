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1"/>
    <p:sldMasterId id="2147483707" r:id="rId2"/>
    <p:sldMasterId id="2147483715" r:id="rId3"/>
    <p:sldMasterId id="2147483688" r:id="rId4"/>
    <p:sldMasterId id="2147483709" r:id="rId5"/>
  </p:sldMasterIdLst>
  <p:notesMasterIdLst>
    <p:notesMasterId r:id="rId17"/>
  </p:notesMasterIdLst>
  <p:sldIdLst>
    <p:sldId id="267" r:id="rId6"/>
    <p:sldId id="268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79" autoAdjust="0"/>
    <p:restoredTop sz="94660"/>
  </p:normalViewPr>
  <p:slideViewPr>
    <p:cSldViewPr snapToGrid="0">
      <p:cViewPr varScale="1">
        <p:scale>
          <a:sx n="74" d="100"/>
          <a:sy n="74" d="100"/>
        </p:scale>
        <p:origin x="6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D7260-E862-40CF-92B0-2B9F7F091B7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89961-57DC-44C7-AB51-00EFA43DFB6F}" type="slidenum">
              <a:rPr lang="ko-KR" altLang="en-US" smtClean="0"/>
              <a:t>‹Nr.›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75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 hasCustomPrompt="1"/>
          </p:nvPr>
        </p:nvSpPr>
        <p:spPr>
          <a:xfrm>
            <a:off x="502115" y="2737957"/>
            <a:ext cx="10515600" cy="54927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000" b="1" spc="-50" baseline="0">
                <a:latin typeface="Trebuchet MS" panose="020B0603020202020204" pitchFamily="34" charset="0"/>
                <a:ea typeface="+mn-ea"/>
              </a:defRPr>
            </a:lvl1pPr>
          </a:lstStyle>
          <a:p>
            <a:r>
              <a:rPr lang="en-US" altLang="ko-KR" dirty="0"/>
              <a:t>Title Goes Here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523876" y="5960111"/>
            <a:ext cx="4197978" cy="33218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600" b="0" spc="0" baseline="0">
                <a:latin typeface="Trebuchet MS" panose="020B0603020202020204" pitchFamily="34" charset="0"/>
                <a:ea typeface="+mn-ea"/>
              </a:defRPr>
            </a:lvl1pPr>
          </a:lstStyle>
          <a:p>
            <a:pPr lvl="0"/>
            <a:r>
              <a:rPr lang="ko-KR" altLang="en-US" dirty="0" err="1"/>
              <a:t>조직명</a:t>
            </a:r>
            <a:endParaRPr lang="ko-KR" altLang="en-US" dirty="0"/>
          </a:p>
        </p:txBody>
      </p:sp>
      <p:sp>
        <p:nvSpPr>
          <p:cNvPr id="15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523876" y="5558848"/>
            <a:ext cx="4197978" cy="33218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23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spc="0" baseline="0">
                <a:latin typeface="Trebuchet MS" panose="020B0603020202020204" pitchFamily="34" charset="0"/>
                <a:ea typeface="+mn-ea"/>
              </a:defRPr>
            </a:lvl1pPr>
          </a:lstStyle>
          <a:p>
            <a:pPr marL="0" marR="0" lvl="0" indent="0" algn="l" defTabSz="914423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Month, Year</a:t>
            </a:r>
            <a:endParaRPr lang="ko-KR" altLang="en-US" dirty="0"/>
          </a:p>
        </p:txBody>
      </p:sp>
      <p:sp>
        <p:nvSpPr>
          <p:cNvPr id="10" name="텍스트 개체 틀 13"/>
          <p:cNvSpPr>
            <a:spLocks noGrp="1"/>
          </p:cNvSpPr>
          <p:nvPr>
            <p:ph type="body" sz="quarter" idx="12" hasCustomPrompt="1"/>
          </p:nvPr>
        </p:nvSpPr>
        <p:spPr>
          <a:xfrm>
            <a:off x="502115" y="3460258"/>
            <a:ext cx="4197978" cy="33218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spc="-50" baseline="0">
                <a:latin typeface="Trebuchet MS" panose="020B0603020202020204" pitchFamily="34" charset="0"/>
                <a:ea typeface="+mn-ea"/>
              </a:defRPr>
            </a:lvl1pPr>
          </a:lstStyle>
          <a:p>
            <a:pPr lvl="0"/>
            <a:r>
              <a:rPr lang="en-US" altLang="ko-KR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88070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 hasCustomPrompt="1"/>
          </p:nvPr>
        </p:nvSpPr>
        <p:spPr>
          <a:xfrm>
            <a:off x="502114" y="472096"/>
            <a:ext cx="11366035" cy="56832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254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직사각형 3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직사각형 6"/>
          <p:cNvSpPr/>
          <p:nvPr userDrawn="1"/>
        </p:nvSpPr>
        <p:spPr>
          <a:xfrm>
            <a:off x="899679" y="3"/>
            <a:ext cx="44308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747" y="6665341"/>
            <a:ext cx="2210343" cy="11689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92" y="6486527"/>
            <a:ext cx="969096" cy="29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9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747" y="6665341"/>
            <a:ext cx="2210343" cy="11689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92" y="6486527"/>
            <a:ext cx="969096" cy="294409"/>
          </a:xfrm>
          <a:prstGeom prst="rect">
            <a:avLst/>
          </a:prstGeom>
        </p:spPr>
      </p:pic>
      <p:sp>
        <p:nvSpPr>
          <p:cNvPr id="16" name="직사각형 15"/>
          <p:cNvSpPr/>
          <p:nvPr userDrawn="1"/>
        </p:nvSpPr>
        <p:spPr>
          <a:xfrm>
            <a:off x="895879" y="0"/>
            <a:ext cx="36000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8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05544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4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직사각형 7"/>
          <p:cNvSpPr/>
          <p:nvPr userDrawn="1"/>
        </p:nvSpPr>
        <p:spPr>
          <a:xfrm>
            <a:off x="899679" y="3"/>
            <a:ext cx="44308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40776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직사각형 12"/>
          <p:cNvSpPr/>
          <p:nvPr userDrawn="1"/>
        </p:nvSpPr>
        <p:spPr>
          <a:xfrm>
            <a:off x="895879" y="0"/>
            <a:ext cx="36000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8309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88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747" y="6665341"/>
            <a:ext cx="2210343" cy="11689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92" y="6486527"/>
            <a:ext cx="969096" cy="294409"/>
          </a:xfrm>
          <a:prstGeom prst="rect">
            <a:avLst/>
          </a:prstGeom>
        </p:spPr>
      </p:pic>
      <p:sp>
        <p:nvSpPr>
          <p:cNvPr id="16" name="직사각형 15"/>
          <p:cNvSpPr/>
          <p:nvPr userDrawn="1"/>
        </p:nvSpPr>
        <p:spPr>
          <a:xfrm>
            <a:off x="895879" y="0"/>
            <a:ext cx="36000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8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96771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4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직사각형 7"/>
          <p:cNvSpPr/>
          <p:nvPr userDrawn="1"/>
        </p:nvSpPr>
        <p:spPr>
          <a:xfrm>
            <a:off x="899679" y="3"/>
            <a:ext cx="44308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75379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직사각형 12"/>
          <p:cNvSpPr/>
          <p:nvPr userDrawn="1"/>
        </p:nvSpPr>
        <p:spPr>
          <a:xfrm>
            <a:off x="895879" y="0"/>
            <a:ext cx="36000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0775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6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 hasCustomPrompt="1"/>
          </p:nvPr>
        </p:nvSpPr>
        <p:spPr>
          <a:xfrm>
            <a:off x="502115" y="2737957"/>
            <a:ext cx="10515600" cy="54927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000" b="1" spc="-50" baseline="0">
                <a:latin typeface="Trebuchet MS" panose="020B0603020202020204" pitchFamily="34" charset="0"/>
                <a:ea typeface="+mn-ea"/>
              </a:defRPr>
            </a:lvl1pPr>
          </a:lstStyle>
          <a:p>
            <a:r>
              <a:rPr lang="en-US" altLang="ko-KR" dirty="0"/>
              <a:t>Title Goes Here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523876" y="5960111"/>
            <a:ext cx="4197978" cy="33218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600" b="0" spc="0" baseline="0">
                <a:latin typeface="Trebuchet MS" panose="020B0603020202020204" pitchFamily="34" charset="0"/>
                <a:ea typeface="+mn-ea"/>
              </a:defRPr>
            </a:lvl1pPr>
          </a:lstStyle>
          <a:p>
            <a:pPr lvl="0"/>
            <a:r>
              <a:rPr lang="ko-KR" altLang="en-US" dirty="0" err="1"/>
              <a:t>조직명</a:t>
            </a:r>
            <a:endParaRPr lang="ko-KR" altLang="en-US" dirty="0"/>
          </a:p>
        </p:txBody>
      </p:sp>
      <p:sp>
        <p:nvSpPr>
          <p:cNvPr id="15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523876" y="5558848"/>
            <a:ext cx="4197978" cy="33218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23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spc="0" baseline="0">
                <a:latin typeface="Trebuchet MS" panose="020B0603020202020204" pitchFamily="34" charset="0"/>
                <a:ea typeface="+mn-ea"/>
              </a:defRPr>
            </a:lvl1pPr>
          </a:lstStyle>
          <a:p>
            <a:pPr marL="0" marR="0" lvl="0" indent="0" algn="l" defTabSz="914423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Month, Year</a:t>
            </a:r>
            <a:endParaRPr lang="ko-KR" altLang="en-US" dirty="0"/>
          </a:p>
        </p:txBody>
      </p:sp>
      <p:sp>
        <p:nvSpPr>
          <p:cNvPr id="10" name="텍스트 개체 틀 13"/>
          <p:cNvSpPr>
            <a:spLocks noGrp="1"/>
          </p:cNvSpPr>
          <p:nvPr>
            <p:ph type="body" sz="quarter" idx="12" hasCustomPrompt="1"/>
          </p:nvPr>
        </p:nvSpPr>
        <p:spPr>
          <a:xfrm>
            <a:off x="502115" y="3460258"/>
            <a:ext cx="4197978" cy="33218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spc="-50" baseline="0">
                <a:latin typeface="Trebuchet MS" panose="020B0603020202020204" pitchFamily="34" charset="0"/>
                <a:ea typeface="+mn-ea"/>
              </a:defRPr>
            </a:lvl1pPr>
          </a:lstStyle>
          <a:p>
            <a:pPr lvl="0"/>
            <a:r>
              <a:rPr lang="en-US" altLang="ko-KR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988737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747" y="6665341"/>
            <a:ext cx="2210343" cy="11689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92" y="6486527"/>
            <a:ext cx="969096" cy="294409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2" name="직사각형 11"/>
          <p:cNvSpPr/>
          <p:nvPr userDrawn="1"/>
        </p:nvSpPr>
        <p:spPr>
          <a:xfrm>
            <a:off x="899679" y="3"/>
            <a:ext cx="44308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897526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747" y="6665341"/>
            <a:ext cx="2210343" cy="11689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92" y="6486527"/>
            <a:ext cx="969096" cy="294409"/>
          </a:xfrm>
          <a:prstGeom prst="rect">
            <a:avLst/>
          </a:prstGeom>
        </p:spPr>
      </p:pic>
      <p:sp>
        <p:nvSpPr>
          <p:cNvPr id="16" name="직사각형 15"/>
          <p:cNvSpPr/>
          <p:nvPr userDrawn="1"/>
        </p:nvSpPr>
        <p:spPr>
          <a:xfrm>
            <a:off x="895879" y="0"/>
            <a:ext cx="36000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8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59552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4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직사각형 7"/>
          <p:cNvSpPr/>
          <p:nvPr userDrawn="1"/>
        </p:nvSpPr>
        <p:spPr>
          <a:xfrm>
            <a:off x="899679" y="3"/>
            <a:ext cx="44308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087515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3"/>
            <a:ext cx="886154" cy="52677"/>
          </a:xfrm>
          <a:prstGeom prst="rect">
            <a:avLst/>
          </a:prstGeom>
          <a:solidFill>
            <a:srgbClr val="F77979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직사각형 12"/>
          <p:cNvSpPr/>
          <p:nvPr userDrawn="1"/>
        </p:nvSpPr>
        <p:spPr>
          <a:xfrm>
            <a:off x="895879" y="0"/>
            <a:ext cx="36000" cy="52677"/>
          </a:xfrm>
          <a:prstGeom prst="rect">
            <a:avLst/>
          </a:prstGeom>
          <a:solidFill>
            <a:srgbClr val="E10D0D"/>
          </a:solidFill>
          <a:ln>
            <a:solidFill>
              <a:schemeClr val="bg1">
                <a:lumMod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43590" y="823915"/>
            <a:ext cx="11147284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300" b="0" spc="-50" baseline="0">
                <a:latin typeface="Trebuchet MS" panose="020B0603020202020204" pitchFamily="34" charset="0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67079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43592" y="334088"/>
            <a:ext cx="11146491" cy="430540"/>
          </a:xfrm>
          <a:prstGeom prst="rect">
            <a:avLst/>
          </a:prstGeom>
          <a:ln>
            <a:solidFill>
              <a:schemeClr val="bg1">
                <a:lumMod val="50000"/>
                <a:alpha val="0"/>
              </a:schemeClr>
            </a:solidFill>
          </a:ln>
        </p:spPr>
        <p:txBody>
          <a:bodyPr anchor="ctr"/>
          <a:lstStyle>
            <a:lvl1pPr>
              <a:lnSpc>
                <a:spcPct val="100000"/>
              </a:lnSpc>
              <a:defRPr lang="en-US" sz="1800" b="1" spc="-50" baseline="0" dirty="0">
                <a:latin typeface="Trebuchet MS" panose="020B0603020202020204" pitchFamily="34" charset="0"/>
                <a:ea typeface="+mn-ea"/>
              </a:defRPr>
            </a:lvl1pPr>
          </a:lstStyle>
          <a:p>
            <a:pPr lvl="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835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3"/>
          <a:srcRect r="15203"/>
          <a:stretch/>
        </p:blipFill>
        <p:spPr>
          <a:xfrm>
            <a:off x="7678783" y="2070100"/>
            <a:ext cx="4513217" cy="44316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9974" y="274026"/>
            <a:ext cx="2038812" cy="70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4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/>
          <a:srcRect r="15203"/>
          <a:stretch/>
        </p:blipFill>
        <p:spPr>
          <a:xfrm>
            <a:off x="7678783" y="2070100"/>
            <a:ext cx="4513217" cy="443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3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10885113" y="198420"/>
            <a:ext cx="1052554" cy="280828"/>
          </a:xfrm>
          <a:prstGeom prst="rect">
            <a:avLst/>
          </a:prstGeom>
          <a:solidFill>
            <a:srgbClr val="FF0000"/>
          </a:solidFill>
          <a:ln w="57150" cmpd="thickThin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defTabSz="958850">
              <a:defRPr/>
            </a:pPr>
            <a:r>
              <a:rPr lang="en-US" altLang="ko-KR" sz="1000" b="1" i="0" dirty="0">
                <a:solidFill>
                  <a:schemeClr val="bg1"/>
                </a:solidFill>
                <a:latin typeface="+mn-lt"/>
                <a:ea typeface="맑은 고딕" panose="020B0503020000020004" pitchFamily="50" charset="-127"/>
              </a:rPr>
              <a:t>Confidential</a:t>
            </a:r>
            <a:endParaRPr lang="ko-KR" altLang="en-US" sz="1000" b="1" i="0" dirty="0">
              <a:solidFill>
                <a:schemeClr val="bg1"/>
              </a:solidFill>
              <a:latin typeface="+mn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65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10885113" y="198420"/>
            <a:ext cx="1052554" cy="280828"/>
          </a:xfrm>
          <a:prstGeom prst="rect">
            <a:avLst/>
          </a:prstGeom>
          <a:solidFill>
            <a:srgbClr val="FF0000"/>
          </a:solidFill>
          <a:ln w="57150" cmpd="thickThin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defTabSz="958850">
              <a:defRPr/>
            </a:pPr>
            <a:r>
              <a:rPr lang="ko-KR" altLang="en-US" sz="1000" b="1" i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161055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3" r:id="rId2"/>
    <p:sldLayoutId id="2147483704" r:id="rId3"/>
    <p:sldLayoutId id="2147483702" r:id="rId4"/>
    <p:sldLayoutId id="2147483721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32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AP13M120-W13</a:t>
            </a:r>
            <a:endParaRPr lang="ko-KR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SKKF PE1 Team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Sep. 30</a:t>
            </a:r>
            <a:r>
              <a:rPr lang="en-US" altLang="ko-KR" baseline="30000" dirty="0"/>
              <a:t>th</a:t>
            </a:r>
            <a:r>
              <a:rPr lang="en-US" altLang="ko-KR" dirty="0"/>
              <a:t>, 2025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2"/>
          </p:nvPr>
        </p:nvSpPr>
        <p:spPr>
          <a:xfrm>
            <a:off x="502114" y="3460258"/>
            <a:ext cx="5225825" cy="332185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- HV Stress condition for ELMOS’s Used device 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75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summary</a:t>
            </a:r>
            <a:endParaRPr lang="ko-KR" altLang="en-US" dirty="0"/>
          </a:p>
        </p:txBody>
      </p:sp>
      <p:sp>
        <p:nvSpPr>
          <p:cNvPr id="12" name="텍스트 개체 틀 9"/>
          <p:cNvSpPr txBox="1">
            <a:spLocks/>
          </p:cNvSpPr>
          <p:nvPr/>
        </p:nvSpPr>
        <p:spPr>
          <a:xfrm>
            <a:off x="676440" y="1638585"/>
            <a:ext cx="5368760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0" kern="1200" spc="-50" baseline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Stress condition (Full SOA) – for Logic,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pLDMOS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&amp; EDMOS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478676" y="2129102"/>
            <a:ext cx="2355534" cy="2138771"/>
            <a:chOff x="2358525" y="1958235"/>
            <a:chExt cx="2355534" cy="2138771"/>
          </a:xfrm>
        </p:grpSpPr>
        <p:pic>
          <p:nvPicPr>
            <p:cNvPr id="13" name="그림 12"/>
            <p:cNvPicPr preferRelativeResize="0">
              <a:picLocks/>
            </p:cNvPicPr>
            <p:nvPr/>
          </p:nvPicPr>
          <p:blipFill rotWithShape="1">
            <a:blip r:embed="rId2"/>
            <a:srcRect t="33415" r="49860" b="33235"/>
            <a:stretch/>
          </p:blipFill>
          <p:spPr>
            <a:xfrm>
              <a:off x="2358525" y="1958235"/>
              <a:ext cx="2355534" cy="2138771"/>
            </a:xfrm>
            <a:prstGeom prst="rect">
              <a:avLst/>
            </a:prstGeom>
          </p:spPr>
        </p:pic>
        <p:sp>
          <p:nvSpPr>
            <p:cNvPr id="14" name="직사각형 13"/>
            <p:cNvSpPr/>
            <p:nvPr/>
          </p:nvSpPr>
          <p:spPr>
            <a:xfrm>
              <a:off x="2831679" y="2000965"/>
              <a:ext cx="1768664" cy="2813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AP13M120 5.0V </a:t>
              </a:r>
              <a:r>
                <a:rPr lang="en-US" altLang="ko-KR" sz="800" b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nMOS</a:t>
              </a:r>
              <a:r>
                <a:rPr lang="en-US" altLang="ko-KR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IDVD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W/L=10/0.5um</a:t>
              </a:r>
              <a:endParaRPr lang="ko-KR" alt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831679" y="3219115"/>
              <a:ext cx="614981" cy="537636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831679" y="2840517"/>
              <a:ext cx="1013699" cy="91623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831680" y="2840517"/>
              <a:ext cx="769858" cy="916234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02044" y="302648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1ms SOA</a:t>
              </a:r>
              <a:endParaRPr lang="ko-KR" altLang="en-US" sz="1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21562" y="2562632"/>
              <a:ext cx="1588897" cy="246221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1s SOA :1m SOA * 80%</a:t>
              </a:r>
              <a:endParaRPr lang="ko-KR" altLang="en-US" sz="1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390333" y="4325713"/>
            <a:ext cx="45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1sec stress condition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- VG = 2.4V(@1.5V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Gox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 / 8.0V(@5V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Gox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 : VOP*160%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- VD = On BV * 80%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*On BV @ 1ms stress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6598" y="5746695"/>
            <a:ext cx="3360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Test result</a:t>
            </a:r>
          </a:p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: Delta characteristic (Vth /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Idsat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Idlin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 &lt; 2%</a:t>
            </a:r>
          </a:p>
          <a:p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7505" y="4376513"/>
            <a:ext cx="28472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1sec stress condition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- VG = ~ 8.0V(@5V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Gox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 : VOP*160%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- VD = On BV * 80%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*On BV @ 1ms stress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4931" y="5762318"/>
            <a:ext cx="2803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Test result</a:t>
            </a:r>
          </a:p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: Delta characteristic (Vth /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Idlin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) &lt; 2%</a:t>
            </a:r>
          </a:p>
        </p:txBody>
      </p:sp>
      <p:sp>
        <p:nvSpPr>
          <p:cNvPr id="30" name="텍스트 개체 틀 9"/>
          <p:cNvSpPr txBox="1">
            <a:spLocks/>
          </p:cNvSpPr>
          <p:nvPr/>
        </p:nvSpPr>
        <p:spPr>
          <a:xfrm>
            <a:off x="7033176" y="1638585"/>
            <a:ext cx="3741891" cy="344487"/>
          </a:xfrm>
          <a:prstGeom prst="rect">
            <a:avLst/>
          </a:prstGeom>
          <a:ln w="9525">
            <a:solidFill>
              <a:schemeClr val="bg1">
                <a:lumMod val="50000"/>
                <a:alpha val="0"/>
              </a:schemeClr>
            </a:solidFill>
          </a:ln>
        </p:spPr>
        <p:txBody>
          <a:bodyPr/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0" kern="1200" spc="-50" baseline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Stress condition (Partial SOA) –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nLDMOS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572183" y="2179902"/>
            <a:ext cx="2355535" cy="2147496"/>
            <a:chOff x="8986634" y="1962404"/>
            <a:chExt cx="2355535" cy="2147496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86634" y="1962404"/>
              <a:ext cx="2355535" cy="2147496"/>
            </a:xfrm>
            <a:prstGeom prst="rect">
              <a:avLst/>
            </a:prstGeom>
          </p:spPr>
        </p:pic>
        <p:sp>
          <p:nvSpPr>
            <p:cNvPr id="23" name="직사각형 22"/>
            <p:cNvSpPr/>
            <p:nvPr/>
          </p:nvSpPr>
          <p:spPr>
            <a:xfrm>
              <a:off x="9435199" y="3507920"/>
              <a:ext cx="1088134" cy="274167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435199" y="2784019"/>
              <a:ext cx="520129" cy="72390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435200" y="2545828"/>
              <a:ext cx="787412" cy="962093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435198" y="3507920"/>
              <a:ext cx="1426910" cy="27416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9435197" y="2545828"/>
              <a:ext cx="639573" cy="96209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9435197" y="3507920"/>
              <a:ext cx="1167831" cy="27416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717643" y="734040"/>
            <a:ext cx="108360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SKKF guarantees [VG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≤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VOP*160%, VD = each bias on table] for HV stress condition on device level based on a our test result.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To fully ensure the chip-level guarantee, additional chip-level validation may be considered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168482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1.5V Logic Transistor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175044"/>
              </p:ext>
            </p:extLst>
          </p:nvPr>
        </p:nvGraphicFramePr>
        <p:xfrm>
          <a:off x="385232" y="1652375"/>
          <a:ext cx="11362650" cy="253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1.5V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NMOS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(W/L=10/0.13um)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xnch_tn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xnchdw_tn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xnchdh_tn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xnchdh_tnhb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xnchdwh_tn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1.65V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3.2V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PMOS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(W/L=10/0.13um)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xpch_tn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xpchdw_tn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xpchdh_tn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xpchdh_tnhb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xpchdwh_tn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1.65V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4.0V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561" y="2259859"/>
            <a:ext cx="1328964" cy="62018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561" y="3241480"/>
            <a:ext cx="1328964" cy="74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7119" y="1153124"/>
            <a:ext cx="3239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/>
              <a:t>**</a:t>
            </a:r>
            <a:r>
              <a:rPr lang="en-US" altLang="ko-KR" sz="1050" b="1" dirty="0" err="1"/>
              <a:t>BVmin</a:t>
            </a:r>
            <a:r>
              <a:rPr lang="en-US" altLang="ko-KR" sz="1050" b="1" dirty="0"/>
              <a:t>=VD(@VG=0V, ID=0.1uA/um)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67593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5.0V Logic Transistor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415231"/>
              </p:ext>
            </p:extLst>
          </p:nvPr>
        </p:nvGraphicFramePr>
        <p:xfrm>
          <a:off x="385232" y="1531607"/>
          <a:ext cx="11362650" cy="469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NMOS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(W/L=10/0.5um)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xnch_tk50,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xnchdw_tk50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xnchdh_tk50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xnchdh_tk50hb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xnchdwh_tk50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5.5V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PMOS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(W/L=10/0.5um)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xpch_tk50, 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xpchdw_tn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xpchdh_tn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xpchdh_tnhb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xpchdwh_tn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5.5V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7.5V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Native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NMOS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(W/L=10/1.6um)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xnch_tk50_na,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xnchdh_tk50_na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xnchdh_tk50hb_na</a:t>
                      </a:r>
                    </a:p>
                    <a:p>
                      <a:pPr algn="ctr"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7.7V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5.5V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1592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Dep.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NMOS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(W/L=1/20um)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xnch_tk50_de,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xnchdw_tk50_de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xnchdh_tk50_de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xnchdh_tk50hb_de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xnchdwh_tk50_de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5.5V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14258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495" y="4273099"/>
            <a:ext cx="1328964" cy="5900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496" y="5358846"/>
            <a:ext cx="1328964" cy="62996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495" y="2139091"/>
            <a:ext cx="1328964" cy="62018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495" y="3028788"/>
            <a:ext cx="1328964" cy="74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7119" y="1153124"/>
            <a:ext cx="3239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/>
              <a:t>**</a:t>
            </a:r>
            <a:r>
              <a:rPr lang="en-US" altLang="ko-KR" sz="1050" b="1" dirty="0" err="1"/>
              <a:t>BVmin</a:t>
            </a:r>
            <a:r>
              <a:rPr lang="en-US" altLang="ko-KR" sz="1050" b="1" dirty="0"/>
              <a:t>=VD(@VG=0V, ID=0.1uA/um, Off-state)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861462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HV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nLDMOS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956053"/>
              </p:ext>
            </p:extLst>
          </p:nvPr>
        </p:nvGraphicFramePr>
        <p:xfrm>
          <a:off x="385232" y="1402212"/>
          <a:ext cx="11362650" cy="527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(W/L=20/0.2um)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xnch_p520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xnchdh_p520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VD1 = 17V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VD2 = 18V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VD3 = 20V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VG1 = 8.0V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VG2 = 7.0V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VG3 = 6.0V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 &lt;2.0V, VD=22V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2.0V&lt; VG &lt;5.5V, VD=18V</a:t>
                      </a:r>
                    </a:p>
                    <a:p>
                      <a:pPr algn="ctr" latinLnBrk="1"/>
                      <a:endParaRPr lang="en-US" altLang="ko-K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26V</a:t>
                      </a:r>
                      <a:endParaRPr lang="ko-KR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(W/L=80.6/0.2um)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xnchdh3_p530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VD1 = 27V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VD2 = 27V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VD3 = 28V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VD4 = 29V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VD5 = 30V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VG1 = 8.0V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VG2 = 7.0V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VG3 = 6.0V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VG4 = 5.0V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VG5 = 4.0V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 &lt;2.0V, VD=34V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2.0V&lt; VG &lt;5.5V, VD=22V</a:t>
                      </a:r>
                    </a:p>
                    <a:p>
                      <a:pPr algn="ctr" latinLnBrk="1"/>
                      <a:endParaRPr lang="en-US" altLang="ko-K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40V</a:t>
                      </a:r>
                      <a:endParaRPr lang="ko-KR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(W/L=80.6/0.2um)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xnchdh3_p545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VD1 = 31V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VD2 = 32V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VD3 = 32V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VD4 = 33V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VD5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33V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VD6 = 42V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VD7 = 53V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VG1 = 8.0V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VG2 = 7.0V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VG3 = 6.0V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VG4 = 5.0V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VG5 = 4.0V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VG6 = 3.0V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VG7 = 2.0V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 &lt;2.0V, VD=45V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2.0V&lt; VG &lt;5.5V, VD=25V</a:t>
                      </a:r>
                    </a:p>
                    <a:p>
                      <a:pPr algn="ctr" latinLnBrk="1"/>
                      <a:endParaRPr lang="en-US" altLang="ko-K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55V</a:t>
                      </a:r>
                      <a:endParaRPr lang="ko-KR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1592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(W/L=80.6/0.2um)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xnchdh3_p560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VD1 = 39V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VD2 = 39V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VD3 = 40V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VD4 = 41V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VD5 = 42V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VD6 = 48V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VD7 =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VG1 = 8.0V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VG2 = 7.0V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VG3 = 6.0V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VG4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5.0V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VG5 = 4.0V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VG6 = 3.0V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VG7= 2.0V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 &lt;2.0V, VD=60V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2.0V&lt; VG &lt;5.5V, VD=30V</a:t>
                      </a:r>
                    </a:p>
                    <a:p>
                      <a:pPr algn="ctr" latinLnBrk="1"/>
                      <a:endParaRPr lang="en-US" altLang="ko-KR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74V</a:t>
                      </a:r>
                      <a:endParaRPr lang="ko-KR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14258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067" y="2020503"/>
            <a:ext cx="1738969" cy="63658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067" y="2976599"/>
            <a:ext cx="1783792" cy="80354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067" y="4138765"/>
            <a:ext cx="1783792" cy="80354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067" y="5541037"/>
            <a:ext cx="1783792" cy="8035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7119" y="1153124"/>
            <a:ext cx="3239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/>
              <a:t>**</a:t>
            </a:r>
            <a:r>
              <a:rPr lang="en-US" altLang="ko-KR" sz="1050" b="1" dirty="0" err="1"/>
              <a:t>BVmin</a:t>
            </a:r>
            <a:r>
              <a:rPr lang="en-US" altLang="ko-KR" sz="1050" b="1" dirty="0"/>
              <a:t>=VD(@VG=0V, ID=0.1uA/um, Off-state)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23965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HV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pLDMOS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575088"/>
              </p:ext>
            </p:extLst>
          </p:nvPr>
        </p:nvGraphicFramePr>
        <p:xfrm>
          <a:off x="385232" y="1591991"/>
          <a:ext cx="11362650" cy="36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(W/L=79.8/0.4um)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xpchdh3_p545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VD=45V)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(W/L=79.8/0.4um)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xpchdh3_p560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VD=60V)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75V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Ron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(W/L=79.8/0.4um)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VD=45V)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15925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33" y="2226734"/>
            <a:ext cx="1841204" cy="61267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33" y="3324740"/>
            <a:ext cx="1841204" cy="6126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33" y="4422746"/>
            <a:ext cx="1838600" cy="6139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7119" y="1153124"/>
            <a:ext cx="3239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/>
              <a:t>**</a:t>
            </a:r>
            <a:r>
              <a:rPr lang="en-US" altLang="ko-KR" sz="1050" b="1" dirty="0" err="1"/>
              <a:t>BVmin</a:t>
            </a:r>
            <a:r>
              <a:rPr lang="en-US" altLang="ko-KR" sz="1050" b="1" dirty="0"/>
              <a:t>=VD(@VG=0V, ID=0.1uA/um, Off-state)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617230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HV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nEDMOS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155326"/>
              </p:ext>
            </p:extLst>
          </p:nvPr>
        </p:nvGraphicFramePr>
        <p:xfrm>
          <a:off x="385232" y="1488475"/>
          <a:ext cx="11362650" cy="469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(W/L=20/2.0um)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xnchdh3_h512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VD=14V)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20V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(W/L=20/3.0um)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xnchdh3_h545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8.0V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VD=45V)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54V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(W/L=20/5.0um)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xnchdh3_h560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8.0V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VD=60V)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75V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1592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(W/L=20/20um)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xnch_h5240_sti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60V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(VG=52V,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VD=40V)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65V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14258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12" y="1948490"/>
            <a:ext cx="1423988" cy="9334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12" y="3015290"/>
            <a:ext cx="1423988" cy="9334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12" y="4082090"/>
            <a:ext cx="1423988" cy="9334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259" y="5275634"/>
            <a:ext cx="1810808" cy="7691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7119" y="1153124"/>
            <a:ext cx="3239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/>
              <a:t>**</a:t>
            </a:r>
            <a:r>
              <a:rPr lang="en-US" altLang="ko-KR" sz="1050" b="1" dirty="0" err="1"/>
              <a:t>BVmin</a:t>
            </a:r>
            <a:r>
              <a:rPr lang="en-US" altLang="ko-KR" sz="1050" b="1" dirty="0"/>
              <a:t>=VD(@VG=0V, ID=0.1uA/um, Off-state)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28145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HV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pEDMOS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980531"/>
              </p:ext>
            </p:extLst>
          </p:nvPr>
        </p:nvGraphicFramePr>
        <p:xfrm>
          <a:off x="385232" y="1497101"/>
          <a:ext cx="11362650" cy="253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GS_stress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(W/L=20/1.8um)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xpchdh3_h545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VD=45V)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54V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60V</a:t>
                      </a: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pEDMOS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(W/L=20/1.8um)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xpchdh3_h560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8.0V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(VG=5.5V,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VD=60V)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75V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12" y="1942299"/>
            <a:ext cx="1480758" cy="94704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12" y="2975232"/>
            <a:ext cx="1480758" cy="947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7119" y="1153124"/>
            <a:ext cx="3239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/>
              <a:t>**</a:t>
            </a:r>
            <a:r>
              <a:rPr lang="en-US" altLang="ko-KR" sz="1050" b="1" dirty="0" err="1"/>
              <a:t>BVmin</a:t>
            </a:r>
            <a:r>
              <a:rPr lang="en-US" altLang="ko-KR" sz="1050" b="1" dirty="0"/>
              <a:t>=VD(@VG=0V, ID=0.1uA/um, Off-state)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484463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Option (Diode)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276977"/>
              </p:ext>
            </p:extLst>
          </p:nvPr>
        </p:nvGraphicFramePr>
        <p:xfrm>
          <a:off x="385232" y="1566113"/>
          <a:ext cx="11362650" cy="36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30V Diode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(W/L=7/7um)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xndhdio_dh30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 = 35V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(VC=30V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37V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Zener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diode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(Zero mask)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(W/L=1.8/2.6um)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zdiozm_s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 = 6.8V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(VC=5.8V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5.3V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Schottky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diode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(W/L=5/20um)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sdio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 = 46V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(VC=40V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 latinLnBrk="1"/>
                      <a:endParaRPr lang="en-US" altLang="ko-KR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48V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15925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246" y="2099258"/>
            <a:ext cx="1775354" cy="76640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247" y="3187224"/>
            <a:ext cx="1775354" cy="71465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247" y="4248622"/>
            <a:ext cx="1775354" cy="830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7119" y="1153124"/>
            <a:ext cx="32397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/>
              <a:t>**</a:t>
            </a:r>
            <a:r>
              <a:rPr lang="en-US" altLang="ko-KR" sz="1050" b="1" dirty="0" err="1"/>
              <a:t>BVmin</a:t>
            </a:r>
            <a:r>
              <a:rPr lang="en-US" altLang="ko-KR" sz="1050" b="1" dirty="0"/>
              <a:t>=VC(@IC=0.1uA/um, Off-state)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955103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Option (Non-Sal Resistor)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764269"/>
              </p:ext>
            </p:extLst>
          </p:nvPr>
        </p:nvGraphicFramePr>
        <p:xfrm>
          <a:off x="385232" y="1600617"/>
          <a:ext cx="11362650" cy="36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 Sal N-poly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Resistor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(W/L=2/100um)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rdnpo_ns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(@W/L=2/100um)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 = 80V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0.886mA/um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Voltage =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0.375V/um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 Sal P-poly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Resistor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(W/L=2/100um)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rdppo_ns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(@W/L=2/100um)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 = 80V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.00mA/um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Voltage =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0.272V/um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1592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 Sal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 mask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5.2K HR Resistor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(W/L=2/100um)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Rdhpoz_ns5p2k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(@W/L=2/100um)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 = 120V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.12mA/um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Voltage =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0.62V/um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1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838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stress : bias condition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443590" y="823914"/>
            <a:ext cx="11147284" cy="4007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Option (Capacitor / BJT)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263135"/>
              </p:ext>
            </p:extLst>
          </p:nvPr>
        </p:nvGraphicFramePr>
        <p:xfrm>
          <a:off x="385232" y="1548859"/>
          <a:ext cx="11362650" cy="469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075">
                  <a:extLst>
                    <a:ext uri="{9D8B030D-6E8A-4147-A177-3AD203B41FA5}">
                      <a16:colId xmlns:a16="http://schemas.microsoft.com/office/drawing/2014/main" val="2173670035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418508940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7348258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3411204359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187663885"/>
                    </a:ext>
                  </a:extLst>
                </a:gridCol>
                <a:gridCol w="1886525">
                  <a:extLst>
                    <a:ext uri="{9D8B030D-6E8A-4147-A177-3AD203B41FA5}">
                      <a16:colId xmlns:a16="http://schemas.microsoft.com/office/drawing/2014/main" val="250566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name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ko-KR" sz="12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_stress</a:t>
                      </a:r>
                      <a:endParaRPr lang="ko-KR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 / VBD</a:t>
                      </a:r>
                      <a:endParaRPr lang="ko-KR" altLang="en-US" sz="12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04725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1.1fF MIM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</a:t>
                      </a:r>
                      <a:r>
                        <a:rPr lang="en-US" altLang="ko-KR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25/25um)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cmim1p1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14.6V</a:t>
                      </a:r>
                    </a:p>
                    <a:p>
                      <a:pPr algn="ctr"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30V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92451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5V </a:t>
                      </a:r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Varactor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(W/L=30/50um)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cjnm_tk50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cjnmdh_tk50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cjnmdh_tk50hb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5.5V</a:t>
                      </a:r>
                    </a:p>
                    <a:p>
                      <a:pPr algn="ctr"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8.0V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455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RLV Vertical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NPN BJT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(W/L=1.0/4.0um)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xvn1l4h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 = 21.6V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@IB=1uA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15V</a:t>
                      </a:r>
                    </a:p>
                    <a:p>
                      <a:pPr algn="ctr"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37V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31592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RHV Vertical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NPN BJT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(W/L=1.2/1.2um)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xvn1p2h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 = 30.4V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@IB=1uA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/>
                          <a:cs typeface="Arial" panose="020B0604020202020204" pitchFamily="34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VOPmax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15V</a:t>
                      </a:r>
                    </a:p>
                    <a:p>
                      <a:pPr algn="ctr"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BVmin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25V</a:t>
                      </a:r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1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5244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">
      <a:majorFont>
        <a:latin typeface="Trebuchet MS"/>
        <a:ea typeface="맑은 고딕"/>
        <a:cs typeface=""/>
      </a:majorFont>
      <a:minorFont>
        <a:latin typeface="Trebuchet MS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디자인 사용자 지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">
      <a:majorFont>
        <a:latin typeface="Trebuchet MS"/>
        <a:ea typeface="맑은 고딕"/>
        <a:cs typeface=""/>
      </a:majorFont>
      <a:minorFont>
        <a:latin typeface="Trebuchet MS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">
      <a:majorFont>
        <a:latin typeface="Trebuchet MS"/>
        <a:ea typeface="맑은 고딕"/>
        <a:cs typeface=""/>
      </a:majorFont>
      <a:minorFont>
        <a:latin typeface="Trebuchet MS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디자인 사용자 지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">
      <a:majorFont>
        <a:latin typeface="Trebuchet MS"/>
        <a:ea typeface="맑은 고딕"/>
        <a:cs typeface=""/>
      </a:majorFont>
      <a:minorFont>
        <a:latin typeface="Trebuchet MS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1516</Words>
  <Application>Microsoft Office PowerPoint</Application>
  <PresentationFormat>Breitbild</PresentationFormat>
  <Paragraphs>445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11</vt:i4>
      </vt:variant>
    </vt:vector>
  </HeadingPairs>
  <TitlesOfParts>
    <vt:vector size="20" baseType="lpstr">
      <vt:lpstr>맑은 고딕</vt:lpstr>
      <vt:lpstr>Arial</vt:lpstr>
      <vt:lpstr>Trebuchet MS</vt:lpstr>
      <vt:lpstr>Wingdings</vt:lpstr>
      <vt:lpstr>2_Office 테마</vt:lpstr>
      <vt:lpstr>3_Office 테마</vt:lpstr>
      <vt:lpstr>3_디자인 사용자 지정</vt:lpstr>
      <vt:lpstr>1_디자인 사용자 지정</vt:lpstr>
      <vt:lpstr>2_디자인 사용자 지정</vt:lpstr>
      <vt:lpstr>AP13M120-W13</vt:lpstr>
      <vt:lpstr>HV stress summary</vt:lpstr>
      <vt:lpstr>HV stress : bias condition</vt:lpstr>
      <vt:lpstr>HV stress : bias condition</vt:lpstr>
      <vt:lpstr>HV stress : bias condition</vt:lpstr>
      <vt:lpstr>HV stress : bias condition</vt:lpstr>
      <vt:lpstr>HV stress : bias condition</vt:lpstr>
      <vt:lpstr>HV stress : bias condition</vt:lpstr>
      <vt:lpstr>HV stress : bias condition</vt:lpstr>
      <vt:lpstr>HV stress : bias condition</vt:lpstr>
      <vt:lpstr>HV stress : bias condition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jiin.shin</dc:creator>
  <cp:lastModifiedBy>Walerij Rack</cp:lastModifiedBy>
  <cp:revision>145</cp:revision>
  <dcterms:created xsi:type="dcterms:W3CDTF">2023-12-19T07:47:13Z</dcterms:created>
  <dcterms:modified xsi:type="dcterms:W3CDTF">2026-03-20T08:14:27Z</dcterms:modified>
</cp:coreProperties>
</file>