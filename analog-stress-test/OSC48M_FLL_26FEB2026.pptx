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4118" r:id="rId4"/>
  </p:sldMasterIdLst>
  <p:notesMasterIdLst>
    <p:notesMasterId r:id="rId31"/>
  </p:notesMasterIdLst>
  <p:handoutMasterIdLst>
    <p:handoutMasterId r:id="rId32"/>
  </p:handoutMasterIdLst>
  <p:sldIdLst>
    <p:sldId id="2147376624" r:id="rId5"/>
    <p:sldId id="2147376706" r:id="rId6"/>
    <p:sldId id="2147376634" r:id="rId7"/>
    <p:sldId id="2147376663" r:id="rId8"/>
    <p:sldId id="2147376665" r:id="rId9"/>
    <p:sldId id="2147376664" r:id="rId10"/>
    <p:sldId id="2147376650" r:id="rId11"/>
    <p:sldId id="2147376686" r:id="rId12"/>
    <p:sldId id="2147376688" r:id="rId13"/>
    <p:sldId id="2147376687" r:id="rId14"/>
    <p:sldId id="2147376689" r:id="rId15"/>
    <p:sldId id="2147376690" r:id="rId16"/>
    <p:sldId id="2147376691" r:id="rId17"/>
    <p:sldId id="2147376692" r:id="rId18"/>
    <p:sldId id="2147376693" r:id="rId19"/>
    <p:sldId id="2147376694" r:id="rId20"/>
    <p:sldId id="2147376695" r:id="rId21"/>
    <p:sldId id="2147376696" r:id="rId22"/>
    <p:sldId id="2147376697" r:id="rId23"/>
    <p:sldId id="2147376698" r:id="rId24"/>
    <p:sldId id="2147376700" r:id="rId25"/>
    <p:sldId id="2147376699" r:id="rId26"/>
    <p:sldId id="2147376701" r:id="rId27"/>
    <p:sldId id="2147376704" r:id="rId28"/>
    <p:sldId id="2147376702" r:id="rId29"/>
    <p:sldId id="2147376705" r:id="rId30"/>
  </p:sldIdLst>
  <p:sldSz cx="12192000" cy="6858000"/>
  <p:notesSz cx="6797675" cy="9926638"/>
  <p:embeddedFontLst>
    <p:embeddedFont>
      <p:font typeface="Ubuntu" panose="020B0504030602030204" pitchFamily="34" charset="0"/>
      <p:regular r:id="rId33"/>
      <p:bold r:id="rId34"/>
      <p:italic r:id="rId35"/>
      <p:boldItalic r:id="rId36"/>
    </p:embeddedFont>
    <p:embeddedFont>
      <p:font typeface="Ubuntu Light" panose="020B0304030602030204" pitchFamily="34" charset="0"/>
      <p:regular r:id="rId37"/>
      <p:italic r:id="rId38"/>
    </p:embeddedFont>
    <p:embeddedFont>
      <p:font typeface="Ubuntu Medium" panose="020B0604030602030204" pitchFamily="34" charset="0"/>
      <p:regular r:id="rId39"/>
      <p: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custDataLst>
    <p:tags r:id="rId45"/>
  </p:custData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orient="horz" pos="2886" userDrawn="1">
          <p15:clr>
            <a:srgbClr val="A4A3A4"/>
          </p15:clr>
        </p15:guide>
        <p15:guide id="19" pos="5609" userDrawn="1">
          <p15:clr>
            <a:srgbClr val="A4A3A4"/>
          </p15:clr>
        </p15:guide>
        <p15:guide id="20" pos="2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A4C4E"/>
    <a:srgbClr val="69686B"/>
    <a:srgbClr val="515153"/>
    <a:srgbClr val="14596B"/>
    <a:srgbClr val="616585"/>
    <a:srgbClr val="F6F6F6"/>
    <a:srgbClr val="005482"/>
    <a:srgbClr val="272936"/>
    <a:srgbClr val="003857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29" autoAdjust="0"/>
    <p:restoredTop sz="97157" autoAdjust="0"/>
  </p:normalViewPr>
  <p:slideViewPr>
    <p:cSldViewPr>
      <p:cViewPr>
        <p:scale>
          <a:sx n="75" d="100"/>
          <a:sy n="75" d="100"/>
        </p:scale>
        <p:origin x="1236" y="768"/>
      </p:cViewPr>
      <p:guideLst>
        <p:guide orient="horz" pos="2886"/>
        <p:guide pos="5609"/>
        <p:guide pos="2071"/>
      </p:guideLst>
    </p:cSldViewPr>
  </p:slideViewPr>
  <p:outlineViewPr>
    <p:cViewPr>
      <p:scale>
        <a:sx n="33" d="100"/>
        <a:sy n="33" d="100"/>
      </p:scale>
      <p:origin x="0" y="-1286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2492"/>
    </p:cViewPr>
  </p:sorterViewPr>
  <p:notesViewPr>
    <p:cSldViewPr>
      <p:cViewPr varScale="1">
        <p:scale>
          <a:sx n="102" d="100"/>
          <a:sy n="102" d="100"/>
        </p:scale>
        <p:origin x="1920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B6225-3E94-4525-8747-A8CEEE07C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l">
              <a:defRPr sz="1200"/>
            </a:lvl1pPr>
          </a:lstStyle>
          <a:p>
            <a:endParaRPr lang="pt-PT" sz="9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33FD8-B984-44FE-83F0-5C989EE62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r">
              <a:defRPr sz="1200"/>
            </a:lvl1pPr>
          </a:lstStyle>
          <a:p>
            <a:fld id="{86C988DC-9DE3-4390-97AB-D61B85DACE57}" type="datetimeFigureOut">
              <a:rPr lang="pt-PT" sz="900"/>
              <a:pPr/>
              <a:t>27/02/2026</a:t>
            </a:fld>
            <a:endParaRPr lang="pt-PT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D1E4F-EFF7-4551-A0B7-35D2A74F4F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l">
              <a:defRPr sz="1200"/>
            </a:lvl1pPr>
          </a:lstStyle>
          <a:p>
            <a:endParaRPr lang="pt-PT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F35C8-35E9-48DD-971F-B2366CC5B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r">
              <a:defRPr sz="1200"/>
            </a:lvl1pPr>
          </a:lstStyle>
          <a:p>
            <a:fld id="{2F190BF9-40D8-49B5-87EF-599BB2C7EE93}" type="slidenum">
              <a:rPr lang="pt-PT" sz="900"/>
              <a:pPr/>
              <a:t>‹N°›</a:t>
            </a:fld>
            <a:endParaRPr lang="pt-PT" sz="900" dirty="0"/>
          </a:p>
        </p:txBody>
      </p:sp>
    </p:spTree>
    <p:extLst>
      <p:ext uri="{BB962C8B-B14F-4D97-AF65-F5344CB8AC3E}">
        <p14:creationId xmlns:p14="http://schemas.microsoft.com/office/powerpoint/2010/main" val="360930761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r">
              <a:defRPr sz="900"/>
            </a:lvl1pPr>
          </a:lstStyle>
          <a:p>
            <a:fld id="{0835B8F7-DAC4-4931-8AED-4356A8B2FD64}" type="datetimeFigureOut">
              <a:rPr lang="pt-BR" smtClean="0"/>
              <a:pPr/>
              <a:t>27/02/2026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8" tIns="45708" rIns="91418" bIns="45708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18" tIns="45708" rIns="91418" bIns="45708" rtlCol="0"/>
          <a:lstStyle/>
          <a:p>
            <a:pPr lvl="0"/>
            <a:r>
              <a:rPr lang="pt-PT" dirty="0"/>
              <a:t>Insert comments</a:t>
            </a:r>
            <a:endParaRPr lang="pt-BR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50443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r">
              <a:defRPr sz="900"/>
            </a:lvl1pPr>
          </a:lstStyle>
          <a:p>
            <a:fld id="{C0696B5C-12A0-4042-B4D0-BD3B9A4F58C6}" type="slidenum">
              <a:rPr lang="pt-BR" smtClean="0"/>
              <a:pPr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33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9078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EBDAC-BDD4-9790-90F1-DF451C660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A2927F-FD85-033A-4090-188A59F3B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DE819B0-8DE4-4E91-65AB-22D0230D0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BADDAB-8C3C-AB0C-D9A5-EAE764369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464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04C60-01AD-E5D0-FD7C-67A7B1AD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46101B1-A2BA-6170-ECE8-89C8F53A6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479F7FF-BA8C-79A6-9149-3C0D179E1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944A55-56A8-C664-E93F-1FE02CA35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5917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EB4C8-A30A-1A79-7605-A8FB9930C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5E183FE-85BA-4966-9B43-F3F025842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520CBD5-4179-E1E6-DC2F-8916C1DB7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0D2E56-0806-5819-A0DE-747076789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399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84359-34E2-F372-2DA3-8C9B701A5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BF84999-0BC6-F540-4387-1B3BDB3A8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C3F8E17-89D4-26FD-B90D-FF4CC538B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949424-EAF9-60F6-1BB8-BFF496200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724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apgeminimedia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3.svg"/><Relationship Id="rId2" Type="http://schemas.openxmlformats.org/officeDocument/2006/relationships/hyperlink" Target="http://www.facebook.com/capgemini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slideshare.net/capgemini" TargetMode="External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hyperlink" Target="http://www.linkedin.com/company/capgemini" TargetMode="External"/><Relationship Id="rId9" Type="http://schemas.openxmlformats.org/officeDocument/2006/relationships/image" Target="../media/image11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apgeminimedia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3.svg"/><Relationship Id="rId2" Type="http://schemas.openxmlformats.org/officeDocument/2006/relationships/hyperlink" Target="http://www.facebook.com/capgemini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slideshare.net/capgemini" TargetMode="External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hyperlink" Target="http://www.linkedin.com/company/capgemini" TargetMode="External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e 5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88853054-449D-5FE7-B0C9-8D272133B9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988" y="5997836"/>
            <a:ext cx="3780000" cy="4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64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5AF5888-BD34-41EB-546E-BE945F03B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3429336" y="25029"/>
            <a:ext cx="8715336" cy="7220395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FA2D1CC0-ECB7-4512-DAC7-E1C706ED18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988" y="5997836"/>
            <a:ext cx="3780000" cy="4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78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9" y="3676570"/>
            <a:ext cx="6336703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6336704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633670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8D8B6BAF-38BD-DD4C-63BE-EFE25366F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988" y="5997836"/>
            <a:ext cx="3780000" cy="4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1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285134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8CE428C-59B5-089D-2943-18F61B735D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988" y="5997836"/>
            <a:ext cx="3780000" cy="4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70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a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285134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932AE104-8B03-76AC-F61A-759B9EA6A4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988" y="5997836"/>
            <a:ext cx="3780000" cy="4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36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b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537237"/>
            <a:ext cx="4597606" cy="2243691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AF1B475F-92A4-A705-6FDB-23CCB673F9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988" y="5997836"/>
            <a:ext cx="3780000" cy="4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808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c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C10D7342-1BB3-8B5C-4CE8-BBBC81C86C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5473" y="5997836"/>
            <a:ext cx="3780000" cy="4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68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4EFECFB4-B5D2-054E-1886-B78A602EC9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988" y="5997836"/>
            <a:ext cx="3780000" cy="4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205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B5D9CCD-97AB-0A8C-8F1D-AB5C4C775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7808" y="-1636495"/>
            <a:ext cx="8715336" cy="7220395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BB101449-AA40-C431-765A-971F8482FC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988" y="5997836"/>
            <a:ext cx="3780000" cy="4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686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7A8A8DC3-2711-F5AC-1F3D-E9AB684DE7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988" y="5997836"/>
            <a:ext cx="3780000" cy="4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07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Picture White Spa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515EF69-611F-4B2F-BC64-DD310E60015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911680 w 12192000"/>
              <a:gd name="connsiteY0" fmla="*/ 373627 h 6858000"/>
              <a:gd name="connsiteX1" fmla="*/ 11857975 w 12192000"/>
              <a:gd name="connsiteY1" fmla="*/ 408564 h 6858000"/>
              <a:gd name="connsiteX2" fmla="*/ 11820236 w 12192000"/>
              <a:gd name="connsiteY2" fmla="*/ 476983 h 6858000"/>
              <a:gd name="connsiteX3" fmla="*/ 11778143 w 12192000"/>
              <a:gd name="connsiteY3" fmla="*/ 538124 h 6858000"/>
              <a:gd name="connsiteX4" fmla="*/ 11708472 w 12192000"/>
              <a:gd name="connsiteY4" fmla="*/ 581796 h 6858000"/>
              <a:gd name="connsiteX5" fmla="*/ 11753468 w 12192000"/>
              <a:gd name="connsiteY5" fmla="*/ 593441 h 6858000"/>
              <a:gd name="connsiteX6" fmla="*/ 11802818 w 12192000"/>
              <a:gd name="connsiteY6" fmla="*/ 589074 h 6858000"/>
              <a:gd name="connsiteX7" fmla="*/ 11887005 w 12192000"/>
              <a:gd name="connsiteY7" fmla="*/ 552681 h 6858000"/>
              <a:gd name="connsiteX8" fmla="*/ 11823139 w 12192000"/>
              <a:gd name="connsiteY8" fmla="*/ 494452 h 6858000"/>
              <a:gd name="connsiteX9" fmla="*/ 11911680 w 12192000"/>
              <a:gd name="connsiteY9" fmla="*/ 522111 h 6858000"/>
              <a:gd name="connsiteX10" fmla="*/ 11974094 w 12192000"/>
              <a:gd name="connsiteY10" fmla="*/ 460970 h 6858000"/>
              <a:gd name="connsiteX11" fmla="*/ 11972642 w 12192000"/>
              <a:gd name="connsiteY11" fmla="*/ 404197 h 6858000"/>
              <a:gd name="connsiteX12" fmla="*/ 11911680 w 12192000"/>
              <a:gd name="connsiteY12" fmla="*/ 373627 h 6858000"/>
              <a:gd name="connsiteX13" fmla="*/ 11785438 w 12192000"/>
              <a:gd name="connsiteY13" fmla="*/ 207688 h 6858000"/>
              <a:gd name="connsiteX14" fmla="*/ 11562864 w 12192000"/>
              <a:gd name="connsiteY14" fmla="*/ 439169 h 6858000"/>
              <a:gd name="connsiteX15" fmla="*/ 11639965 w 12192000"/>
              <a:gd name="connsiteY15" fmla="*/ 551270 h 6858000"/>
              <a:gd name="connsiteX16" fmla="*/ 11725794 w 12192000"/>
              <a:gd name="connsiteY16" fmla="*/ 546903 h 6858000"/>
              <a:gd name="connsiteX17" fmla="*/ 11786893 w 12192000"/>
              <a:gd name="connsiteY17" fmla="*/ 490124 h 6858000"/>
              <a:gd name="connsiteX18" fmla="*/ 11833444 w 12192000"/>
              <a:gd name="connsiteY18" fmla="*/ 412964 h 6858000"/>
              <a:gd name="connsiteX19" fmla="*/ 11895998 w 12192000"/>
              <a:gd name="connsiteY19" fmla="*/ 360553 h 6858000"/>
              <a:gd name="connsiteX20" fmla="*/ 11971644 w 12192000"/>
              <a:gd name="connsiteY20" fmla="*/ 379479 h 6858000"/>
              <a:gd name="connsiteX21" fmla="*/ 11907636 w 12192000"/>
              <a:gd name="connsiteY21" fmla="*/ 281937 h 6858000"/>
              <a:gd name="connsiteX22" fmla="*/ 11795621 w 12192000"/>
              <a:gd name="connsiteY22" fmla="*/ 212056 h 6858000"/>
              <a:gd name="connsiteX23" fmla="*/ 11785438 w 12192000"/>
              <a:gd name="connsiteY23" fmla="*/ 207688 h 6858000"/>
              <a:gd name="connsiteX24" fmla="*/ 0 w 12192000"/>
              <a:gd name="connsiteY24" fmla="*/ 0 h 6858000"/>
              <a:gd name="connsiteX25" fmla="*/ 12192000 w 12192000"/>
              <a:gd name="connsiteY25" fmla="*/ 0 h 6858000"/>
              <a:gd name="connsiteX26" fmla="*/ 12192000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911680" y="373627"/>
                </a:moveTo>
                <a:cubicBezTo>
                  <a:pt x="11888456" y="375083"/>
                  <a:pt x="11871038" y="389640"/>
                  <a:pt x="11857975" y="408564"/>
                </a:cubicBezTo>
                <a:cubicBezTo>
                  <a:pt x="11842009" y="428944"/>
                  <a:pt x="11831848" y="453692"/>
                  <a:pt x="11820236" y="476983"/>
                </a:cubicBezTo>
                <a:cubicBezTo>
                  <a:pt x="11808624" y="498819"/>
                  <a:pt x="11795561" y="519199"/>
                  <a:pt x="11778143" y="538124"/>
                </a:cubicBezTo>
                <a:cubicBezTo>
                  <a:pt x="11759274" y="558504"/>
                  <a:pt x="11736050" y="574517"/>
                  <a:pt x="11708472" y="581796"/>
                </a:cubicBezTo>
                <a:cubicBezTo>
                  <a:pt x="11721535" y="590530"/>
                  <a:pt x="11738953" y="593441"/>
                  <a:pt x="11753468" y="593441"/>
                </a:cubicBezTo>
                <a:cubicBezTo>
                  <a:pt x="11769434" y="594897"/>
                  <a:pt x="11786852" y="591986"/>
                  <a:pt x="11802818" y="589074"/>
                </a:cubicBezTo>
                <a:cubicBezTo>
                  <a:pt x="11833300" y="584707"/>
                  <a:pt x="11865232" y="574517"/>
                  <a:pt x="11887005" y="552681"/>
                </a:cubicBezTo>
                <a:cubicBezTo>
                  <a:pt x="11852169" y="552681"/>
                  <a:pt x="11824591" y="529389"/>
                  <a:pt x="11823139" y="494452"/>
                </a:cubicBezTo>
                <a:cubicBezTo>
                  <a:pt x="11844912" y="520655"/>
                  <a:pt x="11878296" y="530845"/>
                  <a:pt x="11911680" y="522111"/>
                </a:cubicBezTo>
                <a:cubicBezTo>
                  <a:pt x="11940709" y="513376"/>
                  <a:pt x="11965385" y="490085"/>
                  <a:pt x="11974094" y="460970"/>
                </a:cubicBezTo>
                <a:cubicBezTo>
                  <a:pt x="11979900" y="442046"/>
                  <a:pt x="11981351" y="423121"/>
                  <a:pt x="11972642" y="404197"/>
                </a:cubicBezTo>
                <a:cubicBezTo>
                  <a:pt x="11961030" y="382361"/>
                  <a:pt x="11936355" y="372171"/>
                  <a:pt x="11911680" y="373627"/>
                </a:cubicBezTo>
                <a:close/>
                <a:moveTo>
                  <a:pt x="11785438" y="207688"/>
                </a:moveTo>
                <a:cubicBezTo>
                  <a:pt x="11735977" y="268834"/>
                  <a:pt x="11562864" y="312510"/>
                  <a:pt x="11562864" y="439169"/>
                </a:cubicBezTo>
                <a:cubicBezTo>
                  <a:pt x="11562864" y="487212"/>
                  <a:pt x="11593413" y="533800"/>
                  <a:pt x="11639965" y="551270"/>
                </a:cubicBezTo>
                <a:cubicBezTo>
                  <a:pt x="11667605" y="561461"/>
                  <a:pt x="11698154" y="560005"/>
                  <a:pt x="11725794" y="546903"/>
                </a:cubicBezTo>
                <a:cubicBezTo>
                  <a:pt x="11751979" y="535256"/>
                  <a:pt x="11770891" y="514874"/>
                  <a:pt x="11786893" y="490124"/>
                </a:cubicBezTo>
                <a:cubicBezTo>
                  <a:pt x="11804350" y="465375"/>
                  <a:pt x="11817442" y="439169"/>
                  <a:pt x="11833444" y="412964"/>
                </a:cubicBezTo>
                <a:cubicBezTo>
                  <a:pt x="11847992" y="389670"/>
                  <a:pt x="11868358" y="366376"/>
                  <a:pt x="11895998" y="360553"/>
                </a:cubicBezTo>
                <a:cubicBezTo>
                  <a:pt x="11922183" y="353274"/>
                  <a:pt x="11952732" y="360553"/>
                  <a:pt x="11971644" y="379479"/>
                </a:cubicBezTo>
                <a:cubicBezTo>
                  <a:pt x="11960006" y="341627"/>
                  <a:pt x="11938185" y="309598"/>
                  <a:pt x="11907636" y="281937"/>
                </a:cubicBezTo>
                <a:cubicBezTo>
                  <a:pt x="11874177" y="251364"/>
                  <a:pt x="11836354" y="229526"/>
                  <a:pt x="11795621" y="212056"/>
                </a:cubicBezTo>
                <a:cubicBezTo>
                  <a:pt x="11792712" y="210600"/>
                  <a:pt x="11788348" y="209144"/>
                  <a:pt x="11785438" y="20768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icon to add picture and send picture to back</a:t>
            </a:r>
          </a:p>
        </p:txBody>
      </p:sp>
      <p:grpSp>
        <p:nvGrpSpPr>
          <p:cNvPr id="12" name="Group 37">
            <a:extLst>
              <a:ext uri="{FF2B5EF4-FFF2-40B4-BE49-F238E27FC236}">
                <a16:creationId xmlns:a16="http://schemas.microsoft.com/office/drawing/2014/main" id="{410EED03-E568-4797-9F93-83A0DEAA8E73}"/>
              </a:ext>
            </a:extLst>
          </p:cNvPr>
          <p:cNvGrpSpPr/>
          <p:nvPr userDrawn="1"/>
        </p:nvGrpSpPr>
        <p:grpSpPr>
          <a:xfrm>
            <a:off x="11562864" y="207688"/>
            <a:ext cx="418487" cy="387209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13" name="Freeform 320">
              <a:extLst>
                <a:ext uri="{FF2B5EF4-FFF2-40B4-BE49-F238E27FC236}">
                  <a16:creationId xmlns:a16="http://schemas.microsoft.com/office/drawing/2014/main" id="{B7BDD3A5-74DC-407F-917E-4CAA2D7F64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321">
              <a:extLst>
                <a:ext uri="{FF2B5EF4-FFF2-40B4-BE49-F238E27FC236}">
                  <a16:creationId xmlns:a16="http://schemas.microsoft.com/office/drawing/2014/main" id="{AFD49D75-8E14-497D-BFBC-1AB7413E4B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F7412FBE-22A2-10A4-80F8-94BD980CE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708920"/>
            <a:ext cx="7968207" cy="2949857"/>
          </a:xfrm>
          <a:solidFill>
            <a:schemeClr val="bg2"/>
          </a:solidFill>
        </p:spPr>
        <p:txBody>
          <a:bodyPr wrap="square" lIns="396000" tIns="360000" rIns="504000" bIns="1080000" anchor="ctr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3FCD38E-1F71-EA8E-7048-F655798886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368" y="4725144"/>
            <a:ext cx="7273330" cy="276999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text style</a:t>
            </a:r>
            <a:endParaRPr lang="en-GB" dirty="0"/>
          </a:p>
        </p:txBody>
      </p:sp>
      <p:pic>
        <p:nvPicPr>
          <p:cNvPr id="10" name="Image 10">
            <a:extLst>
              <a:ext uri="{FF2B5EF4-FFF2-40B4-BE49-F238E27FC236}">
                <a16:creationId xmlns:a16="http://schemas.microsoft.com/office/drawing/2014/main" id="{608C172A-0094-C3E7-1470-8A2699B546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6" t="22833" r="6283" b="25894"/>
          <a:stretch/>
        </p:blipFill>
        <p:spPr>
          <a:xfrm>
            <a:off x="344060" y="5940073"/>
            <a:ext cx="3924000" cy="56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4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163739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pic>
        <p:nvPicPr>
          <p:cNvPr id="2" name="Image 10">
            <a:extLst>
              <a:ext uri="{FF2B5EF4-FFF2-40B4-BE49-F238E27FC236}">
                <a16:creationId xmlns:a16="http://schemas.microsoft.com/office/drawing/2014/main" id="{C3EAB785-98C7-E115-BA3E-868ECDB1C1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6" t="22833" r="6283" b="25894"/>
          <a:stretch/>
        </p:blipFill>
        <p:spPr>
          <a:xfrm>
            <a:off x="344060" y="5940073"/>
            <a:ext cx="3924000" cy="56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911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19679"/>
            <a:ext cx="4609034" cy="2243691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pic>
        <p:nvPicPr>
          <p:cNvPr id="2" name="Image 10">
            <a:extLst>
              <a:ext uri="{FF2B5EF4-FFF2-40B4-BE49-F238E27FC236}">
                <a16:creationId xmlns:a16="http://schemas.microsoft.com/office/drawing/2014/main" id="{CD0F49CD-8AF9-E605-59DE-0A5FAA0BD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6" t="22833" r="6283" b="25894"/>
          <a:stretch/>
        </p:blipFill>
        <p:spPr>
          <a:xfrm>
            <a:off x="344060" y="5940073"/>
            <a:ext cx="3924000" cy="56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14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537237"/>
            <a:ext cx="4597606" cy="2243691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pic>
        <p:nvPicPr>
          <p:cNvPr id="2" name="Image 10">
            <a:extLst>
              <a:ext uri="{FF2B5EF4-FFF2-40B4-BE49-F238E27FC236}">
                <a16:creationId xmlns:a16="http://schemas.microsoft.com/office/drawing/2014/main" id="{BE04023E-D2B5-33DA-30F6-170A36F5E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6" t="22833" r="6283" b="25894"/>
          <a:stretch/>
        </p:blipFill>
        <p:spPr>
          <a:xfrm>
            <a:off x="344060" y="5940073"/>
            <a:ext cx="3924000" cy="56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257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pic>
        <p:nvPicPr>
          <p:cNvPr id="8" name="Image 10">
            <a:extLst>
              <a:ext uri="{FF2B5EF4-FFF2-40B4-BE49-F238E27FC236}">
                <a16:creationId xmlns:a16="http://schemas.microsoft.com/office/drawing/2014/main" id="{26CB9D3B-CD4D-980E-688E-2158DFC893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6" t="22833" r="6283" b="25894"/>
          <a:stretch/>
        </p:blipFill>
        <p:spPr>
          <a:xfrm>
            <a:off x="1250733" y="5940073"/>
            <a:ext cx="3924000" cy="56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779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Agenda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793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871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064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51984" y="1628775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51984" y="2221388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51984" y="2814001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51984" y="3406614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51984" y="3999227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51984" y="4591841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65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5449900E-987A-B10E-123E-7DC13509743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0" y="1268413"/>
            <a:ext cx="5519738" cy="5113337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E129A54-4331-295F-FFF7-AADCD886AE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51984" y="5184455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21F960EB-6EA4-9123-ED77-13467723FA2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1984" y="5777069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33763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CCF694C-872E-0362-0664-84FE017FBD57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7565" y="1863702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565" y="2456315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7565" y="3048928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7565" y="3641541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7565" y="4234154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565" y="4826768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65" y="260350"/>
            <a:ext cx="5472411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E129A54-4331-295F-FFF7-AADCD886AE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7565" y="5419382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21F960EB-6EA4-9123-ED77-13467723FA2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7565" y="6011996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91927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Page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5AD1E928-17A7-8076-E72F-603525614D7F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A4C59602-5684-DA3C-4D8A-30F7343DD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39C738EB-51DE-C704-B75C-84CBCD5D6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104588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961531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0259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0557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80793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8F3953-316A-B430-FE17-F219A7EE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9BC7447-5EDE-45B1-8FE5-B3F4F93D2F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989" y="1628775"/>
            <a:ext cx="5532086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0">
                <a:solidFill>
                  <a:srgbClr val="0070AD"/>
                </a:solidFill>
                <a:latin typeface="+mj-lt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insert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5CBB3CA-52BC-F9EF-5805-F1F9D912DB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972" y="2506942"/>
            <a:ext cx="5525185" cy="374396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5D9D41C-6A18-9349-55BE-94DED28E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2425" y="1628775"/>
            <a:ext cx="5451505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0">
                <a:solidFill>
                  <a:srgbClr val="0070AD"/>
                </a:solidFill>
                <a:latin typeface="+mj-lt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insert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B44136C-3018-5130-3AC3-47B22ACD9D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32425" y="2506943"/>
            <a:ext cx="5444603" cy="374396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473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ABF5EC-92A5-4E9A-F280-EB30FFBC0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CD9F072-6C90-9A95-A50F-DCA5FC167D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971" y="1628775"/>
            <a:ext cx="3672000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insert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1B0A4F3-549E-71F6-BE52-B382C47A4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971" y="2565359"/>
            <a:ext cx="3672000" cy="35279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400"/>
            </a:lvl1pPr>
            <a:lvl2pPr>
              <a:lnSpc>
                <a:spcPct val="100000"/>
              </a:lnSpc>
              <a:spcBef>
                <a:spcPts val="600"/>
              </a:spcBef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400"/>
            </a:lvl3pPr>
            <a:lvl4pPr>
              <a:lnSpc>
                <a:spcPct val="100000"/>
              </a:lnSpc>
              <a:spcBef>
                <a:spcPts val="600"/>
              </a:spcBef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4B6F29C-F89C-245A-B142-516CCF1543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60000" y="1628774"/>
            <a:ext cx="3672000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insert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D618B66-9577-9BCD-E317-0B5976EC20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60000" y="2565359"/>
            <a:ext cx="3672000" cy="35279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400"/>
            </a:lvl1pPr>
            <a:lvl2pPr>
              <a:lnSpc>
                <a:spcPct val="100000"/>
              </a:lnSpc>
              <a:spcBef>
                <a:spcPts val="600"/>
              </a:spcBef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400"/>
            </a:lvl3pPr>
            <a:lvl4pPr>
              <a:lnSpc>
                <a:spcPct val="100000"/>
              </a:lnSpc>
              <a:spcBef>
                <a:spcPts val="600"/>
              </a:spcBef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D81C950-E364-B77A-5216-238E0BB40E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5029" y="1628774"/>
            <a:ext cx="3672000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insert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0BE233-FA65-E9BC-C55B-5E4EBC8DB4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05029" y="2565359"/>
            <a:ext cx="3672000" cy="35279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400"/>
            </a:lvl1pPr>
            <a:lvl2pPr>
              <a:lnSpc>
                <a:spcPct val="100000"/>
              </a:lnSpc>
              <a:spcBef>
                <a:spcPts val="600"/>
              </a:spcBef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400"/>
            </a:lvl3pPr>
            <a:lvl4pPr>
              <a:lnSpc>
                <a:spcPct val="100000"/>
              </a:lnSpc>
              <a:spcBef>
                <a:spcPts val="600"/>
              </a:spcBef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984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7958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9244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014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664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6804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Shor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521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 Shor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2852936"/>
            <a:ext cx="7409221" cy="2879526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1122908"/>
            <a:ext cx="7409221" cy="13699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780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 Shor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11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Shor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792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Shor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279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Dark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85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172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8948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Grey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B0C581DC-AC70-A4F0-51CB-1FA6B08A37BE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63F60F5E-5D27-779B-6E8E-C91939821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A979E7CA-B1A9-8298-494D-03780A9E5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97981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Short Dark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4" name="Group 37">
            <a:extLst>
              <a:ext uri="{FF2B5EF4-FFF2-40B4-BE49-F238E27FC236}">
                <a16:creationId xmlns:a16="http://schemas.microsoft.com/office/drawing/2014/main" id="{9B4384E0-E70E-1D2F-00F4-6E8113E6115B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5" name="Freeform 320">
              <a:extLst>
                <a:ext uri="{FF2B5EF4-FFF2-40B4-BE49-F238E27FC236}">
                  <a16:creationId xmlns:a16="http://schemas.microsoft.com/office/drawing/2014/main" id="{DEADA429-607C-23EB-6562-F893EB6AB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321">
              <a:extLst>
                <a:ext uri="{FF2B5EF4-FFF2-40B4-BE49-F238E27FC236}">
                  <a16:creationId xmlns:a16="http://schemas.microsoft.com/office/drawing/2014/main" id="{FE473CBE-1F40-1799-0531-AC4BB8289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70553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 Short Dark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grpSp>
        <p:nvGrpSpPr>
          <p:cNvPr id="4" name="Group 37">
            <a:extLst>
              <a:ext uri="{FF2B5EF4-FFF2-40B4-BE49-F238E27FC236}">
                <a16:creationId xmlns:a16="http://schemas.microsoft.com/office/drawing/2014/main" id="{7A334606-8EE3-365F-25B8-44D290069C7A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5" name="Freeform 320">
              <a:extLst>
                <a:ext uri="{FF2B5EF4-FFF2-40B4-BE49-F238E27FC236}">
                  <a16:creationId xmlns:a16="http://schemas.microsoft.com/office/drawing/2014/main" id="{9327B499-75BC-B2BA-955E-89BC1B5BA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321">
              <a:extLst>
                <a:ext uri="{FF2B5EF4-FFF2-40B4-BE49-F238E27FC236}">
                  <a16:creationId xmlns:a16="http://schemas.microsoft.com/office/drawing/2014/main" id="{830903CF-8165-AFC6-912A-B0D50B535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989898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Short Dark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F75C5998-60B8-E90F-ABC5-B2B44AE3671E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7AA8B914-E494-3BE7-D1C9-625A618D7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8C9E80B-66E6-FE75-51F4-FE53C769F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81145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 Short Dark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de-DE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" name="Group 37">
            <a:extLst>
              <a:ext uri="{FF2B5EF4-FFF2-40B4-BE49-F238E27FC236}">
                <a16:creationId xmlns:a16="http://schemas.microsoft.com/office/drawing/2014/main" id="{7A1A8CC8-8DC5-C9DB-BF05-A632200BAA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3" name="Freeform 320">
              <a:extLst>
                <a:ext uri="{FF2B5EF4-FFF2-40B4-BE49-F238E27FC236}">
                  <a16:creationId xmlns:a16="http://schemas.microsoft.com/office/drawing/2014/main" id="{9FD445ED-7589-8F2E-2555-68F99651C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" name="Freeform 321">
              <a:extLst>
                <a:ext uri="{FF2B5EF4-FFF2-40B4-BE49-F238E27FC236}">
                  <a16:creationId xmlns:a16="http://schemas.microsoft.com/office/drawing/2014/main" id="{D611104C-45C2-A6EE-6C88-7B5A09068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297071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bg>
      <p:bgPr>
        <a:gradFill flip="none" rotWithShape="1">
          <a:gsLst>
            <a:gs pos="0">
              <a:schemeClr val="accent4"/>
            </a:gs>
            <a:gs pos="100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7">
            <a:extLst>
              <a:ext uri="{FF2B5EF4-FFF2-40B4-BE49-F238E27FC236}">
                <a16:creationId xmlns:a16="http://schemas.microsoft.com/office/drawing/2014/main" id="{1061E678-75D4-A1A0-2B62-B9EE7897ADC9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968249B3-6CEA-36AB-82F2-AC791AB45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6CA36F11-D251-B9D9-4C20-84C34AAE7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864841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1742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079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8456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 Short 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028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 Short 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84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 Short 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189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 Short 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de-DE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89686874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97239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2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hlinkClick r:id="rId2"/>
            <a:extLst>
              <a:ext uri="{FF2B5EF4-FFF2-40B4-BE49-F238E27FC236}">
                <a16:creationId xmlns:a16="http://schemas.microsoft.com/office/drawing/2014/main" id="{941A3941-C755-6656-4029-D0028A53BB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4"/>
            <a:extLst>
              <a:ext uri="{FF2B5EF4-FFF2-40B4-BE49-F238E27FC236}">
                <a16:creationId xmlns:a16="http://schemas.microsoft.com/office/drawing/2014/main" id="{3591224F-8FEC-9B5A-1F57-B601D9EC4C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766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6"/>
            <a:extLst>
              <a:ext uri="{FF2B5EF4-FFF2-40B4-BE49-F238E27FC236}">
                <a16:creationId xmlns:a16="http://schemas.microsoft.com/office/drawing/2014/main" id="{C96036E5-31FB-13BE-950F-9869979802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104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8"/>
            <a:extLst>
              <a:ext uri="{FF2B5EF4-FFF2-40B4-BE49-F238E27FC236}">
                <a16:creationId xmlns:a16="http://schemas.microsoft.com/office/drawing/2014/main" id="{C895DE98-7E11-9ACD-964C-CB06CEB758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64420" y="5571089"/>
            <a:ext cx="333195" cy="333195"/>
          </a:xfrm>
          <a:prstGeom prst="rect">
            <a:avLst/>
          </a:prstGeom>
          <a:noFill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BBF08B-D059-4998-4ED3-95035CA33654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 dirty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 dirty="0">
                <a:solidFill>
                  <a:schemeClr val="bg1"/>
                </a:solidFill>
                <a:latin typeface="+mn-lt"/>
                <a:cs typeface="Arial"/>
              </a:rPr>
              <a:t>Copyright © 2025 Capgemini. All rights reserved.</a:t>
            </a:r>
          </a:p>
        </p:txBody>
      </p:sp>
      <p:pic>
        <p:nvPicPr>
          <p:cNvPr id="10" name="Image 9" descr="Une image contenant noir, Graphique, art&#10;&#10;Description générée automatiquement">
            <a:extLst>
              <a:ext uri="{FF2B5EF4-FFF2-40B4-BE49-F238E27FC236}">
                <a16:creationId xmlns:a16="http://schemas.microsoft.com/office/drawing/2014/main" id="{DE62D67C-765C-84EB-F850-6A1F3B6BE8F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7928" y="836712"/>
            <a:ext cx="7729744" cy="6403861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56D52905-04DB-E4AA-9E48-970798DABA6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7988" y="5997836"/>
            <a:ext cx="3780000" cy="4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60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dark">
    <p:bg>
      <p:bgPr>
        <a:solidFill>
          <a:srgbClr val="27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>
            <a:hlinkClick r:id="rId2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4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766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6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104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8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6442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 dirty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 dirty="0">
                <a:solidFill>
                  <a:schemeClr val="bg1"/>
                </a:solidFill>
                <a:latin typeface="+mn-lt"/>
                <a:cs typeface="Arial"/>
              </a:rPr>
              <a:t>Copyright © 2025 Capgemini. All rights reserved.</a:t>
            </a:r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72F6479D-6EC4-876D-159E-45E9EFA775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40D9314C-8084-E541-E4C7-0A1AC981259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7988" y="5997836"/>
            <a:ext cx="3780000" cy="4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52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Enter </a:t>
            </a:r>
            <a:r>
              <a:rPr lang="fr-FR" dirty="0" err="1"/>
              <a:t>your</a:t>
            </a:r>
            <a:r>
              <a:rPr lang="fr-FR" dirty="0"/>
              <a:t> contents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en-US" dirty="0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 dirty="0"/>
              <a:t>Modifiez le style du titre</a:t>
            </a:r>
            <a:endParaRPr lang="de-DE" dirty="0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 dirty="0"/>
              <a:t>	Source:	Source Text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62086BA9-1591-C6CD-E573-A5F8961683B1}"/>
              </a:ext>
            </a:extLst>
          </p:cNvPr>
          <p:cNvSpPr/>
          <p:nvPr userDrawn="1"/>
        </p:nvSpPr>
        <p:spPr>
          <a:xfrm>
            <a:off x="40683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0" dirty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Presentation title | Author | Date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dirty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Public © Capgemini 2025.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‹N°›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3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9" r:id="rId1"/>
    <p:sldLayoutId id="2147484177" r:id="rId2"/>
    <p:sldLayoutId id="2147484198" r:id="rId3"/>
    <p:sldLayoutId id="2147484184" r:id="rId4"/>
    <p:sldLayoutId id="2147484185" r:id="rId5"/>
    <p:sldLayoutId id="2147484186" r:id="rId6"/>
    <p:sldLayoutId id="2147484187" r:id="rId7"/>
    <p:sldLayoutId id="2147484158" r:id="rId8"/>
    <p:sldLayoutId id="2147484165" r:id="rId9"/>
    <p:sldLayoutId id="2147484119" r:id="rId10"/>
    <p:sldLayoutId id="2147484226" r:id="rId11"/>
    <p:sldLayoutId id="2147484169" r:id="rId12"/>
    <p:sldLayoutId id="2147484179" r:id="rId13"/>
    <p:sldLayoutId id="2147484180" r:id="rId14"/>
    <p:sldLayoutId id="2147484181" r:id="rId15"/>
    <p:sldLayoutId id="2147484194" r:id="rId16"/>
    <p:sldLayoutId id="2147484159" r:id="rId17"/>
    <p:sldLayoutId id="2147484124" r:id="rId18"/>
    <p:sldLayoutId id="2147484225" r:id="rId19"/>
    <p:sldLayoutId id="2147484229" r:id="rId20"/>
    <p:sldLayoutId id="2147484125" r:id="rId21"/>
    <p:sldLayoutId id="2147484126" r:id="rId22"/>
    <p:sldLayoutId id="2147484127" r:id="rId23"/>
    <p:sldLayoutId id="2147484128" r:id="rId24"/>
    <p:sldLayoutId id="2147484129" r:id="rId25"/>
    <p:sldLayoutId id="2147484227" r:id="rId26"/>
    <p:sldLayoutId id="2147484228" r:id="rId27"/>
    <p:sldLayoutId id="2147484130" r:id="rId28"/>
    <p:sldLayoutId id="2147484131" r:id="rId29"/>
    <p:sldLayoutId id="2147484132" r:id="rId30"/>
    <p:sldLayoutId id="2147484133" r:id="rId31"/>
    <p:sldLayoutId id="2147484134" r:id="rId32"/>
    <p:sldLayoutId id="2147484135" r:id="rId33"/>
    <p:sldLayoutId id="2147484218" r:id="rId34"/>
    <p:sldLayoutId id="2147484136" r:id="rId35"/>
    <p:sldLayoutId id="2147484137" r:id="rId36"/>
    <p:sldLayoutId id="2147484138" r:id="rId37"/>
    <p:sldLayoutId id="2147484219" r:id="rId38"/>
    <p:sldLayoutId id="2147484143" r:id="rId39"/>
    <p:sldLayoutId id="2147484145" r:id="rId40"/>
    <p:sldLayoutId id="2147484197" r:id="rId41"/>
    <p:sldLayoutId id="2147484139" r:id="rId42"/>
    <p:sldLayoutId id="2147484140" r:id="rId43"/>
    <p:sldLayoutId id="2147484141" r:id="rId44"/>
    <p:sldLayoutId id="2147484142" r:id="rId45"/>
    <p:sldLayoutId id="2147484216" r:id="rId46"/>
    <p:sldLayoutId id="2147484195" r:id="rId47"/>
    <p:sldLayoutId id="2147484144" r:id="rId48"/>
    <p:sldLayoutId id="2147484220" r:id="rId49"/>
    <p:sldLayoutId id="2147484221" r:id="rId50"/>
    <p:sldLayoutId id="2147484222" r:id="rId51"/>
    <p:sldLayoutId id="2147484223" r:id="rId52"/>
    <p:sldLayoutId id="2147484224" r:id="rId53"/>
    <p:sldLayoutId id="2147484215" r:id="rId54"/>
    <p:sldLayoutId id="2147484217" r:id="rId55"/>
    <p:sldLayoutId id="2147484156" r:id="rId56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 userDrawn="1">
          <p15:clr>
            <a:srgbClr val="F26B43"/>
          </p15:clr>
        </p15:guide>
        <p15:guide id="19" orient="horz" pos="4320" userDrawn="1">
          <p15:clr>
            <a:srgbClr val="F26B43"/>
          </p15:clr>
        </p15:guide>
        <p15:guide id="20" pos="257" userDrawn="1">
          <p15:clr>
            <a:srgbClr val="F26B43"/>
          </p15:clr>
        </p15:guide>
        <p15:guide id="21" pos="3840">
          <p15:clr>
            <a:srgbClr val="F26B43"/>
          </p15:clr>
        </p15:guide>
        <p15:guide id="22" pos="7423" userDrawn="1">
          <p15:clr>
            <a:srgbClr val="F26B43"/>
          </p15:clr>
        </p15:guide>
        <p15:guide id="23" orient="horz" pos="255" userDrawn="1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 userDrawn="1">
          <p15:clr>
            <a:srgbClr val="F26B43"/>
          </p15:clr>
        </p15:guide>
        <p15:guide id="27" orient="horz" pos="89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7B034CF-161F-BC1A-178F-DD9473789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7038" y="2735709"/>
            <a:ext cx="11356975" cy="1384995"/>
          </a:xfrm>
        </p:spPr>
        <p:txBody>
          <a:bodyPr/>
          <a:lstStyle/>
          <a:p>
            <a:r>
              <a:rPr lang="fr-FR" dirty="0"/>
              <a:t>OSC48Mhz -FLL</a:t>
            </a:r>
          </a:p>
          <a:p>
            <a:r>
              <a:rPr lang="fr-FR" sz="2000" dirty="0"/>
              <a:t>Richard Morisson 27 </a:t>
            </a:r>
            <a:r>
              <a:rPr lang="fr-FR" sz="2000" dirty="0" err="1"/>
              <a:t>February</a:t>
            </a:r>
            <a:r>
              <a:rPr lang="fr-FR" sz="2000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86216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711A06A-7571-077F-727F-DA585E9968EB}"/>
              </a:ext>
            </a:extLst>
          </p:cNvPr>
          <p:cNvSpPr txBox="1"/>
          <p:nvPr/>
        </p:nvSpPr>
        <p:spPr>
          <a:xfrm>
            <a:off x="335360" y="847746"/>
            <a:ext cx="10998822" cy="4034054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3200" u="sng" dirty="0" err="1"/>
              <a:t>Summary</a:t>
            </a:r>
            <a:r>
              <a:rPr lang="fr-FR" sz="3200" u="sng" dirty="0"/>
              <a:t> :</a:t>
            </a:r>
          </a:p>
          <a:p>
            <a:pPr marL="457200" indent="-457200" algn="l">
              <a:spcBef>
                <a:spcPct val="0"/>
              </a:spcBef>
              <a:buAutoNum type="arabicParenR"/>
            </a:pPr>
            <a:r>
              <a:rPr lang="fr-FR" sz="2800" dirty="0"/>
              <a:t>ELMOS </a:t>
            </a:r>
            <a:r>
              <a:rPr lang="fr-FR" sz="2800" dirty="0" err="1"/>
              <a:t>Requirement</a:t>
            </a:r>
            <a:r>
              <a:rPr lang="fr-FR" sz="2800" dirty="0"/>
              <a:t> and </a:t>
            </a:r>
            <a:r>
              <a:rPr lang="fr-FR" sz="2800" dirty="0" err="1"/>
              <a:t>Definition</a:t>
            </a:r>
            <a:r>
              <a:rPr lang="fr-FR" sz="2800" dirty="0"/>
              <a:t> main </a:t>
            </a:r>
            <a:r>
              <a:rPr lang="fr-FR" sz="2800" dirty="0" err="1"/>
              <a:t>parameters</a:t>
            </a:r>
            <a:endParaRPr lang="fr-FR" sz="2800" dirty="0"/>
          </a:p>
          <a:p>
            <a:pPr marL="457200" indent="-457200" algn="l">
              <a:spcBef>
                <a:spcPct val="0"/>
              </a:spcBef>
              <a:buAutoNum type="arabicParenR"/>
            </a:pPr>
            <a:r>
              <a:rPr lang="fr-FR" sz="2800" dirty="0"/>
              <a:t>OSC 48M </a:t>
            </a:r>
            <a:r>
              <a:rPr lang="fr-FR" sz="2800" dirty="0" err="1"/>
              <a:t>Ramp</a:t>
            </a:r>
            <a:r>
              <a:rPr lang="fr-FR" sz="2800" dirty="0"/>
              <a:t> :</a:t>
            </a:r>
            <a:r>
              <a:rPr lang="fr-FR" sz="2800" dirty="0" err="1"/>
              <a:t>Results</a:t>
            </a:r>
            <a:r>
              <a:rPr lang="fr-FR" sz="2800" dirty="0"/>
              <a:t> and Drawbacks</a:t>
            </a:r>
          </a:p>
          <a:p>
            <a:pPr marL="457200" indent="-457200" algn="l">
              <a:spcBef>
                <a:spcPct val="0"/>
              </a:spcBef>
              <a:buAutoNum type="arabicParenR"/>
            </a:pPr>
            <a:r>
              <a:rPr lang="fr-FR" sz="2800" dirty="0"/>
              <a:t>FLL Architecture description and </a:t>
            </a:r>
            <a:r>
              <a:rPr lang="fr-FR" sz="2800" dirty="0" err="1"/>
              <a:t>advantages</a:t>
            </a:r>
            <a:endParaRPr lang="fr-FR" sz="2800" dirty="0"/>
          </a:p>
          <a:p>
            <a:pPr marL="457200" indent="-457200" algn="l">
              <a:spcBef>
                <a:spcPct val="0"/>
              </a:spcBef>
              <a:buAutoNum type="arabicParenR"/>
            </a:pPr>
            <a:r>
              <a:rPr lang="fr-FR" sz="2800" dirty="0"/>
              <a:t> </a:t>
            </a:r>
            <a:r>
              <a:rPr lang="fr-FR" sz="2800" dirty="0" err="1"/>
              <a:t>Optimization</a:t>
            </a:r>
            <a:r>
              <a:rPr lang="fr-FR" sz="2800" dirty="0"/>
              <a:t> </a:t>
            </a:r>
            <a:r>
              <a:rPr lang="fr-FR" sz="2800" dirty="0" err="1"/>
              <a:t>Tc_ppm</a:t>
            </a:r>
            <a:r>
              <a:rPr lang="fr-FR" sz="2800" dirty="0"/>
              <a:t>/k  </a:t>
            </a:r>
            <a:r>
              <a:rPr lang="fr-FR" sz="2800" dirty="0" err="1"/>
              <a:t>equivalent</a:t>
            </a:r>
            <a:r>
              <a:rPr lang="fr-FR" sz="2800" dirty="0"/>
              <a:t> for  REQ * C</a:t>
            </a:r>
          </a:p>
          <a:p>
            <a:pPr marL="457200" indent="-457200" algn="l">
              <a:spcBef>
                <a:spcPct val="0"/>
              </a:spcBef>
              <a:buAutoNum type="arabicParenR"/>
            </a:pPr>
            <a:r>
              <a:rPr lang="fr-FR" sz="2800" dirty="0"/>
              <a:t>5imulation </a:t>
            </a:r>
            <a:r>
              <a:rPr lang="fr-FR" sz="2800" dirty="0" err="1"/>
              <a:t>Tc_ppm</a:t>
            </a:r>
            <a:r>
              <a:rPr lang="fr-FR" sz="2800" dirty="0"/>
              <a:t>/k  Req * C</a:t>
            </a:r>
          </a:p>
          <a:p>
            <a:pPr marL="457200" indent="-457200" algn="l">
              <a:spcBef>
                <a:spcPct val="0"/>
              </a:spcBef>
              <a:buAutoNum type="arabicParenR"/>
            </a:pPr>
            <a:r>
              <a:rPr lang="fr-FR" sz="2800" dirty="0"/>
              <a:t>Description and simulation </a:t>
            </a:r>
            <a:r>
              <a:rPr lang="fr-FR" sz="2800" dirty="0" err="1"/>
              <a:t>internal</a:t>
            </a:r>
            <a:r>
              <a:rPr lang="fr-FR" sz="2800" dirty="0"/>
              <a:t> block : </a:t>
            </a:r>
            <a:r>
              <a:rPr lang="fr-FR" sz="2800" dirty="0" err="1"/>
              <a:t>Rtimm</a:t>
            </a:r>
            <a:r>
              <a:rPr lang="fr-FR" sz="2800" dirty="0"/>
              <a:t> , OPAMP,VCO</a:t>
            </a:r>
          </a:p>
          <a:p>
            <a:pPr marL="457200" indent="-457200" algn="l">
              <a:spcBef>
                <a:spcPct val="0"/>
              </a:spcBef>
              <a:buAutoNum type="arabicParenR"/>
            </a:pPr>
            <a:r>
              <a:rPr lang="fr-FR" sz="2800" dirty="0"/>
              <a:t>PVT TOP OSC48MFLL Simulations and </a:t>
            </a:r>
            <a:r>
              <a:rPr lang="fr-FR" sz="2800" dirty="0" err="1"/>
              <a:t>summary</a:t>
            </a:r>
            <a:endParaRPr lang="fr-FR" sz="2800" dirty="0"/>
          </a:p>
          <a:p>
            <a:pPr marL="457200" indent="-457200" algn="l">
              <a:spcBef>
                <a:spcPct val="0"/>
              </a:spcBef>
              <a:buAutoNum type="arabicParenR"/>
            </a:pPr>
            <a:r>
              <a:rPr lang="fr-FR" sz="2800" dirty="0"/>
              <a:t>First draft simulation </a:t>
            </a:r>
            <a:r>
              <a:rPr lang="fr-FR" sz="2800" dirty="0" err="1"/>
              <a:t>selectable</a:t>
            </a:r>
            <a:r>
              <a:rPr lang="fr-FR" sz="2800" dirty="0"/>
              <a:t> OSC48MFLL/OSC64MFLL !!</a:t>
            </a:r>
          </a:p>
        </p:txBody>
      </p:sp>
    </p:spTree>
    <p:extLst>
      <p:ext uri="{BB962C8B-B14F-4D97-AF65-F5344CB8AC3E}">
        <p14:creationId xmlns:p14="http://schemas.microsoft.com/office/powerpoint/2010/main" val="509077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43CE-B150-CEA1-D3EA-19832D45A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8BBE541-E2B9-CC48-9E67-8663905F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3816480"/>
            <a:ext cx="11809312" cy="792163"/>
          </a:xfrm>
        </p:spPr>
        <p:txBody>
          <a:bodyPr/>
          <a:lstStyle/>
          <a:p>
            <a:r>
              <a:rPr lang="fr-FR" dirty="0"/>
              <a:t>ELMOS MAIN </a:t>
            </a:r>
            <a:r>
              <a:rPr lang="fr-FR" dirty="0" err="1"/>
              <a:t>Requirements</a:t>
            </a:r>
            <a:r>
              <a:rPr lang="fr-FR" dirty="0"/>
              <a:t> in KEY FOUNDRY HVT : </a:t>
            </a:r>
            <a:br>
              <a:rPr lang="fr-FR" dirty="0"/>
            </a:br>
            <a:br>
              <a:rPr lang="fr-FR" dirty="0"/>
            </a:br>
            <a:r>
              <a:rPr lang="fr-FR" sz="2300" i="1" dirty="0"/>
              <a:t>Design a High </a:t>
            </a:r>
            <a:r>
              <a:rPr lang="fr-FR" sz="2300" i="1" dirty="0" err="1"/>
              <a:t>Precision</a:t>
            </a:r>
            <a:r>
              <a:rPr lang="fr-FR" sz="2300" i="1" dirty="0"/>
              <a:t> 48 Mhz OSCILLATOR </a:t>
            </a:r>
            <a:r>
              <a:rPr lang="fr-FR" sz="2300" i="1" dirty="0" err="1"/>
              <a:t>with</a:t>
            </a:r>
            <a:r>
              <a:rPr lang="fr-FR" sz="2300" i="1" dirty="0"/>
              <a:t> a minimum  </a:t>
            </a:r>
            <a:r>
              <a:rPr lang="fr-FR" sz="2300" i="1" dirty="0" err="1"/>
              <a:t>Error</a:t>
            </a:r>
            <a:r>
              <a:rPr lang="fr-FR" sz="2300" i="1" dirty="0"/>
              <a:t> </a:t>
            </a:r>
            <a:r>
              <a:rPr lang="fr-FR" sz="2300" i="1" dirty="0" err="1"/>
              <a:t>after</a:t>
            </a:r>
            <a:r>
              <a:rPr lang="fr-FR" sz="2300" i="1" dirty="0"/>
              <a:t> </a:t>
            </a:r>
            <a:r>
              <a:rPr lang="fr-FR" sz="2300" i="1" dirty="0" err="1"/>
              <a:t>trimming</a:t>
            </a:r>
            <a:r>
              <a:rPr lang="fr-FR" sz="2300" i="1" dirty="0"/>
              <a:t> .</a:t>
            </a:r>
            <a:br>
              <a:rPr lang="fr-FR" sz="2300" i="1" dirty="0"/>
            </a:br>
            <a:br>
              <a:rPr lang="fr-FR" sz="2300" i="1" dirty="0"/>
            </a:br>
            <a:r>
              <a:rPr lang="fr-FR" sz="2000" i="1" u="sng" dirty="0"/>
              <a:t>I </a:t>
            </a:r>
            <a:r>
              <a:rPr lang="fr-FR" sz="2000" i="1" u="sng" dirty="0" err="1"/>
              <a:t>define</a:t>
            </a:r>
            <a:r>
              <a:rPr lang="fr-FR" sz="2000" i="1" u="sng" dirty="0"/>
              <a:t> 3</a:t>
            </a:r>
            <a:r>
              <a:rPr lang="fr-FR" sz="2000" u="sng" dirty="0"/>
              <a:t> </a:t>
            </a:r>
            <a:r>
              <a:rPr lang="fr-FR" sz="2000" u="sng" dirty="0" err="1"/>
              <a:t>specification</a:t>
            </a:r>
            <a:r>
              <a:rPr lang="fr-FR" sz="2000" u="sng" dirty="0"/>
              <a:t> ranges :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  1) </a:t>
            </a:r>
            <a:r>
              <a:rPr lang="fr-FR" sz="2000" dirty="0" err="1"/>
              <a:t>Specification</a:t>
            </a:r>
            <a:r>
              <a:rPr lang="fr-FR" sz="2000" dirty="0"/>
              <a:t> 1 ( nominal) : </a:t>
            </a:r>
            <a:r>
              <a:rPr lang="fr-FR" sz="2000" dirty="0" err="1"/>
              <a:t>Vdd</a:t>
            </a:r>
            <a:r>
              <a:rPr lang="fr-FR" sz="2000" dirty="0"/>
              <a:t>: 1.35 to 1.65 V  , Temp :-40 to +160dC , </a:t>
            </a:r>
            <a:r>
              <a:rPr lang="fr-FR" sz="2000" dirty="0" err="1"/>
              <a:t>with</a:t>
            </a:r>
            <a:r>
              <a:rPr lang="fr-FR" sz="2000" dirty="0"/>
              <a:t>  ERROR &lt;&lt;+/-1%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  2) </a:t>
            </a:r>
            <a:r>
              <a:rPr lang="fr-FR" sz="2000" dirty="0" err="1"/>
              <a:t>Specification</a:t>
            </a:r>
            <a:r>
              <a:rPr lang="fr-FR" sz="2000" dirty="0"/>
              <a:t>  2  : </a:t>
            </a:r>
            <a:r>
              <a:rPr lang="fr-FR" sz="2000" dirty="0" err="1"/>
              <a:t>Vdd</a:t>
            </a:r>
            <a:r>
              <a:rPr lang="fr-FR" sz="2000" dirty="0"/>
              <a:t>: 1.35V to 1.65V , Temp :-55 to +175dC , </a:t>
            </a:r>
            <a:r>
              <a:rPr lang="fr-FR" sz="2000" dirty="0" err="1"/>
              <a:t>with</a:t>
            </a:r>
            <a:r>
              <a:rPr lang="fr-FR" sz="2000" dirty="0"/>
              <a:t> ERROR &lt; +/-1%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 3) </a:t>
            </a:r>
            <a:r>
              <a:rPr lang="fr-FR" sz="2000" dirty="0" err="1"/>
              <a:t>Specification</a:t>
            </a:r>
            <a:r>
              <a:rPr lang="fr-FR" sz="2000" dirty="0"/>
              <a:t> 3 : </a:t>
            </a:r>
            <a:r>
              <a:rPr lang="fr-FR" sz="2000" dirty="0" err="1"/>
              <a:t>Vdd</a:t>
            </a:r>
            <a:r>
              <a:rPr lang="fr-FR" sz="2000" dirty="0"/>
              <a:t>: 1.25V to 1.65V , Temp :-55 to +175dC ,</a:t>
            </a:r>
            <a:r>
              <a:rPr lang="fr-FR" sz="2000" dirty="0" err="1"/>
              <a:t>with</a:t>
            </a:r>
            <a:r>
              <a:rPr lang="fr-FR" sz="2000" dirty="0"/>
              <a:t> ERROR ≈ +/-1%</a:t>
            </a:r>
            <a:br>
              <a:rPr lang="fr-FR" sz="2000" dirty="0"/>
            </a:br>
            <a:br>
              <a:rPr lang="fr-FR" sz="2000" dirty="0"/>
            </a:br>
            <a:br>
              <a:rPr lang="fr-FR" sz="2000" dirty="0"/>
            </a:br>
            <a:br>
              <a:rPr lang="fr-FR" sz="2000" dirty="0"/>
            </a:br>
            <a:r>
              <a:rPr lang="fr-FR" sz="2000" b="1" dirty="0"/>
              <a:t>Design </a:t>
            </a:r>
            <a:r>
              <a:rPr lang="fr-FR" sz="2000" b="1" dirty="0" err="1"/>
              <a:t>Priorities</a:t>
            </a:r>
            <a:r>
              <a:rPr lang="fr-FR" sz="2000" b="1" dirty="0"/>
              <a:t> :</a:t>
            </a:r>
            <a:br>
              <a:rPr lang="fr-FR" sz="2000" dirty="0"/>
            </a:br>
            <a:r>
              <a:rPr lang="fr-FR" sz="2000" dirty="0"/>
              <a:t>  1) </a:t>
            </a:r>
            <a:r>
              <a:rPr lang="fr-FR" sz="2000" dirty="0" err="1"/>
              <a:t>Minimizing</a:t>
            </a:r>
            <a:r>
              <a:rPr lang="fr-FR" sz="2000" dirty="0"/>
              <a:t> </a:t>
            </a:r>
            <a:r>
              <a:rPr lang="fr-FR" sz="2000" dirty="0" err="1"/>
              <a:t>Error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Robust</a:t>
            </a:r>
            <a:r>
              <a:rPr lang="fr-FR" sz="2000" dirty="0"/>
              <a:t> Design</a:t>
            </a:r>
            <a:br>
              <a:rPr lang="fr-FR" sz="2000" dirty="0"/>
            </a:br>
            <a:r>
              <a:rPr lang="fr-FR" sz="2000" dirty="0"/>
              <a:t>   2) Power </a:t>
            </a:r>
            <a:r>
              <a:rPr lang="fr-FR" sz="2000" dirty="0" err="1"/>
              <a:t>Consumption</a:t>
            </a:r>
            <a:br>
              <a:rPr lang="fr-FR" sz="2000" dirty="0"/>
            </a:br>
            <a:r>
              <a:rPr lang="fr-FR" sz="2000" dirty="0"/>
              <a:t>   3) </a:t>
            </a:r>
            <a:r>
              <a:rPr lang="fr-FR" sz="2000" dirty="0" err="1"/>
              <a:t>Layout</a:t>
            </a:r>
            <a:r>
              <a:rPr lang="fr-FR" sz="2000" dirty="0"/>
              <a:t> Area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E53C350-A5B7-111F-DD52-D3EDF127EEC6}"/>
              </a:ext>
            </a:extLst>
          </p:cNvPr>
          <p:cNvSpPr txBox="1"/>
          <p:nvPr/>
        </p:nvSpPr>
        <p:spPr>
          <a:xfrm>
            <a:off x="152794" y="4864399"/>
            <a:ext cx="6845441" cy="1818063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 err="1"/>
              <a:t>Definition</a:t>
            </a:r>
            <a:r>
              <a:rPr lang="fr-FR" sz="1400" b="1" dirty="0"/>
              <a:t> ERROR % : </a:t>
            </a:r>
            <a:r>
              <a:rPr lang="fr-FR" sz="1400" dirty="0"/>
              <a:t> </a:t>
            </a:r>
            <a:r>
              <a:rPr lang="fr-FR" sz="1400" dirty="0" err="1"/>
              <a:t>Error</a:t>
            </a:r>
            <a:r>
              <a:rPr lang="fr-FR" sz="1400" dirty="0"/>
              <a:t> +/- % = 50( Fout(MAX) –Fout(MIN))/Fout(</a:t>
            </a:r>
            <a:r>
              <a:rPr lang="fr-FR" sz="1400" dirty="0" err="1"/>
              <a:t>Average</a:t>
            </a:r>
            <a:r>
              <a:rPr lang="fr-FR" sz="1400" dirty="0"/>
              <a:t>)</a:t>
            </a:r>
          </a:p>
          <a:p>
            <a:pPr algn="l">
              <a:spcBef>
                <a:spcPct val="0"/>
              </a:spcBef>
            </a:pPr>
            <a:r>
              <a:rPr lang="fr-FR" sz="1400" dirty="0"/>
              <a:t>Fout </a:t>
            </a:r>
            <a:r>
              <a:rPr lang="fr-FR" sz="1400" dirty="0" err="1"/>
              <a:t>measured</a:t>
            </a:r>
            <a:r>
              <a:rPr lang="fr-FR" sz="1400" dirty="0"/>
              <a:t> </a:t>
            </a:r>
            <a:r>
              <a:rPr lang="fr-FR" sz="1400" dirty="0" err="1"/>
              <a:t>with</a:t>
            </a:r>
            <a:r>
              <a:rPr lang="fr-FR" sz="1400" dirty="0"/>
              <a:t> </a:t>
            </a:r>
            <a:r>
              <a:rPr lang="fr-FR" sz="1400" dirty="0" err="1"/>
              <a:t>three</a:t>
            </a:r>
            <a:r>
              <a:rPr lang="fr-FR" sz="1400" dirty="0"/>
              <a:t> </a:t>
            </a:r>
            <a:r>
              <a:rPr lang="fr-FR" sz="1400" dirty="0" err="1"/>
              <a:t>supply</a:t>
            </a:r>
            <a:r>
              <a:rPr lang="fr-FR" sz="1400" dirty="0"/>
              <a:t> voltage  and full </a:t>
            </a:r>
            <a:r>
              <a:rPr lang="fr-FR" sz="1400" dirty="0" err="1"/>
              <a:t>temperature</a:t>
            </a:r>
            <a:r>
              <a:rPr lang="fr-FR" sz="1400" dirty="0"/>
              <a:t> range .</a:t>
            </a:r>
          </a:p>
          <a:p>
            <a:pPr algn="l">
              <a:spcBef>
                <a:spcPct val="0"/>
              </a:spcBef>
            </a:pPr>
            <a:endParaRPr lang="fr-FR" sz="1400" dirty="0"/>
          </a:p>
          <a:p>
            <a:pPr algn="l">
              <a:spcBef>
                <a:spcPct val="0"/>
              </a:spcBef>
            </a:pPr>
            <a:r>
              <a:rPr lang="fr-FR" sz="1400" dirty="0" err="1"/>
              <a:t>Two</a:t>
            </a:r>
            <a:r>
              <a:rPr lang="fr-FR" sz="1400" dirty="0"/>
              <a:t> </a:t>
            </a:r>
            <a:r>
              <a:rPr lang="fr-FR" sz="1400" dirty="0" err="1"/>
              <a:t>other</a:t>
            </a:r>
            <a:r>
              <a:rPr lang="fr-FR" sz="1400" dirty="0"/>
              <a:t> </a:t>
            </a:r>
            <a:r>
              <a:rPr lang="fr-FR" sz="1400" dirty="0" err="1"/>
              <a:t>parameter</a:t>
            </a:r>
            <a:r>
              <a:rPr lang="fr-FR" sz="1400" dirty="0"/>
              <a:t> are </a:t>
            </a:r>
            <a:r>
              <a:rPr lang="fr-FR" sz="1400" dirty="0" err="1"/>
              <a:t>also</a:t>
            </a:r>
            <a:r>
              <a:rPr lang="fr-FR" sz="1400" dirty="0"/>
              <a:t> </a:t>
            </a:r>
            <a:r>
              <a:rPr lang="fr-FR" sz="1400" dirty="0" err="1"/>
              <a:t>given</a:t>
            </a:r>
            <a:r>
              <a:rPr lang="fr-FR" sz="1400" dirty="0"/>
              <a:t> :</a:t>
            </a:r>
          </a:p>
          <a:p>
            <a:pPr algn="l">
              <a:spcBef>
                <a:spcPct val="0"/>
              </a:spcBef>
            </a:pPr>
            <a:r>
              <a:rPr lang="fr-FR" sz="1400" dirty="0"/>
              <a:t>  PSRR(dB) = db20 (( Fout(</a:t>
            </a:r>
            <a:r>
              <a:rPr lang="fr-FR" sz="1400" dirty="0" err="1"/>
              <a:t>Vdd</a:t>
            </a:r>
            <a:r>
              <a:rPr lang="fr-FR" sz="1400" dirty="0"/>
              <a:t> max)/Fout(</a:t>
            </a:r>
            <a:r>
              <a:rPr lang="fr-FR" sz="1400" dirty="0" err="1"/>
              <a:t>Vdd</a:t>
            </a:r>
            <a:r>
              <a:rPr lang="fr-FR" sz="1400" dirty="0"/>
              <a:t> min))-1) /( (</a:t>
            </a:r>
            <a:r>
              <a:rPr lang="fr-FR" sz="1400" dirty="0" err="1"/>
              <a:t>Vddmax</a:t>
            </a:r>
            <a:r>
              <a:rPr lang="fr-FR" sz="1400" dirty="0"/>
              <a:t>/</a:t>
            </a:r>
            <a:r>
              <a:rPr lang="fr-FR" sz="1400" dirty="0" err="1"/>
              <a:t>Vddmin</a:t>
            </a:r>
            <a:r>
              <a:rPr lang="fr-FR" sz="1400" dirty="0"/>
              <a:t>)-1)</a:t>
            </a:r>
          </a:p>
          <a:p>
            <a:pPr algn="l">
              <a:spcBef>
                <a:spcPct val="0"/>
              </a:spcBef>
            </a:pPr>
            <a:r>
              <a:rPr lang="fr-FR" sz="1400" dirty="0"/>
              <a:t>                        </a:t>
            </a:r>
            <a:r>
              <a:rPr lang="fr-FR" sz="1400" dirty="0" err="1"/>
              <a:t>calculated</a:t>
            </a:r>
            <a:r>
              <a:rPr lang="fr-FR" sz="1400" dirty="0"/>
              <a:t> for </a:t>
            </a:r>
            <a:r>
              <a:rPr lang="fr-FR" sz="1400" dirty="0" err="1"/>
              <a:t>each</a:t>
            </a:r>
            <a:r>
              <a:rPr lang="fr-FR" sz="1400" dirty="0"/>
              <a:t> </a:t>
            </a:r>
            <a:r>
              <a:rPr lang="fr-FR" sz="1400" dirty="0" err="1"/>
              <a:t>temperature</a:t>
            </a:r>
            <a:r>
              <a:rPr lang="fr-FR" sz="1400" dirty="0"/>
              <a:t> </a:t>
            </a:r>
            <a:r>
              <a:rPr lang="fr-FR" sz="1400" dirty="0" err="1"/>
              <a:t>step</a:t>
            </a:r>
            <a:endParaRPr lang="fr-FR" sz="1400" dirty="0"/>
          </a:p>
          <a:p>
            <a:pPr algn="l">
              <a:spcBef>
                <a:spcPct val="0"/>
              </a:spcBef>
            </a:pPr>
            <a:r>
              <a:rPr lang="fr-FR" sz="1400" dirty="0"/>
              <a:t> </a:t>
            </a:r>
            <a:r>
              <a:rPr lang="fr-FR" sz="1400" dirty="0" err="1"/>
              <a:t>TC_ppm</a:t>
            </a:r>
            <a:r>
              <a:rPr lang="fr-FR" sz="1400" dirty="0"/>
              <a:t>/K = 1</a:t>
            </a:r>
            <a:r>
              <a:rPr lang="fr-FR" sz="1400" baseline="30000" dirty="0"/>
              <a:t>e</a:t>
            </a:r>
            <a:r>
              <a:rPr lang="fr-FR" sz="1400" dirty="0"/>
              <a:t>6 *( Fout(max)-Fout(min))/((Fout(</a:t>
            </a:r>
            <a:r>
              <a:rPr lang="fr-FR" sz="1400" dirty="0" err="1"/>
              <a:t>average</a:t>
            </a:r>
            <a:r>
              <a:rPr lang="fr-FR" sz="1400" dirty="0"/>
              <a:t>)* Temp(max)-Temp(min))</a:t>
            </a:r>
          </a:p>
          <a:p>
            <a:pPr algn="l">
              <a:spcBef>
                <a:spcPct val="0"/>
              </a:spcBef>
            </a:pPr>
            <a:r>
              <a:rPr lang="fr-FR" sz="1400" dirty="0"/>
              <a:t>                          </a:t>
            </a:r>
            <a:r>
              <a:rPr lang="fr-FR" sz="1400" dirty="0" err="1"/>
              <a:t>Calculated</a:t>
            </a:r>
            <a:r>
              <a:rPr lang="fr-FR" sz="1400" dirty="0"/>
              <a:t> for </a:t>
            </a:r>
            <a:r>
              <a:rPr lang="fr-FR" sz="1400" dirty="0" err="1"/>
              <a:t>each</a:t>
            </a:r>
            <a:r>
              <a:rPr lang="fr-FR" sz="1400" dirty="0"/>
              <a:t> </a:t>
            </a:r>
            <a:r>
              <a:rPr lang="fr-FR" sz="1400" dirty="0" err="1"/>
              <a:t>Vdd</a:t>
            </a:r>
            <a:r>
              <a:rPr lang="fr-FR" sz="1400" dirty="0"/>
              <a:t> </a:t>
            </a:r>
            <a:r>
              <a:rPr lang="fr-FR" sz="1400" dirty="0" err="1"/>
              <a:t>step</a:t>
            </a:r>
            <a:endParaRPr lang="fr-FR" sz="1400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5EFD3199-4595-ECA4-633C-C39FE3622362}"/>
              </a:ext>
            </a:extLst>
          </p:cNvPr>
          <p:cNvGrpSpPr/>
          <p:nvPr/>
        </p:nvGrpSpPr>
        <p:grpSpPr>
          <a:xfrm>
            <a:off x="7964148" y="5323677"/>
            <a:ext cx="2016224" cy="1368152"/>
            <a:chOff x="8976320" y="5049471"/>
            <a:chExt cx="1368152" cy="1368152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D178C70F-962F-7D0F-81FE-47D85DFF729D}"/>
                </a:ext>
              </a:extLst>
            </p:cNvPr>
            <p:cNvSpPr/>
            <p:nvPr/>
          </p:nvSpPr>
          <p:spPr>
            <a:xfrm>
              <a:off x="8976320" y="5049471"/>
              <a:ext cx="1368152" cy="1368152"/>
            </a:xfrm>
            <a:prstGeom prst="arc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AED71A13-4E10-1342-5328-59B3C7513286}"/>
                </a:ext>
              </a:extLst>
            </p:cNvPr>
            <p:cNvSpPr/>
            <p:nvPr/>
          </p:nvSpPr>
          <p:spPr>
            <a:xfrm rot="16200000">
              <a:off x="8976320" y="5049471"/>
              <a:ext cx="1368152" cy="1368152"/>
            </a:xfrm>
            <a:prstGeom prst="arc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0C61F649-8531-CBB7-31DA-E02A72DD6A53}"/>
              </a:ext>
            </a:extLst>
          </p:cNvPr>
          <p:cNvGrpSpPr/>
          <p:nvPr/>
        </p:nvGrpSpPr>
        <p:grpSpPr>
          <a:xfrm>
            <a:off x="7960088" y="5093657"/>
            <a:ext cx="2016224" cy="1368152"/>
            <a:chOff x="8976320" y="5049471"/>
            <a:chExt cx="1368152" cy="1368152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08B0D26A-0B56-42E6-41C0-75DCE9FEF0A1}"/>
                </a:ext>
              </a:extLst>
            </p:cNvPr>
            <p:cNvSpPr/>
            <p:nvPr/>
          </p:nvSpPr>
          <p:spPr>
            <a:xfrm>
              <a:off x="8976320" y="5049471"/>
              <a:ext cx="1368152" cy="1368152"/>
            </a:xfrm>
            <a:prstGeom prst="arc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4198E3E3-2735-18E0-C4C3-8B8588988E4E}"/>
                </a:ext>
              </a:extLst>
            </p:cNvPr>
            <p:cNvSpPr/>
            <p:nvPr/>
          </p:nvSpPr>
          <p:spPr>
            <a:xfrm rot="16200000">
              <a:off x="8976320" y="5049471"/>
              <a:ext cx="1368152" cy="1368152"/>
            </a:xfrm>
            <a:prstGeom prst="arc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2FC6AC1-DF0D-1025-2631-136DF2802995}"/>
              </a:ext>
            </a:extLst>
          </p:cNvPr>
          <p:cNvCxnSpPr>
            <a:cxnSpLocks/>
          </p:cNvCxnSpPr>
          <p:nvPr/>
        </p:nvCxnSpPr>
        <p:spPr>
          <a:xfrm>
            <a:off x="7752184" y="6360473"/>
            <a:ext cx="2448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FC0CC362-C4A1-2EFB-6192-1455C7E8B572}"/>
              </a:ext>
            </a:extLst>
          </p:cNvPr>
          <p:cNvCxnSpPr>
            <a:cxnSpLocks/>
          </p:cNvCxnSpPr>
          <p:nvPr/>
        </p:nvCxnSpPr>
        <p:spPr>
          <a:xfrm flipV="1">
            <a:off x="7748124" y="4488265"/>
            <a:ext cx="0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6CD321FB-599C-653C-14BB-6D4AA6D563DF}"/>
              </a:ext>
            </a:extLst>
          </p:cNvPr>
          <p:cNvGrpSpPr/>
          <p:nvPr/>
        </p:nvGrpSpPr>
        <p:grpSpPr>
          <a:xfrm>
            <a:off x="7968208" y="4778157"/>
            <a:ext cx="2016224" cy="1368152"/>
            <a:chOff x="8976320" y="5049471"/>
            <a:chExt cx="1368152" cy="1368152"/>
          </a:xfrm>
        </p:grpSpPr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5E69904A-54A5-1CA8-07C7-5A078C8EBAFA}"/>
                </a:ext>
              </a:extLst>
            </p:cNvPr>
            <p:cNvSpPr/>
            <p:nvPr/>
          </p:nvSpPr>
          <p:spPr>
            <a:xfrm>
              <a:off x="8976320" y="5049471"/>
              <a:ext cx="1368152" cy="1368152"/>
            </a:xfrm>
            <a:prstGeom prst="arc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A1D1E577-7F10-44C7-7BC2-F2B63F99D74F}"/>
                </a:ext>
              </a:extLst>
            </p:cNvPr>
            <p:cNvSpPr/>
            <p:nvPr/>
          </p:nvSpPr>
          <p:spPr>
            <a:xfrm rot="16200000">
              <a:off x="8976320" y="5049471"/>
              <a:ext cx="1368152" cy="1368152"/>
            </a:xfrm>
            <a:prstGeom prst="arc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1E55BE1F-EDD2-B3F1-5EC0-20E1C28EBC69}"/>
              </a:ext>
            </a:extLst>
          </p:cNvPr>
          <p:cNvSpPr txBox="1"/>
          <p:nvPr/>
        </p:nvSpPr>
        <p:spPr>
          <a:xfrm>
            <a:off x="9858497" y="6380363"/>
            <a:ext cx="651438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TEMP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7944776-9E88-D957-5007-28305FD49FBF}"/>
              </a:ext>
            </a:extLst>
          </p:cNvPr>
          <p:cNvSpPr txBox="1"/>
          <p:nvPr/>
        </p:nvSpPr>
        <p:spPr>
          <a:xfrm>
            <a:off x="7200882" y="4441019"/>
            <a:ext cx="55846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Fout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7F6F102-2BA4-AC4A-E765-8CF10263D70A}"/>
              </a:ext>
            </a:extLst>
          </p:cNvPr>
          <p:cNvSpPr txBox="1"/>
          <p:nvPr/>
        </p:nvSpPr>
        <p:spPr>
          <a:xfrm>
            <a:off x="9934887" y="5516709"/>
            <a:ext cx="710749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fr-FR" sz="1000" dirty="0" err="1">
                <a:solidFill>
                  <a:srgbClr val="FF0000"/>
                </a:solidFill>
              </a:rPr>
              <a:t>Vdd</a:t>
            </a:r>
            <a:r>
              <a:rPr lang="fr-FR" sz="1000" dirty="0">
                <a:solidFill>
                  <a:srgbClr val="FF0000"/>
                </a:solidFill>
              </a:rPr>
              <a:t>(</a:t>
            </a:r>
            <a:r>
              <a:rPr lang="fr-FR" sz="1000" dirty="0" err="1">
                <a:solidFill>
                  <a:srgbClr val="FF0000"/>
                </a:solidFill>
              </a:rPr>
              <a:t>Typ</a:t>
            </a:r>
            <a:r>
              <a:rPr lang="fr-FR" sz="1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7F95A8F-0F03-80E5-A6FA-DDC4A2931C4F}"/>
              </a:ext>
            </a:extLst>
          </p:cNvPr>
          <p:cNvSpPr txBox="1"/>
          <p:nvPr/>
        </p:nvSpPr>
        <p:spPr>
          <a:xfrm>
            <a:off x="9969012" y="5845620"/>
            <a:ext cx="717161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fr-FR" sz="1000" dirty="0" err="1">
                <a:solidFill>
                  <a:schemeClr val="accent1"/>
                </a:solidFill>
              </a:rPr>
              <a:t>Vdd</a:t>
            </a:r>
            <a:r>
              <a:rPr lang="fr-FR" sz="1000" dirty="0">
                <a:solidFill>
                  <a:schemeClr val="accent1"/>
                </a:solidFill>
              </a:rPr>
              <a:t>(Min)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5E30F73-CF0A-4C3B-6AA1-3D98A7896348}"/>
              </a:ext>
            </a:extLst>
          </p:cNvPr>
          <p:cNvSpPr txBox="1"/>
          <p:nvPr/>
        </p:nvSpPr>
        <p:spPr>
          <a:xfrm>
            <a:off x="9898402" y="5007375"/>
            <a:ext cx="744412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fr-FR" sz="1000" dirty="0" err="1"/>
              <a:t>Vdd</a:t>
            </a:r>
            <a:r>
              <a:rPr lang="fr-FR" sz="1000" dirty="0"/>
              <a:t>(Max)</a:t>
            </a:r>
          </a:p>
        </p:txBody>
      </p:sp>
      <p:cxnSp>
        <p:nvCxnSpPr>
          <p:cNvPr id="32" name="Connecteur : en angle 31">
            <a:extLst>
              <a:ext uri="{FF2B5EF4-FFF2-40B4-BE49-F238E27FC236}">
                <a16:creationId xmlns:a16="http://schemas.microsoft.com/office/drawing/2014/main" id="{5352EC15-C184-3048-711A-A8BB2ACC4BCE}"/>
              </a:ext>
            </a:extLst>
          </p:cNvPr>
          <p:cNvCxnSpPr/>
          <p:nvPr/>
        </p:nvCxnSpPr>
        <p:spPr>
          <a:xfrm>
            <a:off x="7892140" y="5375844"/>
            <a:ext cx="2520280" cy="12700"/>
          </a:xfrm>
          <a:prstGeom prst="bentConnector3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D9E47937-BF07-7623-25C6-7FC25D242EA8}"/>
              </a:ext>
            </a:extLst>
          </p:cNvPr>
          <p:cNvSpPr txBox="1"/>
          <p:nvPr/>
        </p:nvSpPr>
        <p:spPr>
          <a:xfrm>
            <a:off x="10412420" y="5241429"/>
            <a:ext cx="1060203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fr-FR" sz="1000" dirty="0"/>
              <a:t>Fout(</a:t>
            </a:r>
            <a:r>
              <a:rPr lang="fr-FR" sz="1000" dirty="0" err="1"/>
              <a:t>Average</a:t>
            </a:r>
            <a:r>
              <a:rPr lang="fr-FR" sz="1000" dirty="0"/>
              <a:t>))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6E401BD-FE60-5BD1-2D44-F475ECFDCCBB}"/>
              </a:ext>
            </a:extLst>
          </p:cNvPr>
          <p:cNvSpPr txBox="1"/>
          <p:nvPr/>
        </p:nvSpPr>
        <p:spPr>
          <a:xfrm>
            <a:off x="8579162" y="4344248"/>
            <a:ext cx="778075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fr-FR" sz="1000" dirty="0"/>
              <a:t>Fout(max)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CF7062B-7403-1CE8-F41C-2EE9B8A0E145}"/>
              </a:ext>
            </a:extLst>
          </p:cNvPr>
          <p:cNvSpPr txBox="1"/>
          <p:nvPr/>
        </p:nvSpPr>
        <p:spPr>
          <a:xfrm>
            <a:off x="7728280" y="6152588"/>
            <a:ext cx="750824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fr-FR" sz="1000" dirty="0"/>
              <a:t>Fout(min)</a:t>
            </a:r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F34F8534-649E-1577-9510-E67FB0A727F2}"/>
              </a:ext>
            </a:extLst>
          </p:cNvPr>
          <p:cNvCxnSpPr>
            <a:cxnSpLocks/>
            <a:stCxn id="34" idx="2"/>
            <a:endCxn id="24" idx="0"/>
          </p:cNvCxnSpPr>
          <p:nvPr/>
        </p:nvCxnSpPr>
        <p:spPr>
          <a:xfrm>
            <a:off x="8968200" y="4592650"/>
            <a:ext cx="8120" cy="185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0D4AAE1F-6551-CE07-60D2-05E0B862AE21}"/>
              </a:ext>
            </a:extLst>
          </p:cNvPr>
          <p:cNvCxnSpPr>
            <a:cxnSpLocks/>
          </p:cNvCxnSpPr>
          <p:nvPr/>
        </p:nvCxnSpPr>
        <p:spPr>
          <a:xfrm flipH="1" flipV="1">
            <a:off x="7959366" y="6015245"/>
            <a:ext cx="4782" cy="2173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281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53FF8-1593-7F92-646A-608509FF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7C9972C-A30B-8DF7-293B-4A74D852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548680"/>
            <a:ext cx="11008413" cy="792163"/>
          </a:xfrm>
        </p:spPr>
        <p:txBody>
          <a:bodyPr/>
          <a:lstStyle/>
          <a:p>
            <a:r>
              <a:rPr lang="fr-FR" dirty="0" err="1"/>
              <a:t>Existing</a:t>
            </a:r>
            <a:r>
              <a:rPr lang="fr-FR" dirty="0"/>
              <a:t> Design in KEY </a:t>
            </a:r>
            <a:r>
              <a:rPr lang="fr-FR" dirty="0" err="1"/>
              <a:t>Foundry</a:t>
            </a:r>
            <a:r>
              <a:rPr lang="fr-FR" dirty="0"/>
              <a:t> : OSC48M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Architecture Relaxation </a:t>
            </a:r>
            <a:r>
              <a:rPr lang="fr-FR" dirty="0" err="1"/>
              <a:t>ramp</a:t>
            </a:r>
            <a:r>
              <a:rPr lang="fr-FR" dirty="0"/>
              <a:t> :</a:t>
            </a:r>
          </a:p>
        </p:txBody>
      </p:sp>
      <p:pic>
        <p:nvPicPr>
          <p:cNvPr id="7" name="Image 6" descr="Une image contenant texte, ligne, capture d’écran, Tracé&#10;&#10;Le contenu généré par l’IA peut être incorrect.">
            <a:extLst>
              <a:ext uri="{FF2B5EF4-FFF2-40B4-BE49-F238E27FC236}">
                <a16:creationId xmlns:a16="http://schemas.microsoft.com/office/drawing/2014/main" id="{DE09E7C7-B146-63D4-7FAB-872468833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31" y="1344164"/>
            <a:ext cx="12046569" cy="2444876"/>
          </a:xfrm>
          <a:prstGeom prst="rect">
            <a:avLst/>
          </a:prstGeom>
        </p:spPr>
      </p:pic>
      <p:pic>
        <p:nvPicPr>
          <p:cNvPr id="15" name="Image 14" descr="Une image contenant capture d’écran, circuit&#10;&#10;Le contenu généré par l’IA peut être incorrect.">
            <a:extLst>
              <a:ext uri="{FF2B5EF4-FFF2-40B4-BE49-F238E27FC236}">
                <a16:creationId xmlns:a16="http://schemas.microsoft.com/office/drawing/2014/main" id="{4D48F6B5-CED9-B7B3-DFBE-DD636F999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20" y="4005064"/>
            <a:ext cx="10865408" cy="39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60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2DE400-E721-1070-33AF-DAA72D490F0E}"/>
              </a:ext>
            </a:extLst>
          </p:cNvPr>
          <p:cNvSpPr/>
          <p:nvPr/>
        </p:nvSpPr>
        <p:spPr>
          <a:xfrm>
            <a:off x="1049162" y="2870610"/>
            <a:ext cx="2808312" cy="118813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CURRENT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MIRROR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A0E767-A1BD-6BB4-82D3-5958C7793209}"/>
              </a:ext>
            </a:extLst>
          </p:cNvPr>
          <p:cNvSpPr/>
          <p:nvPr/>
        </p:nvSpPr>
        <p:spPr>
          <a:xfrm>
            <a:off x="1052794" y="923248"/>
            <a:ext cx="6408712" cy="108100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400" dirty="0">
                <a:solidFill>
                  <a:schemeClr val="tx1"/>
                </a:solidFill>
              </a:rPr>
              <a:t>                          CURRENT</a:t>
            </a:r>
          </a:p>
          <a:p>
            <a:r>
              <a:rPr lang="fr-FR" sz="1400" dirty="0">
                <a:solidFill>
                  <a:schemeClr val="tx1"/>
                </a:solidFill>
              </a:rPr>
              <a:t>                          MIRROR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EB819564-29F3-243D-0D47-EFB9A801B797}"/>
              </a:ext>
            </a:extLst>
          </p:cNvPr>
          <p:cNvCxnSpPr/>
          <p:nvPr/>
        </p:nvCxnSpPr>
        <p:spPr>
          <a:xfrm flipV="1">
            <a:off x="3535311" y="1986245"/>
            <a:ext cx="0" cy="90010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Ellipse 4">
            <a:extLst>
              <a:ext uri="{FF2B5EF4-FFF2-40B4-BE49-F238E27FC236}">
                <a16:creationId xmlns:a16="http://schemas.microsoft.com/office/drawing/2014/main" id="{84B6E8BA-4704-2F8C-0341-40D60403310D}"/>
              </a:ext>
            </a:extLst>
          </p:cNvPr>
          <p:cNvSpPr/>
          <p:nvPr/>
        </p:nvSpPr>
        <p:spPr>
          <a:xfrm>
            <a:off x="4615432" y="1248159"/>
            <a:ext cx="576064" cy="50405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A4C4E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5488B8E-0391-C9E0-9644-D7A7F49877A3}"/>
              </a:ext>
            </a:extLst>
          </p:cNvPr>
          <p:cNvSpPr/>
          <p:nvPr/>
        </p:nvSpPr>
        <p:spPr>
          <a:xfrm>
            <a:off x="4615432" y="1500195"/>
            <a:ext cx="576064" cy="50405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A4C4E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8F94F84-DE28-5335-B057-5E04C9EA4C7A}"/>
              </a:ext>
            </a:extLst>
          </p:cNvPr>
          <p:cNvSpPr/>
          <p:nvPr/>
        </p:nvSpPr>
        <p:spPr>
          <a:xfrm>
            <a:off x="5767559" y="1248159"/>
            <a:ext cx="576064" cy="50405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A4C4E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1720F7C-9D3D-AB0D-EEA7-F1B59141A99A}"/>
              </a:ext>
            </a:extLst>
          </p:cNvPr>
          <p:cNvSpPr/>
          <p:nvPr/>
        </p:nvSpPr>
        <p:spPr>
          <a:xfrm>
            <a:off x="5767559" y="1500195"/>
            <a:ext cx="576064" cy="50405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A4C4E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F67D996-6906-C1CC-AAC1-6B3F6A944DE7}"/>
              </a:ext>
            </a:extLst>
          </p:cNvPr>
          <p:cNvSpPr txBox="1"/>
          <p:nvPr/>
        </p:nvSpPr>
        <p:spPr>
          <a:xfrm>
            <a:off x="4633020" y="913971"/>
            <a:ext cx="46549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>
                <a:solidFill>
                  <a:srgbClr val="00B0F0"/>
                </a:solidFill>
              </a:rPr>
              <a:t>iref</a:t>
            </a:r>
            <a:endParaRPr lang="fr-FR" sz="1400" dirty="0">
              <a:solidFill>
                <a:srgbClr val="00B0F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62194D1-FA3D-0A96-763A-9292A3A8708C}"/>
              </a:ext>
            </a:extLst>
          </p:cNvPr>
          <p:cNvSpPr txBox="1"/>
          <p:nvPr/>
        </p:nvSpPr>
        <p:spPr>
          <a:xfrm>
            <a:off x="5631177" y="923249"/>
            <a:ext cx="2080598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>
                <a:solidFill>
                  <a:srgbClr val="00B0F0"/>
                </a:solidFill>
              </a:rPr>
              <a:t>Irampe</a:t>
            </a:r>
            <a:r>
              <a:rPr lang="fr-FR" sz="1400" dirty="0">
                <a:solidFill>
                  <a:srgbClr val="00B0F0"/>
                </a:solidFill>
              </a:rPr>
              <a:t>      </a:t>
            </a:r>
            <a:r>
              <a:rPr lang="fr-FR" sz="1400" dirty="0"/>
              <a:t>      </a:t>
            </a:r>
            <a:r>
              <a:rPr lang="fr-FR" sz="1400" dirty="0" err="1">
                <a:solidFill>
                  <a:srgbClr val="00B0F0"/>
                </a:solidFill>
              </a:rPr>
              <a:t>irampe</a:t>
            </a:r>
            <a:endParaRPr lang="fr-FR" sz="1400" dirty="0">
              <a:solidFill>
                <a:srgbClr val="00B0F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B7E951-52D7-2867-9617-C9A6B103CD26}"/>
              </a:ext>
            </a:extLst>
          </p:cNvPr>
          <p:cNvSpPr/>
          <p:nvPr/>
        </p:nvSpPr>
        <p:spPr>
          <a:xfrm>
            <a:off x="4741546" y="3156383"/>
            <a:ext cx="360038" cy="11881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8D05E547-68FA-B9CD-E6C1-DB091E200779}"/>
              </a:ext>
            </a:extLst>
          </p:cNvPr>
          <p:cNvCxnSpPr>
            <a:stCxn id="6" idx="4"/>
            <a:endCxn id="11" idx="0"/>
          </p:cNvCxnSpPr>
          <p:nvPr/>
        </p:nvCxnSpPr>
        <p:spPr>
          <a:xfrm>
            <a:off x="4903464" y="2004251"/>
            <a:ext cx="18101" cy="11521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lipse 12">
            <a:extLst>
              <a:ext uri="{FF2B5EF4-FFF2-40B4-BE49-F238E27FC236}">
                <a16:creationId xmlns:a16="http://schemas.microsoft.com/office/drawing/2014/main" id="{2DF57967-75C7-6E43-8946-7E3969756E25}"/>
              </a:ext>
            </a:extLst>
          </p:cNvPr>
          <p:cNvSpPr/>
          <p:nvPr/>
        </p:nvSpPr>
        <p:spPr>
          <a:xfrm>
            <a:off x="6722320" y="1216656"/>
            <a:ext cx="576064" cy="50405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A4C4E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A9DD254-EFC5-BEB9-1286-9301AD3269BB}"/>
              </a:ext>
            </a:extLst>
          </p:cNvPr>
          <p:cNvSpPr/>
          <p:nvPr/>
        </p:nvSpPr>
        <p:spPr>
          <a:xfrm>
            <a:off x="6722320" y="1468692"/>
            <a:ext cx="576064" cy="50405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A4C4E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66C798AA-608A-D4AF-30C9-D5DE7B0A1FB3}"/>
              </a:ext>
            </a:extLst>
          </p:cNvPr>
          <p:cNvCxnSpPr>
            <a:cxnSpLocks/>
          </p:cNvCxnSpPr>
          <p:nvPr/>
        </p:nvCxnSpPr>
        <p:spPr>
          <a:xfrm>
            <a:off x="5775212" y="3871101"/>
            <a:ext cx="6675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F6C625-F4F3-B1B5-F2EA-736F6DE046ED}"/>
              </a:ext>
            </a:extLst>
          </p:cNvPr>
          <p:cNvCxnSpPr>
            <a:cxnSpLocks/>
          </p:cNvCxnSpPr>
          <p:nvPr/>
        </p:nvCxnSpPr>
        <p:spPr>
          <a:xfrm>
            <a:off x="5775212" y="4015117"/>
            <a:ext cx="6675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081C2A8-114E-DB4D-8672-CFD693237EC7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6055591" y="2004251"/>
            <a:ext cx="0" cy="18668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BB7C0C3-5248-134D-2935-F9F656B8605B}"/>
              </a:ext>
            </a:extLst>
          </p:cNvPr>
          <p:cNvCxnSpPr>
            <a:cxnSpLocks/>
          </p:cNvCxnSpPr>
          <p:nvPr/>
        </p:nvCxnSpPr>
        <p:spPr>
          <a:xfrm flipH="1">
            <a:off x="6043764" y="4015117"/>
            <a:ext cx="27133" cy="10314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DBA6F645-958B-E4A4-237C-C18EBFD3710D}"/>
              </a:ext>
            </a:extLst>
          </p:cNvPr>
          <p:cNvCxnSpPr/>
          <p:nvPr/>
        </p:nvCxnSpPr>
        <p:spPr>
          <a:xfrm>
            <a:off x="6703662" y="3871100"/>
            <a:ext cx="7200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FC8D417-633E-A4D2-7EAC-DF4366C29C5F}"/>
              </a:ext>
            </a:extLst>
          </p:cNvPr>
          <p:cNvCxnSpPr/>
          <p:nvPr/>
        </p:nvCxnSpPr>
        <p:spPr>
          <a:xfrm>
            <a:off x="6678530" y="4015117"/>
            <a:ext cx="7200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4D8581E5-FAB4-AC4A-C1D2-A3676A1CBFB9}"/>
              </a:ext>
            </a:extLst>
          </p:cNvPr>
          <p:cNvCxnSpPr>
            <a:cxnSpLocks/>
          </p:cNvCxnSpPr>
          <p:nvPr/>
        </p:nvCxnSpPr>
        <p:spPr>
          <a:xfrm>
            <a:off x="7023264" y="2004251"/>
            <a:ext cx="40438" cy="18568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F517B33-4E5F-0106-D6C3-5138391AD54E}"/>
              </a:ext>
            </a:extLst>
          </p:cNvPr>
          <p:cNvCxnSpPr>
            <a:cxnSpLocks/>
          </p:cNvCxnSpPr>
          <p:nvPr/>
        </p:nvCxnSpPr>
        <p:spPr>
          <a:xfrm>
            <a:off x="7050395" y="4025100"/>
            <a:ext cx="0" cy="1017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riangle isocèle 22">
            <a:extLst>
              <a:ext uri="{FF2B5EF4-FFF2-40B4-BE49-F238E27FC236}">
                <a16:creationId xmlns:a16="http://schemas.microsoft.com/office/drawing/2014/main" id="{16FD9C36-0C0F-51F7-311E-EAC38656C641}"/>
              </a:ext>
            </a:extLst>
          </p:cNvPr>
          <p:cNvSpPr/>
          <p:nvPr/>
        </p:nvSpPr>
        <p:spPr>
          <a:xfrm rot="5400000">
            <a:off x="8164107" y="2009896"/>
            <a:ext cx="639071" cy="63907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24" name="Triangle isocèle 23">
            <a:extLst>
              <a:ext uri="{FF2B5EF4-FFF2-40B4-BE49-F238E27FC236}">
                <a16:creationId xmlns:a16="http://schemas.microsoft.com/office/drawing/2014/main" id="{1B64B2B2-CA8C-02A0-A300-278C771A45AC}"/>
              </a:ext>
            </a:extLst>
          </p:cNvPr>
          <p:cNvSpPr/>
          <p:nvPr/>
        </p:nvSpPr>
        <p:spPr>
          <a:xfrm rot="5400000">
            <a:off x="8175398" y="2725486"/>
            <a:ext cx="639071" cy="63907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D271CA5E-238C-76A8-B631-2CEAC1590F33}"/>
              </a:ext>
            </a:extLst>
          </p:cNvPr>
          <p:cNvCxnSpPr/>
          <p:nvPr/>
        </p:nvCxnSpPr>
        <p:spPr>
          <a:xfrm>
            <a:off x="7038570" y="2490309"/>
            <a:ext cx="11143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CE296E3B-21EC-205D-A5EC-9D2C514B2ECA}"/>
              </a:ext>
            </a:extLst>
          </p:cNvPr>
          <p:cNvCxnSpPr>
            <a:cxnSpLocks/>
          </p:cNvCxnSpPr>
          <p:nvPr/>
        </p:nvCxnSpPr>
        <p:spPr>
          <a:xfrm flipV="1">
            <a:off x="5591822" y="3336965"/>
            <a:ext cx="306998" cy="46082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49AE8C10-1664-00A0-5EFC-6D20ED0920D0}"/>
              </a:ext>
            </a:extLst>
          </p:cNvPr>
          <p:cNvCxnSpPr>
            <a:cxnSpLocks/>
          </p:cNvCxnSpPr>
          <p:nvPr/>
        </p:nvCxnSpPr>
        <p:spPr>
          <a:xfrm flipH="1" flipV="1">
            <a:off x="7200037" y="3365288"/>
            <a:ext cx="397145" cy="41525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5FD2CE48-BECF-E8E5-2EA4-3AD5D5423214}"/>
              </a:ext>
            </a:extLst>
          </p:cNvPr>
          <p:cNvCxnSpPr>
            <a:cxnSpLocks/>
          </p:cNvCxnSpPr>
          <p:nvPr/>
        </p:nvCxnSpPr>
        <p:spPr>
          <a:xfrm>
            <a:off x="5591822" y="3781830"/>
            <a:ext cx="0" cy="126476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FE8816B7-5019-416E-16E4-D89481EDBC8F}"/>
              </a:ext>
            </a:extLst>
          </p:cNvPr>
          <p:cNvCxnSpPr>
            <a:cxnSpLocks/>
          </p:cNvCxnSpPr>
          <p:nvPr/>
        </p:nvCxnSpPr>
        <p:spPr>
          <a:xfrm>
            <a:off x="4903464" y="5042821"/>
            <a:ext cx="2692258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4CC50A56-8B14-0D82-EF23-734F97E41C3C}"/>
              </a:ext>
            </a:extLst>
          </p:cNvPr>
          <p:cNvCxnSpPr>
            <a:cxnSpLocks/>
          </p:cNvCxnSpPr>
          <p:nvPr/>
        </p:nvCxnSpPr>
        <p:spPr>
          <a:xfrm>
            <a:off x="7595722" y="3797793"/>
            <a:ext cx="0" cy="126476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913D3538-0E10-BE18-5A27-EBC6DAC071FF}"/>
              </a:ext>
            </a:extLst>
          </p:cNvPr>
          <p:cNvCxnSpPr>
            <a:cxnSpLocks/>
          </p:cNvCxnSpPr>
          <p:nvPr/>
        </p:nvCxnSpPr>
        <p:spPr>
          <a:xfrm flipV="1">
            <a:off x="8514938" y="2497221"/>
            <a:ext cx="0" cy="37358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B868A7A3-AA95-37AD-6668-B47386FC94CB}"/>
              </a:ext>
            </a:extLst>
          </p:cNvPr>
          <p:cNvCxnSpPr/>
          <p:nvPr/>
        </p:nvCxnSpPr>
        <p:spPr>
          <a:xfrm>
            <a:off x="8675842" y="2436298"/>
            <a:ext cx="0" cy="49638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E9688CA9-5AC6-2E2A-FEC3-3428041EF0B2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8803178" y="2329431"/>
            <a:ext cx="774228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316BFE43-D213-DA6D-1947-B3D14BE42BF8}"/>
              </a:ext>
            </a:extLst>
          </p:cNvPr>
          <p:cNvCxnSpPr>
            <a:cxnSpLocks/>
          </p:cNvCxnSpPr>
          <p:nvPr/>
        </p:nvCxnSpPr>
        <p:spPr>
          <a:xfrm>
            <a:off x="8836993" y="3054121"/>
            <a:ext cx="7288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2B023CCD-C673-3CB9-DA4F-24D2B3500D7B}"/>
              </a:ext>
            </a:extLst>
          </p:cNvPr>
          <p:cNvSpPr txBox="1"/>
          <p:nvPr/>
        </p:nvSpPr>
        <p:spPr>
          <a:xfrm>
            <a:off x="8812179" y="2045082"/>
            <a:ext cx="39335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rgbClr val="00B0F0"/>
                </a:solidFill>
              </a:rPr>
              <a:t>C1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7E88E65F-CDA7-9FA4-1FF9-91AA5A674077}"/>
              </a:ext>
            </a:extLst>
          </p:cNvPr>
          <p:cNvSpPr txBox="1"/>
          <p:nvPr/>
        </p:nvSpPr>
        <p:spPr>
          <a:xfrm>
            <a:off x="8796938" y="2744162"/>
            <a:ext cx="39335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rgbClr val="00B0F0"/>
                </a:solidFill>
              </a:rPr>
              <a:t>C2</a:t>
            </a:r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EC859118-2E01-9926-7B91-6548CDB884EA}"/>
              </a:ext>
            </a:extLst>
          </p:cNvPr>
          <p:cNvCxnSpPr>
            <a:cxnSpLocks/>
          </p:cNvCxnSpPr>
          <p:nvPr/>
        </p:nvCxnSpPr>
        <p:spPr>
          <a:xfrm flipV="1">
            <a:off x="6773509" y="3750449"/>
            <a:ext cx="433539" cy="495831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A906BE08-D8CE-EE81-5083-0524C092AD79}"/>
              </a:ext>
            </a:extLst>
          </p:cNvPr>
          <p:cNvCxnSpPr>
            <a:cxnSpLocks/>
          </p:cNvCxnSpPr>
          <p:nvPr/>
        </p:nvCxnSpPr>
        <p:spPr>
          <a:xfrm flipV="1">
            <a:off x="5788935" y="3722247"/>
            <a:ext cx="439248" cy="526157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BA806BED-CEE0-F8E8-BC6D-4645527CCAD8}"/>
              </a:ext>
            </a:extLst>
          </p:cNvPr>
          <p:cNvSpPr txBox="1"/>
          <p:nvPr/>
        </p:nvSpPr>
        <p:spPr>
          <a:xfrm>
            <a:off x="5264078" y="3330950"/>
            <a:ext cx="39335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rgbClr val="00B0F0"/>
                </a:solidFill>
              </a:rPr>
              <a:t>C1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6B3838CD-BB75-EEBF-E607-09A0F4CD55CC}"/>
              </a:ext>
            </a:extLst>
          </p:cNvPr>
          <p:cNvSpPr txBox="1"/>
          <p:nvPr/>
        </p:nvSpPr>
        <p:spPr>
          <a:xfrm>
            <a:off x="7665059" y="3324229"/>
            <a:ext cx="39335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rgbClr val="00B0F0"/>
                </a:solidFill>
              </a:rPr>
              <a:t>C2</a:t>
            </a:r>
          </a:p>
        </p:txBody>
      </p: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0C28C715-A2C3-6496-827C-BA11240F050C}"/>
              </a:ext>
            </a:extLst>
          </p:cNvPr>
          <p:cNvCxnSpPr>
            <a:cxnSpLocks/>
          </p:cNvCxnSpPr>
          <p:nvPr/>
        </p:nvCxnSpPr>
        <p:spPr>
          <a:xfrm flipH="1">
            <a:off x="4912514" y="4344515"/>
            <a:ext cx="5709" cy="6983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A7A2DE14-A4E6-92C0-E3A9-82F04832B18D}"/>
              </a:ext>
            </a:extLst>
          </p:cNvPr>
          <p:cNvCxnSpPr>
            <a:cxnSpLocks/>
            <a:endCxn id="24" idx="5"/>
          </p:cNvCxnSpPr>
          <p:nvPr/>
        </p:nvCxnSpPr>
        <p:spPr>
          <a:xfrm flipV="1">
            <a:off x="8494933" y="3204789"/>
            <a:ext cx="0" cy="36259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EB0D7737-EBF8-9DD4-3639-10851864C14E}"/>
              </a:ext>
            </a:extLst>
          </p:cNvPr>
          <p:cNvSpPr txBox="1"/>
          <p:nvPr/>
        </p:nvSpPr>
        <p:spPr>
          <a:xfrm>
            <a:off x="2275453" y="2282451"/>
            <a:ext cx="67548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>
                <a:solidFill>
                  <a:srgbClr val="00B0F0"/>
                </a:solidFill>
              </a:rPr>
              <a:t>icomp</a:t>
            </a:r>
            <a:endParaRPr lang="fr-FR" sz="1400" dirty="0">
              <a:solidFill>
                <a:srgbClr val="00B0F0"/>
              </a:solidFill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EE0749F5-B029-6AA9-D9CB-8EFC642F8D38}"/>
              </a:ext>
            </a:extLst>
          </p:cNvPr>
          <p:cNvSpPr txBox="1"/>
          <p:nvPr/>
        </p:nvSpPr>
        <p:spPr>
          <a:xfrm>
            <a:off x="8174720" y="3491940"/>
            <a:ext cx="67548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>
                <a:solidFill>
                  <a:srgbClr val="00B0F0"/>
                </a:solidFill>
              </a:rPr>
              <a:t>icomp</a:t>
            </a:r>
            <a:endParaRPr lang="fr-FR" sz="1400" dirty="0">
              <a:solidFill>
                <a:srgbClr val="00B0F0"/>
              </a:solidFill>
            </a:endParaRPr>
          </a:p>
        </p:txBody>
      </p: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E0712B67-ED63-0841-0A38-78DC554B689C}"/>
              </a:ext>
            </a:extLst>
          </p:cNvPr>
          <p:cNvCxnSpPr>
            <a:cxnSpLocks/>
          </p:cNvCxnSpPr>
          <p:nvPr/>
        </p:nvCxnSpPr>
        <p:spPr>
          <a:xfrm flipV="1">
            <a:off x="2555162" y="2552535"/>
            <a:ext cx="0" cy="34590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8866B490-61D4-8998-EEB7-35C7E2BCCD71}"/>
              </a:ext>
            </a:extLst>
          </p:cNvPr>
          <p:cNvSpPr txBox="1"/>
          <p:nvPr/>
        </p:nvSpPr>
        <p:spPr>
          <a:xfrm>
            <a:off x="4276341" y="3309697"/>
            <a:ext cx="53281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>
                <a:solidFill>
                  <a:srgbClr val="00B0F0"/>
                </a:solidFill>
              </a:rPr>
              <a:t>Rref</a:t>
            </a:r>
            <a:endParaRPr lang="fr-FR" sz="1400" dirty="0">
              <a:solidFill>
                <a:srgbClr val="00B0F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804BAF0-3324-0785-533C-652EE7D2B8BF}"/>
              </a:ext>
            </a:extLst>
          </p:cNvPr>
          <p:cNvSpPr/>
          <p:nvPr/>
        </p:nvSpPr>
        <p:spPr>
          <a:xfrm>
            <a:off x="5816070" y="5186837"/>
            <a:ext cx="1183004" cy="554287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Trimming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Fosc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1FA2841B-D681-90E5-7DF3-1B06CFB966FC}"/>
              </a:ext>
            </a:extLst>
          </p:cNvPr>
          <p:cNvCxnSpPr/>
          <p:nvPr/>
        </p:nvCxnSpPr>
        <p:spPr>
          <a:xfrm>
            <a:off x="5775212" y="4246280"/>
            <a:ext cx="99829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1F176FB4-E0E4-F626-6111-5AB8BBA7F85C}"/>
              </a:ext>
            </a:extLst>
          </p:cNvPr>
          <p:cNvCxnSpPr>
            <a:cxnSpLocks/>
          </p:cNvCxnSpPr>
          <p:nvPr/>
        </p:nvCxnSpPr>
        <p:spPr>
          <a:xfrm flipH="1" flipV="1">
            <a:off x="6354235" y="4272819"/>
            <a:ext cx="1" cy="91810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EB90B181-3219-CC4D-DB2A-7F2FD905AE94}"/>
              </a:ext>
            </a:extLst>
          </p:cNvPr>
          <p:cNvCxnSpPr/>
          <p:nvPr/>
        </p:nvCxnSpPr>
        <p:spPr>
          <a:xfrm>
            <a:off x="551384" y="3054120"/>
            <a:ext cx="5356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48F276F3-EB2A-641C-1BDE-E3032EBA799F}"/>
              </a:ext>
            </a:extLst>
          </p:cNvPr>
          <p:cNvSpPr txBox="1"/>
          <p:nvPr/>
        </p:nvSpPr>
        <p:spPr>
          <a:xfrm>
            <a:off x="-50601" y="2744162"/>
            <a:ext cx="648232" cy="525401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IBIAS</a:t>
            </a:r>
          </a:p>
          <a:p>
            <a:pPr algn="l">
              <a:spcBef>
                <a:spcPct val="0"/>
              </a:spcBef>
            </a:pPr>
            <a:r>
              <a:rPr lang="fr-FR" sz="1400" b="1" dirty="0"/>
              <a:t>(5ua)</a:t>
            </a:r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FFAC3571-772D-4B0D-9A0B-DED9ABFC3A48}"/>
              </a:ext>
            </a:extLst>
          </p:cNvPr>
          <p:cNvCxnSpPr/>
          <p:nvPr/>
        </p:nvCxnSpPr>
        <p:spPr>
          <a:xfrm>
            <a:off x="570113" y="3655217"/>
            <a:ext cx="5356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ZoneTexte 52">
            <a:extLst>
              <a:ext uri="{FF2B5EF4-FFF2-40B4-BE49-F238E27FC236}">
                <a16:creationId xmlns:a16="http://schemas.microsoft.com/office/drawing/2014/main" id="{FF105B67-E7F9-0B37-4BBE-ABCB98516DFF}"/>
              </a:ext>
            </a:extLst>
          </p:cNvPr>
          <p:cNvSpPr txBox="1"/>
          <p:nvPr/>
        </p:nvSpPr>
        <p:spPr>
          <a:xfrm>
            <a:off x="-107155" y="3444564"/>
            <a:ext cx="65785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OFFA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13E2C3C5-CD7E-A1B7-8994-D90F38D0C328}"/>
              </a:ext>
            </a:extLst>
          </p:cNvPr>
          <p:cNvCxnSpPr>
            <a:cxnSpLocks/>
          </p:cNvCxnSpPr>
          <p:nvPr/>
        </p:nvCxnSpPr>
        <p:spPr>
          <a:xfrm>
            <a:off x="7495751" y="1340246"/>
            <a:ext cx="39085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A85E03BA-7F11-9928-88C5-A9D8E3F9CFC6}"/>
              </a:ext>
            </a:extLst>
          </p:cNvPr>
          <p:cNvSpPr txBox="1"/>
          <p:nvPr/>
        </p:nvSpPr>
        <p:spPr>
          <a:xfrm>
            <a:off x="11404284" y="837590"/>
            <a:ext cx="712352" cy="525401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endParaRPr lang="fr-FR" sz="1400" b="1" dirty="0"/>
          </a:p>
          <a:p>
            <a:pPr algn="l">
              <a:spcBef>
                <a:spcPct val="0"/>
              </a:spcBef>
            </a:pPr>
            <a:r>
              <a:rPr lang="fr-FR" sz="1400" b="1" dirty="0" err="1"/>
              <a:t>Ready</a:t>
            </a:r>
            <a:endParaRPr lang="fr-FR" sz="1400" b="1" dirty="0"/>
          </a:p>
        </p:txBody>
      </p:sp>
      <p:sp>
        <p:nvSpPr>
          <p:cNvPr id="56" name="Organigramme : Délai 55">
            <a:extLst>
              <a:ext uri="{FF2B5EF4-FFF2-40B4-BE49-F238E27FC236}">
                <a16:creationId xmlns:a16="http://schemas.microsoft.com/office/drawing/2014/main" id="{A9FC9B36-557A-136B-395D-62D702E4982A}"/>
              </a:ext>
            </a:extLst>
          </p:cNvPr>
          <p:cNvSpPr/>
          <p:nvPr/>
        </p:nvSpPr>
        <p:spPr>
          <a:xfrm>
            <a:off x="9565799" y="1828565"/>
            <a:ext cx="675567" cy="639071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A867E642-870F-A793-91CF-5F8A196A08E9}"/>
              </a:ext>
            </a:extLst>
          </p:cNvPr>
          <p:cNvCxnSpPr>
            <a:cxnSpLocks/>
          </p:cNvCxnSpPr>
          <p:nvPr/>
        </p:nvCxnSpPr>
        <p:spPr>
          <a:xfrm>
            <a:off x="9277809" y="1972748"/>
            <a:ext cx="2543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3AF048C7-532F-6726-E7B0-1BC91053211A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10241366" y="2148101"/>
            <a:ext cx="116291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ZoneTexte 58">
            <a:extLst>
              <a:ext uri="{FF2B5EF4-FFF2-40B4-BE49-F238E27FC236}">
                <a16:creationId xmlns:a16="http://schemas.microsoft.com/office/drawing/2014/main" id="{706B04EC-F5CD-5CAD-3C33-DCBADA1E10CA}"/>
              </a:ext>
            </a:extLst>
          </p:cNvPr>
          <p:cNvSpPr txBox="1"/>
          <p:nvPr/>
        </p:nvSpPr>
        <p:spPr>
          <a:xfrm>
            <a:off x="11431372" y="1828565"/>
            <a:ext cx="646629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FOSC</a:t>
            </a:r>
          </a:p>
        </p:txBody>
      </p: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9DF083E-1020-37EA-0DE4-61CB8EA2F7F7}"/>
              </a:ext>
            </a:extLst>
          </p:cNvPr>
          <p:cNvCxnSpPr>
            <a:cxnSpLocks/>
          </p:cNvCxnSpPr>
          <p:nvPr/>
        </p:nvCxnSpPr>
        <p:spPr>
          <a:xfrm flipV="1">
            <a:off x="9277809" y="1340246"/>
            <a:ext cx="0" cy="13852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Organigramme : Délai 60">
            <a:extLst>
              <a:ext uri="{FF2B5EF4-FFF2-40B4-BE49-F238E27FC236}">
                <a16:creationId xmlns:a16="http://schemas.microsoft.com/office/drawing/2014/main" id="{84AEB076-4F6F-6591-980E-BDC8907F8E53}"/>
              </a:ext>
            </a:extLst>
          </p:cNvPr>
          <p:cNvSpPr/>
          <p:nvPr/>
        </p:nvSpPr>
        <p:spPr>
          <a:xfrm>
            <a:off x="9577082" y="2613149"/>
            <a:ext cx="675567" cy="639071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9E1AFF91-2629-C4DA-FFB8-9450D1A1C49E}"/>
              </a:ext>
            </a:extLst>
          </p:cNvPr>
          <p:cNvCxnSpPr>
            <a:cxnSpLocks/>
          </p:cNvCxnSpPr>
          <p:nvPr/>
        </p:nvCxnSpPr>
        <p:spPr>
          <a:xfrm>
            <a:off x="9284113" y="2736138"/>
            <a:ext cx="2543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F192AA45-E8E3-57EB-80BA-8E0FBFD2CE90}"/>
              </a:ext>
            </a:extLst>
          </p:cNvPr>
          <p:cNvSpPr/>
          <p:nvPr/>
        </p:nvSpPr>
        <p:spPr>
          <a:xfrm>
            <a:off x="10385066" y="2822651"/>
            <a:ext cx="547301" cy="1830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08A4FFFC-158B-213E-A5F2-97EFA6B4ED88}"/>
              </a:ext>
            </a:extLst>
          </p:cNvPr>
          <p:cNvCxnSpPr>
            <a:cxnSpLocks/>
          </p:cNvCxnSpPr>
          <p:nvPr/>
        </p:nvCxnSpPr>
        <p:spPr>
          <a:xfrm>
            <a:off x="10907482" y="3203754"/>
            <a:ext cx="35607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26E8E94A-3E12-9395-D27D-18978E9EAB94}"/>
              </a:ext>
            </a:extLst>
          </p:cNvPr>
          <p:cNvCxnSpPr>
            <a:cxnSpLocks/>
          </p:cNvCxnSpPr>
          <p:nvPr/>
        </p:nvCxnSpPr>
        <p:spPr>
          <a:xfrm>
            <a:off x="10907482" y="3331356"/>
            <a:ext cx="364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5845E852-9222-5757-6E43-AEB7CCC8FF84}"/>
              </a:ext>
            </a:extLst>
          </p:cNvPr>
          <p:cNvCxnSpPr/>
          <p:nvPr/>
        </p:nvCxnSpPr>
        <p:spPr>
          <a:xfrm flipV="1">
            <a:off x="11085519" y="2910884"/>
            <a:ext cx="0" cy="292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4B3FBE12-6E97-C8AB-84EB-0A6B9925BA2A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10932367" y="2914154"/>
            <a:ext cx="1418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058A3F5A-67A7-D00D-4177-EA6000561F9F}"/>
              </a:ext>
            </a:extLst>
          </p:cNvPr>
          <p:cNvCxnSpPr/>
          <p:nvPr/>
        </p:nvCxnSpPr>
        <p:spPr>
          <a:xfrm flipV="1">
            <a:off x="11085519" y="3330950"/>
            <a:ext cx="0" cy="292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05795F5A-4215-DF7F-EBAB-E9F246162206}"/>
              </a:ext>
            </a:extLst>
          </p:cNvPr>
          <p:cNvCxnSpPr>
            <a:cxnSpLocks/>
          </p:cNvCxnSpPr>
          <p:nvPr/>
        </p:nvCxnSpPr>
        <p:spPr>
          <a:xfrm>
            <a:off x="10916343" y="3635332"/>
            <a:ext cx="35607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E6696562-7BFE-A0D3-AE4D-06B1F7FDE60F}"/>
              </a:ext>
            </a:extLst>
          </p:cNvPr>
          <p:cNvCxnSpPr>
            <a:cxnSpLocks/>
          </p:cNvCxnSpPr>
          <p:nvPr/>
        </p:nvCxnSpPr>
        <p:spPr>
          <a:xfrm>
            <a:off x="10252649" y="2912549"/>
            <a:ext cx="1418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CDC9111F-2388-D9CD-7B34-6EAE32AE9533}"/>
              </a:ext>
            </a:extLst>
          </p:cNvPr>
          <p:cNvCxnSpPr/>
          <p:nvPr/>
        </p:nvCxnSpPr>
        <p:spPr>
          <a:xfrm>
            <a:off x="5552861" y="3485929"/>
            <a:ext cx="209141" cy="0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E6D3C8CF-89C7-7C42-352E-87A957ABEF8C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7423742" y="3479208"/>
            <a:ext cx="241317" cy="0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ZoneTexte 72">
            <a:extLst>
              <a:ext uri="{FF2B5EF4-FFF2-40B4-BE49-F238E27FC236}">
                <a16:creationId xmlns:a16="http://schemas.microsoft.com/office/drawing/2014/main" id="{C4053F45-B4D9-ABA3-8EB9-B87D4339814A}"/>
              </a:ext>
            </a:extLst>
          </p:cNvPr>
          <p:cNvSpPr txBox="1"/>
          <p:nvPr/>
        </p:nvSpPr>
        <p:spPr>
          <a:xfrm>
            <a:off x="8091831" y="2186087"/>
            <a:ext cx="667468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 err="1"/>
              <a:t>CompJK</a:t>
            </a:r>
            <a:endParaRPr lang="fr-FR" sz="1000" dirty="0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494F21BF-6A04-93FD-3E38-3837BE276256}"/>
              </a:ext>
            </a:extLst>
          </p:cNvPr>
          <p:cNvSpPr txBox="1"/>
          <p:nvPr/>
        </p:nvSpPr>
        <p:spPr>
          <a:xfrm>
            <a:off x="8110142" y="2907981"/>
            <a:ext cx="667468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 err="1"/>
              <a:t>CompJK</a:t>
            </a:r>
            <a:endParaRPr lang="fr-FR" sz="1000" dirty="0"/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F1173B92-76FA-0B2F-DEB5-F6529014990E}"/>
              </a:ext>
            </a:extLst>
          </p:cNvPr>
          <p:cNvCxnSpPr>
            <a:cxnSpLocks/>
          </p:cNvCxnSpPr>
          <p:nvPr/>
        </p:nvCxnSpPr>
        <p:spPr>
          <a:xfrm>
            <a:off x="6055590" y="3146953"/>
            <a:ext cx="211913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Ellipse 75">
            <a:extLst>
              <a:ext uri="{FF2B5EF4-FFF2-40B4-BE49-F238E27FC236}">
                <a16:creationId xmlns:a16="http://schemas.microsoft.com/office/drawing/2014/main" id="{A3DB93E9-8694-163E-0013-2C95507D4776}"/>
              </a:ext>
            </a:extLst>
          </p:cNvPr>
          <p:cNvSpPr/>
          <p:nvPr/>
        </p:nvSpPr>
        <p:spPr>
          <a:xfrm>
            <a:off x="6006234" y="3059739"/>
            <a:ext cx="118155" cy="144015"/>
          </a:xfrm>
          <a:prstGeom prst="ellipse">
            <a:avLst/>
          </a:prstGeom>
          <a:solidFill>
            <a:schemeClr val="tx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12E66B08-6BC8-2FA2-920D-88B16AC047E6}"/>
              </a:ext>
            </a:extLst>
          </p:cNvPr>
          <p:cNvSpPr/>
          <p:nvPr/>
        </p:nvSpPr>
        <p:spPr>
          <a:xfrm>
            <a:off x="6979492" y="2425214"/>
            <a:ext cx="118155" cy="144015"/>
          </a:xfrm>
          <a:prstGeom prst="ellipse">
            <a:avLst/>
          </a:prstGeom>
          <a:solidFill>
            <a:schemeClr val="tx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B3717496-1AB6-71D8-5FD2-41973BDE0280}"/>
              </a:ext>
            </a:extLst>
          </p:cNvPr>
          <p:cNvSpPr/>
          <p:nvPr/>
        </p:nvSpPr>
        <p:spPr>
          <a:xfrm>
            <a:off x="4856846" y="2814344"/>
            <a:ext cx="118155" cy="144015"/>
          </a:xfrm>
          <a:prstGeom prst="ellipse">
            <a:avLst/>
          </a:prstGeom>
          <a:solidFill>
            <a:schemeClr val="tx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14637EB5-B12F-7201-7FB9-53C0DDEE39F0}"/>
              </a:ext>
            </a:extLst>
          </p:cNvPr>
          <p:cNvCxnSpPr>
            <a:cxnSpLocks/>
          </p:cNvCxnSpPr>
          <p:nvPr/>
        </p:nvCxnSpPr>
        <p:spPr>
          <a:xfrm>
            <a:off x="4903464" y="2200061"/>
            <a:ext cx="327454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lipse 79">
            <a:extLst>
              <a:ext uri="{FF2B5EF4-FFF2-40B4-BE49-F238E27FC236}">
                <a16:creationId xmlns:a16="http://schemas.microsoft.com/office/drawing/2014/main" id="{A2EF7CE0-B74D-31BC-1811-9D035DC678A4}"/>
              </a:ext>
            </a:extLst>
          </p:cNvPr>
          <p:cNvSpPr/>
          <p:nvPr/>
        </p:nvSpPr>
        <p:spPr>
          <a:xfrm>
            <a:off x="4848305" y="2130258"/>
            <a:ext cx="118155" cy="144015"/>
          </a:xfrm>
          <a:prstGeom prst="ellipse">
            <a:avLst/>
          </a:prstGeom>
          <a:solidFill>
            <a:schemeClr val="tx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042CC1CD-0EEE-E0FB-2260-8D0A7F4B4707}"/>
              </a:ext>
            </a:extLst>
          </p:cNvPr>
          <p:cNvCxnSpPr>
            <a:cxnSpLocks/>
          </p:cNvCxnSpPr>
          <p:nvPr/>
        </p:nvCxnSpPr>
        <p:spPr>
          <a:xfrm>
            <a:off x="4912514" y="2886352"/>
            <a:ext cx="327454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B6C9B476-D873-5410-FEEE-A62A2BCBD33A}"/>
              </a:ext>
            </a:extLst>
          </p:cNvPr>
          <p:cNvCxnSpPr>
            <a:cxnSpLocks/>
          </p:cNvCxnSpPr>
          <p:nvPr/>
        </p:nvCxnSpPr>
        <p:spPr>
          <a:xfrm>
            <a:off x="11094380" y="2939626"/>
            <a:ext cx="30990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04F0188E-AF97-868F-DE24-23411073C1D3}"/>
              </a:ext>
            </a:extLst>
          </p:cNvPr>
          <p:cNvSpPr txBox="1"/>
          <p:nvPr/>
        </p:nvSpPr>
        <p:spPr>
          <a:xfrm>
            <a:off x="11524326" y="2622726"/>
            <a:ext cx="54243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DTC</a:t>
            </a:r>
          </a:p>
        </p:txBody>
      </p: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52FA1883-0A01-ECB5-B5C9-113CAFCD8156}"/>
              </a:ext>
            </a:extLst>
          </p:cNvPr>
          <p:cNvCxnSpPr>
            <a:stCxn id="80" idx="6"/>
          </p:cNvCxnSpPr>
          <p:nvPr/>
        </p:nvCxnSpPr>
        <p:spPr>
          <a:xfrm flipH="1" flipV="1">
            <a:off x="551384" y="2200061"/>
            <a:ext cx="4415076" cy="22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ZoneTexte 84">
            <a:extLst>
              <a:ext uri="{FF2B5EF4-FFF2-40B4-BE49-F238E27FC236}">
                <a16:creationId xmlns:a16="http://schemas.microsoft.com/office/drawing/2014/main" id="{1C60DD37-82D7-B6C3-9522-78C758A9DA9D}"/>
              </a:ext>
            </a:extLst>
          </p:cNvPr>
          <p:cNvSpPr txBox="1"/>
          <p:nvPr/>
        </p:nvSpPr>
        <p:spPr>
          <a:xfrm>
            <a:off x="-50601" y="2025060"/>
            <a:ext cx="64342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VREF</a:t>
            </a:r>
          </a:p>
        </p:txBody>
      </p:sp>
      <p:sp>
        <p:nvSpPr>
          <p:cNvPr id="86" name="Flèche : droite 85">
            <a:extLst>
              <a:ext uri="{FF2B5EF4-FFF2-40B4-BE49-F238E27FC236}">
                <a16:creationId xmlns:a16="http://schemas.microsoft.com/office/drawing/2014/main" id="{ECB233F1-4754-3626-3DC6-1DD91B2032A7}"/>
              </a:ext>
            </a:extLst>
          </p:cNvPr>
          <p:cNvSpPr/>
          <p:nvPr/>
        </p:nvSpPr>
        <p:spPr>
          <a:xfrm rot="16200000">
            <a:off x="6122766" y="5829576"/>
            <a:ext cx="477591" cy="337880"/>
          </a:xfrm>
          <a:prstGeom prst="rightArrow">
            <a:avLst/>
          </a:prstGeom>
          <a:solidFill>
            <a:srgbClr val="4A4C4E"/>
          </a:solidFill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C3B00D5D-EE4F-F93B-9F4C-DA4C77F89181}"/>
              </a:ext>
            </a:extLst>
          </p:cNvPr>
          <p:cNvSpPr txBox="1"/>
          <p:nvPr/>
        </p:nvSpPr>
        <p:spPr>
          <a:xfrm>
            <a:off x="5822560" y="6246663"/>
            <a:ext cx="1186841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FTRIM&lt;0:7&gt;</a:t>
            </a:r>
          </a:p>
        </p:txBody>
      </p: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3327AD76-96FB-323C-DB7E-BB96F792887C}"/>
              </a:ext>
            </a:extLst>
          </p:cNvPr>
          <p:cNvCxnSpPr>
            <a:cxnSpLocks/>
          </p:cNvCxnSpPr>
          <p:nvPr/>
        </p:nvCxnSpPr>
        <p:spPr>
          <a:xfrm>
            <a:off x="2613194" y="620688"/>
            <a:ext cx="0" cy="3025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ZoneTexte 88">
            <a:extLst>
              <a:ext uri="{FF2B5EF4-FFF2-40B4-BE49-F238E27FC236}">
                <a16:creationId xmlns:a16="http://schemas.microsoft.com/office/drawing/2014/main" id="{9EB094A4-F2D5-F604-C0C5-057FEEEB1BD4}"/>
              </a:ext>
            </a:extLst>
          </p:cNvPr>
          <p:cNvSpPr txBox="1"/>
          <p:nvPr/>
        </p:nvSpPr>
        <p:spPr>
          <a:xfrm>
            <a:off x="2135560" y="282210"/>
            <a:ext cx="1021731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VDD</a:t>
            </a:r>
            <a:r>
              <a:rPr lang="fr-FR" sz="1200" b="1" dirty="0"/>
              <a:t>(1.5V</a:t>
            </a:r>
            <a:r>
              <a:rPr lang="fr-FR" sz="1400" b="1" dirty="0"/>
              <a:t>)</a:t>
            </a:r>
          </a:p>
        </p:txBody>
      </p:sp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ED87F154-3BFA-96D2-86B9-6B0078E57CEF}"/>
              </a:ext>
            </a:extLst>
          </p:cNvPr>
          <p:cNvCxnSpPr>
            <a:cxnSpLocks/>
          </p:cNvCxnSpPr>
          <p:nvPr/>
        </p:nvCxnSpPr>
        <p:spPr>
          <a:xfrm>
            <a:off x="8475572" y="589885"/>
            <a:ext cx="0" cy="3449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ZoneTexte 90">
            <a:extLst>
              <a:ext uri="{FF2B5EF4-FFF2-40B4-BE49-F238E27FC236}">
                <a16:creationId xmlns:a16="http://schemas.microsoft.com/office/drawing/2014/main" id="{1D4606F4-C67F-98E5-DE81-9C1669F58EBE}"/>
              </a:ext>
            </a:extLst>
          </p:cNvPr>
          <p:cNvSpPr txBox="1"/>
          <p:nvPr/>
        </p:nvSpPr>
        <p:spPr>
          <a:xfrm>
            <a:off x="8280727" y="329981"/>
            <a:ext cx="997082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ISO </a:t>
            </a:r>
            <a:r>
              <a:rPr lang="fr-FR" sz="1200" b="1" dirty="0"/>
              <a:t>(5V</a:t>
            </a:r>
            <a:r>
              <a:rPr lang="fr-FR" sz="1400" b="1" dirty="0"/>
              <a:t>)</a:t>
            </a:r>
          </a:p>
        </p:txBody>
      </p:sp>
      <p:cxnSp>
        <p:nvCxnSpPr>
          <p:cNvPr id="92" name="Connecteur droit avec flèche 91">
            <a:extLst>
              <a:ext uri="{FF2B5EF4-FFF2-40B4-BE49-F238E27FC236}">
                <a16:creationId xmlns:a16="http://schemas.microsoft.com/office/drawing/2014/main" id="{A4EE1DD0-E61B-EE35-B87F-1206C6F7DAFD}"/>
              </a:ext>
            </a:extLst>
          </p:cNvPr>
          <p:cNvCxnSpPr>
            <a:cxnSpLocks/>
          </p:cNvCxnSpPr>
          <p:nvPr/>
        </p:nvCxnSpPr>
        <p:spPr>
          <a:xfrm flipV="1">
            <a:off x="2261225" y="5864553"/>
            <a:ext cx="0" cy="4024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ZoneTexte 92">
            <a:extLst>
              <a:ext uri="{FF2B5EF4-FFF2-40B4-BE49-F238E27FC236}">
                <a16:creationId xmlns:a16="http://schemas.microsoft.com/office/drawing/2014/main" id="{BA02D3F8-B019-9D8D-0457-C56204007B5D}"/>
              </a:ext>
            </a:extLst>
          </p:cNvPr>
          <p:cNvSpPr txBox="1"/>
          <p:nvPr/>
        </p:nvSpPr>
        <p:spPr>
          <a:xfrm>
            <a:off x="6177261" y="3394835"/>
            <a:ext cx="797311" cy="617734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 err="1"/>
              <a:t>Capacitors</a:t>
            </a:r>
            <a:endParaRPr lang="fr-FR" sz="1000" dirty="0"/>
          </a:p>
          <a:p>
            <a:pPr algn="l">
              <a:spcBef>
                <a:spcPct val="0"/>
              </a:spcBef>
            </a:pPr>
            <a:r>
              <a:rPr lang="fr-FR" sz="1000" dirty="0"/>
              <a:t>      </a:t>
            </a:r>
            <a:r>
              <a:rPr lang="fr-FR" sz="1000" dirty="0" err="1"/>
              <a:t>Array</a:t>
            </a:r>
            <a:endParaRPr lang="fr-FR" sz="1000" dirty="0"/>
          </a:p>
          <a:p>
            <a:pPr algn="l">
              <a:spcBef>
                <a:spcPct val="0"/>
              </a:spcBef>
            </a:pPr>
            <a:endParaRPr lang="fr-FR" sz="1400" dirty="0" err="1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00FBCA3-F4C5-70D2-E6DC-D777AF8AC2A7}"/>
              </a:ext>
            </a:extLst>
          </p:cNvPr>
          <p:cNvSpPr/>
          <p:nvPr/>
        </p:nvSpPr>
        <p:spPr>
          <a:xfrm>
            <a:off x="551384" y="620688"/>
            <a:ext cx="10868256" cy="5616623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14756428-B93A-4BDE-BEFC-3D8D4330DEB2}"/>
              </a:ext>
            </a:extLst>
          </p:cNvPr>
          <p:cNvSpPr txBox="1"/>
          <p:nvPr/>
        </p:nvSpPr>
        <p:spPr>
          <a:xfrm>
            <a:off x="1986603" y="6237312"/>
            <a:ext cx="57770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GND</a:t>
            </a:r>
          </a:p>
        </p:txBody>
      </p:sp>
      <p:cxnSp>
        <p:nvCxnSpPr>
          <p:cNvPr id="96" name="Connecteur droit avec flèche 95">
            <a:extLst>
              <a:ext uri="{FF2B5EF4-FFF2-40B4-BE49-F238E27FC236}">
                <a16:creationId xmlns:a16="http://schemas.microsoft.com/office/drawing/2014/main" id="{EFB4C010-54D2-6D4A-2B89-F64C2BA1013D}"/>
              </a:ext>
            </a:extLst>
          </p:cNvPr>
          <p:cNvCxnSpPr>
            <a:cxnSpLocks/>
          </p:cNvCxnSpPr>
          <p:nvPr/>
        </p:nvCxnSpPr>
        <p:spPr>
          <a:xfrm flipV="1">
            <a:off x="3051356" y="5877272"/>
            <a:ext cx="0" cy="3600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ZoneTexte 96">
            <a:extLst>
              <a:ext uri="{FF2B5EF4-FFF2-40B4-BE49-F238E27FC236}">
                <a16:creationId xmlns:a16="http://schemas.microsoft.com/office/drawing/2014/main" id="{403A8071-9B14-13A9-2206-FCA6BDDC396E}"/>
              </a:ext>
            </a:extLst>
          </p:cNvPr>
          <p:cNvSpPr txBox="1"/>
          <p:nvPr/>
        </p:nvSpPr>
        <p:spPr>
          <a:xfrm>
            <a:off x="2776734" y="6250031"/>
            <a:ext cx="648232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PSUB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927FC8B-399A-55E8-6D7F-AE7DD23F3EB3}"/>
              </a:ext>
            </a:extLst>
          </p:cNvPr>
          <p:cNvSpPr/>
          <p:nvPr/>
        </p:nvSpPr>
        <p:spPr>
          <a:xfrm>
            <a:off x="3660358" y="5177793"/>
            <a:ext cx="1183004" cy="554287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Trimming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VREF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CF9D096A-2A42-8571-A82B-BFBA4162E00D}"/>
              </a:ext>
            </a:extLst>
          </p:cNvPr>
          <p:cNvSpPr txBox="1"/>
          <p:nvPr/>
        </p:nvSpPr>
        <p:spPr>
          <a:xfrm>
            <a:off x="3719739" y="6214541"/>
            <a:ext cx="120447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RTRIM&lt;0:3&gt;</a:t>
            </a:r>
          </a:p>
        </p:txBody>
      </p:sp>
      <p:sp>
        <p:nvSpPr>
          <p:cNvPr id="100" name="Flèche : droite 99">
            <a:extLst>
              <a:ext uri="{FF2B5EF4-FFF2-40B4-BE49-F238E27FC236}">
                <a16:creationId xmlns:a16="http://schemas.microsoft.com/office/drawing/2014/main" id="{B86EE829-66BC-7520-84D6-0B2F202821E9}"/>
              </a:ext>
            </a:extLst>
          </p:cNvPr>
          <p:cNvSpPr/>
          <p:nvPr/>
        </p:nvSpPr>
        <p:spPr>
          <a:xfrm rot="16200000">
            <a:off x="3991224" y="5810979"/>
            <a:ext cx="477591" cy="337880"/>
          </a:xfrm>
          <a:prstGeom prst="rightArrow">
            <a:avLst/>
          </a:prstGeom>
          <a:solidFill>
            <a:srgbClr val="4A4C4E"/>
          </a:solidFill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101" name="Connecteur droit avec flèche 100">
            <a:extLst>
              <a:ext uri="{FF2B5EF4-FFF2-40B4-BE49-F238E27FC236}">
                <a16:creationId xmlns:a16="http://schemas.microsoft.com/office/drawing/2014/main" id="{3D73B640-1E2A-0ECB-6D28-99C001B50B9E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4570709" y="3485929"/>
            <a:ext cx="693369" cy="7145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38F2BC2D-5B60-F4F1-BBD2-4423F07AD648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4251860" y="3780538"/>
            <a:ext cx="5290" cy="139725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0EC9A9CE-19AD-7074-FB6F-4D35989C8445}"/>
              </a:ext>
            </a:extLst>
          </p:cNvPr>
          <p:cNvCxnSpPr/>
          <p:nvPr/>
        </p:nvCxnSpPr>
        <p:spPr>
          <a:xfrm>
            <a:off x="4257150" y="3790647"/>
            <a:ext cx="6271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ZoneTexte 103">
            <a:extLst>
              <a:ext uri="{FF2B5EF4-FFF2-40B4-BE49-F238E27FC236}">
                <a16:creationId xmlns:a16="http://schemas.microsoft.com/office/drawing/2014/main" id="{6DF6086E-D4D4-8514-AC14-27E1E9FD5A69}"/>
              </a:ext>
            </a:extLst>
          </p:cNvPr>
          <p:cNvSpPr txBox="1"/>
          <p:nvPr/>
        </p:nvSpPr>
        <p:spPr>
          <a:xfrm>
            <a:off x="5006659" y="2614284"/>
            <a:ext cx="646629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0.35V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B4328516-1088-8010-C64A-F9E1F5B121F7}"/>
              </a:ext>
            </a:extLst>
          </p:cNvPr>
          <p:cNvSpPr txBox="1"/>
          <p:nvPr/>
        </p:nvSpPr>
        <p:spPr>
          <a:xfrm>
            <a:off x="7540709" y="6222752"/>
            <a:ext cx="14016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ATB_SEL&lt;0:7&gt;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2003099-EE91-AF69-00AA-0D31BD2087F1}"/>
              </a:ext>
            </a:extLst>
          </p:cNvPr>
          <p:cNvSpPr/>
          <p:nvPr/>
        </p:nvSpPr>
        <p:spPr>
          <a:xfrm>
            <a:off x="8063791" y="4554325"/>
            <a:ext cx="2759033" cy="126476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ATB_MUX (5V)</a:t>
            </a:r>
          </a:p>
        </p:txBody>
      </p:sp>
      <p:cxnSp>
        <p:nvCxnSpPr>
          <p:cNvPr id="107" name="Connecteur droit avec flèche 106">
            <a:extLst>
              <a:ext uri="{FF2B5EF4-FFF2-40B4-BE49-F238E27FC236}">
                <a16:creationId xmlns:a16="http://schemas.microsoft.com/office/drawing/2014/main" id="{4EC32D72-E0E6-D059-A984-291DBC09875E}"/>
              </a:ext>
            </a:extLst>
          </p:cNvPr>
          <p:cNvCxnSpPr>
            <a:cxnSpLocks/>
          </p:cNvCxnSpPr>
          <p:nvPr/>
        </p:nvCxnSpPr>
        <p:spPr>
          <a:xfrm>
            <a:off x="10822825" y="4731870"/>
            <a:ext cx="6085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Connecteur droit avec flèche 107">
            <a:extLst>
              <a:ext uri="{FF2B5EF4-FFF2-40B4-BE49-F238E27FC236}">
                <a16:creationId xmlns:a16="http://schemas.microsoft.com/office/drawing/2014/main" id="{F7821D44-F8C7-7FA6-06E8-048D412FE874}"/>
              </a:ext>
            </a:extLst>
          </p:cNvPr>
          <p:cNvCxnSpPr>
            <a:cxnSpLocks/>
          </p:cNvCxnSpPr>
          <p:nvPr/>
        </p:nvCxnSpPr>
        <p:spPr>
          <a:xfrm>
            <a:off x="10822825" y="5463980"/>
            <a:ext cx="6085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ZoneTexte 108">
            <a:extLst>
              <a:ext uri="{FF2B5EF4-FFF2-40B4-BE49-F238E27FC236}">
                <a16:creationId xmlns:a16="http://schemas.microsoft.com/office/drawing/2014/main" id="{FBC8D117-0AD8-68AD-E1F8-8CF30E5F90C2}"/>
              </a:ext>
            </a:extLst>
          </p:cNvPr>
          <p:cNvSpPr txBox="1"/>
          <p:nvPr/>
        </p:nvSpPr>
        <p:spPr>
          <a:xfrm>
            <a:off x="11431372" y="4530855"/>
            <a:ext cx="64502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ATB0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D4DC3864-557E-A616-9221-4050E2C7F524}"/>
              </a:ext>
            </a:extLst>
          </p:cNvPr>
          <p:cNvSpPr txBox="1"/>
          <p:nvPr/>
        </p:nvSpPr>
        <p:spPr>
          <a:xfrm>
            <a:off x="11418991" y="5266067"/>
            <a:ext cx="64502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ATB1</a:t>
            </a:r>
          </a:p>
        </p:txBody>
      </p:sp>
      <p:sp>
        <p:nvSpPr>
          <p:cNvPr id="111" name="Flèche : droite 110">
            <a:extLst>
              <a:ext uri="{FF2B5EF4-FFF2-40B4-BE49-F238E27FC236}">
                <a16:creationId xmlns:a16="http://schemas.microsoft.com/office/drawing/2014/main" id="{8F37E333-E9AC-BCBE-4506-0D2D5FA356DE}"/>
              </a:ext>
            </a:extLst>
          </p:cNvPr>
          <p:cNvSpPr/>
          <p:nvPr/>
        </p:nvSpPr>
        <p:spPr>
          <a:xfrm rot="16200000">
            <a:off x="8139273" y="5843049"/>
            <a:ext cx="413451" cy="337880"/>
          </a:xfrm>
          <a:prstGeom prst="rightArrow">
            <a:avLst/>
          </a:prstGeom>
          <a:solidFill>
            <a:srgbClr val="4A4C4E"/>
          </a:solidFill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112" name="Connecteur droit avec flèche 111">
            <a:extLst>
              <a:ext uri="{FF2B5EF4-FFF2-40B4-BE49-F238E27FC236}">
                <a16:creationId xmlns:a16="http://schemas.microsoft.com/office/drawing/2014/main" id="{9078E91A-11B6-5C49-3013-05F5DE10F410}"/>
              </a:ext>
            </a:extLst>
          </p:cNvPr>
          <p:cNvCxnSpPr>
            <a:cxnSpLocks/>
          </p:cNvCxnSpPr>
          <p:nvPr/>
        </p:nvCxnSpPr>
        <p:spPr>
          <a:xfrm flipV="1">
            <a:off x="9277666" y="5805262"/>
            <a:ext cx="0" cy="4024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cteur droit avec flèche 112">
            <a:extLst>
              <a:ext uri="{FF2B5EF4-FFF2-40B4-BE49-F238E27FC236}">
                <a16:creationId xmlns:a16="http://schemas.microsoft.com/office/drawing/2014/main" id="{A04D4EB4-0C8D-6AC6-8F72-A0AD40EFD12B}"/>
              </a:ext>
            </a:extLst>
          </p:cNvPr>
          <p:cNvCxnSpPr>
            <a:cxnSpLocks/>
          </p:cNvCxnSpPr>
          <p:nvPr/>
        </p:nvCxnSpPr>
        <p:spPr>
          <a:xfrm flipV="1">
            <a:off x="10385066" y="5805264"/>
            <a:ext cx="0" cy="4024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2A12819-271C-B343-1D18-FFFD74BE3941}"/>
              </a:ext>
            </a:extLst>
          </p:cNvPr>
          <p:cNvSpPr txBox="1"/>
          <p:nvPr/>
        </p:nvSpPr>
        <p:spPr>
          <a:xfrm>
            <a:off x="8992099" y="6237310"/>
            <a:ext cx="98005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ATB0_EN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951F1C6-FEC6-C564-B71B-557CABA9C58F}"/>
              </a:ext>
            </a:extLst>
          </p:cNvPr>
          <p:cNvSpPr txBox="1"/>
          <p:nvPr/>
        </p:nvSpPr>
        <p:spPr>
          <a:xfrm>
            <a:off x="10023248" y="6237312"/>
            <a:ext cx="98005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ATB1_EN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9BE7E3E-4DCA-5733-8FBB-918CE2829FFB}"/>
              </a:ext>
            </a:extLst>
          </p:cNvPr>
          <p:cNvSpPr/>
          <p:nvPr/>
        </p:nvSpPr>
        <p:spPr>
          <a:xfrm>
            <a:off x="11431372" y="116632"/>
            <a:ext cx="760628" cy="648072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905A10C-8C91-DD76-DB84-2D7CC351648A}"/>
              </a:ext>
            </a:extLst>
          </p:cNvPr>
          <p:cNvSpPr/>
          <p:nvPr/>
        </p:nvSpPr>
        <p:spPr>
          <a:xfrm>
            <a:off x="263352" y="6525344"/>
            <a:ext cx="11665294" cy="248395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35A87EBF-49C0-3753-8F16-33AC54BD0E3B}"/>
              </a:ext>
            </a:extLst>
          </p:cNvPr>
          <p:cNvSpPr txBox="1"/>
          <p:nvPr/>
        </p:nvSpPr>
        <p:spPr>
          <a:xfrm>
            <a:off x="9638398" y="1972493"/>
            <a:ext cx="483122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and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C04BEA77-4912-73FE-C777-366976830E0C}"/>
              </a:ext>
            </a:extLst>
          </p:cNvPr>
          <p:cNvSpPr txBox="1"/>
          <p:nvPr/>
        </p:nvSpPr>
        <p:spPr>
          <a:xfrm>
            <a:off x="9673304" y="2753002"/>
            <a:ext cx="483122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and</a:t>
            </a:r>
          </a:p>
        </p:txBody>
      </p:sp>
      <p:cxnSp>
        <p:nvCxnSpPr>
          <p:cNvPr id="120" name="Connecteur droit avec flèche 119">
            <a:extLst>
              <a:ext uri="{FF2B5EF4-FFF2-40B4-BE49-F238E27FC236}">
                <a16:creationId xmlns:a16="http://schemas.microsoft.com/office/drawing/2014/main" id="{DB0D5283-3BC0-09E1-FE5D-CFF01C95C730}"/>
              </a:ext>
            </a:extLst>
          </p:cNvPr>
          <p:cNvCxnSpPr>
            <a:cxnSpLocks/>
          </p:cNvCxnSpPr>
          <p:nvPr/>
        </p:nvCxnSpPr>
        <p:spPr>
          <a:xfrm>
            <a:off x="10674832" y="4329689"/>
            <a:ext cx="11283" cy="2477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5D7DB128-4CA6-2391-A741-854367EB6E71}"/>
              </a:ext>
            </a:extLst>
          </p:cNvPr>
          <p:cNvCxnSpPr>
            <a:cxnSpLocks/>
          </p:cNvCxnSpPr>
          <p:nvPr/>
        </p:nvCxnSpPr>
        <p:spPr>
          <a:xfrm>
            <a:off x="10658716" y="4343784"/>
            <a:ext cx="745568" cy="73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ZoneTexte 124">
            <a:extLst>
              <a:ext uri="{FF2B5EF4-FFF2-40B4-BE49-F238E27FC236}">
                <a16:creationId xmlns:a16="http://schemas.microsoft.com/office/drawing/2014/main" id="{642FF518-7649-D40B-FB68-4F8177555E9E}"/>
              </a:ext>
            </a:extLst>
          </p:cNvPr>
          <p:cNvSpPr txBox="1"/>
          <p:nvPr/>
        </p:nvSpPr>
        <p:spPr>
          <a:xfrm>
            <a:off x="11409093" y="4027883"/>
            <a:ext cx="707543" cy="494624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AVDD</a:t>
            </a:r>
          </a:p>
          <a:p>
            <a:pPr algn="l">
              <a:spcBef>
                <a:spcPct val="0"/>
              </a:spcBef>
            </a:pPr>
            <a:r>
              <a:rPr lang="fr-FR" sz="1200" b="1" dirty="0"/>
              <a:t>(5V)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04E5789A-15DF-D45B-1467-3E863D82B9B0}"/>
              </a:ext>
            </a:extLst>
          </p:cNvPr>
          <p:cNvSpPr txBox="1"/>
          <p:nvPr/>
        </p:nvSpPr>
        <p:spPr>
          <a:xfrm>
            <a:off x="3488785" y="11025"/>
            <a:ext cx="4513072" cy="525401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2800" dirty="0"/>
              <a:t>BLOCK DIAGRAM OSC48M</a:t>
            </a:r>
          </a:p>
        </p:txBody>
      </p:sp>
    </p:spTree>
    <p:extLst>
      <p:ext uri="{BB962C8B-B14F-4D97-AF65-F5344CB8AC3E}">
        <p14:creationId xmlns:p14="http://schemas.microsoft.com/office/powerpoint/2010/main" val="2912942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3222-B235-0C29-6D00-2BCE261C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7030772F-1AC3-8076-4D80-A5C6A625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548680"/>
            <a:ext cx="11008413" cy="792163"/>
          </a:xfrm>
        </p:spPr>
        <p:txBody>
          <a:bodyPr/>
          <a:lstStyle/>
          <a:p>
            <a:r>
              <a:rPr lang="fr-FR" dirty="0" err="1"/>
              <a:t>Existing</a:t>
            </a:r>
            <a:r>
              <a:rPr lang="fr-FR" dirty="0"/>
              <a:t> Design in KEY </a:t>
            </a:r>
            <a:r>
              <a:rPr lang="fr-FR" dirty="0" err="1"/>
              <a:t>Foundry</a:t>
            </a:r>
            <a:r>
              <a:rPr lang="fr-FR" dirty="0"/>
              <a:t> : OSC48M  main </a:t>
            </a:r>
            <a:r>
              <a:rPr lang="fr-FR" dirty="0" err="1"/>
              <a:t>result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pic>
        <p:nvPicPr>
          <p:cNvPr id="4" name="Image 3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13539078-9E0D-B680-3C0A-E53E0C20B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3" y="8569"/>
            <a:ext cx="12069859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9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131D3F-C882-D360-FDD1-29640433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56" y="4697760"/>
            <a:ext cx="11593288" cy="2160240"/>
          </a:xfrm>
        </p:spPr>
        <p:txBody>
          <a:bodyPr/>
          <a:lstStyle/>
          <a:p>
            <a:r>
              <a:rPr lang="fr-FR" u="sng" dirty="0"/>
              <a:t>OSC48M  LIMITATIONS :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1) </a:t>
            </a:r>
            <a:r>
              <a:rPr lang="fr-FR" sz="2400" dirty="0"/>
              <a:t>Relaxation </a:t>
            </a:r>
            <a:r>
              <a:rPr lang="fr-FR" sz="2400" dirty="0" err="1"/>
              <a:t>based</a:t>
            </a:r>
            <a:r>
              <a:rPr lang="fr-FR" sz="2400" dirty="0"/>
              <a:t> on </a:t>
            </a:r>
            <a:r>
              <a:rPr lang="fr-FR" sz="2400" dirty="0" err="1"/>
              <a:t>equivalent</a:t>
            </a:r>
            <a:r>
              <a:rPr lang="fr-FR" sz="2400" dirty="0"/>
              <a:t> Resistance </a:t>
            </a:r>
            <a:r>
              <a:rPr lang="fr-FR" sz="2400" dirty="0" err="1"/>
              <a:t>Rref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capacitance C1(or C2):</a:t>
            </a:r>
            <a:br>
              <a:rPr lang="fr-FR" sz="2400" dirty="0"/>
            </a:br>
            <a:r>
              <a:rPr lang="fr-FR" sz="2400" dirty="0"/>
              <a:t>       </a:t>
            </a:r>
            <a:r>
              <a:rPr lang="fr-FR" sz="2400" dirty="0" err="1"/>
              <a:t>Fosc</a:t>
            </a:r>
            <a:r>
              <a:rPr lang="fr-FR" sz="2400" dirty="0"/>
              <a:t>=1/(2 </a:t>
            </a:r>
            <a:r>
              <a:rPr lang="fr-FR" sz="2400" dirty="0" err="1"/>
              <a:t>Rref</a:t>
            </a:r>
            <a:r>
              <a:rPr lang="fr-FR" sz="2400" dirty="0"/>
              <a:t> *C1)  (</a:t>
            </a:r>
            <a:r>
              <a:rPr lang="fr-FR" sz="2400" dirty="0" err="1"/>
              <a:t>excluding</a:t>
            </a:r>
            <a:r>
              <a:rPr lang="fr-FR" sz="2400" dirty="0"/>
              <a:t> </a:t>
            </a:r>
            <a:r>
              <a:rPr lang="fr-FR" sz="2400" dirty="0" err="1"/>
              <a:t>delai</a:t>
            </a:r>
            <a:r>
              <a:rPr lang="fr-FR" sz="2400" dirty="0"/>
              <a:t> </a:t>
            </a:r>
            <a:r>
              <a:rPr lang="fr-FR" sz="2400" dirty="0" err="1"/>
              <a:t>comparator</a:t>
            </a:r>
            <a:r>
              <a:rPr lang="fr-FR" sz="2400" dirty="0"/>
              <a:t>)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     </a:t>
            </a:r>
            <a:r>
              <a:rPr lang="fr-FR" sz="2400" dirty="0" err="1"/>
              <a:t>Rref</a:t>
            </a:r>
            <a:r>
              <a:rPr lang="fr-FR" sz="2400" dirty="0"/>
              <a:t> </a:t>
            </a:r>
            <a:r>
              <a:rPr lang="fr-FR" sz="2400" dirty="0" err="1"/>
              <a:t>resistance</a:t>
            </a:r>
            <a:r>
              <a:rPr lang="fr-FR" sz="2400" dirty="0"/>
              <a:t> </a:t>
            </a:r>
            <a:r>
              <a:rPr lang="fr-FR" sz="2400" dirty="0" err="1"/>
              <a:t>Rdppo_ns</a:t>
            </a:r>
            <a:r>
              <a:rPr lang="fr-FR" sz="2400" dirty="0"/>
              <a:t> ( </a:t>
            </a:r>
            <a:r>
              <a:rPr lang="fr-FR" sz="2400" dirty="0" err="1"/>
              <a:t>width</a:t>
            </a:r>
            <a:r>
              <a:rPr lang="fr-FR" sz="2400" dirty="0"/>
              <a:t>=2um)</a:t>
            </a:r>
            <a:br>
              <a:rPr lang="fr-FR" sz="2400" dirty="0"/>
            </a:br>
            <a:r>
              <a:rPr lang="fr-FR" sz="2400" dirty="0"/>
              <a:t>     Capacitance  : </a:t>
            </a:r>
            <a:r>
              <a:rPr lang="fr-FR" sz="2400" dirty="0" err="1"/>
              <a:t>realized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 </a:t>
            </a:r>
            <a:r>
              <a:rPr lang="fr-FR" sz="2400" dirty="0" err="1"/>
              <a:t>cmom</a:t>
            </a:r>
            <a:r>
              <a:rPr lang="fr-FR" sz="2400" dirty="0"/>
              <a:t> capacitance </a:t>
            </a:r>
            <a:r>
              <a:rPr lang="fr-FR" sz="2400" dirty="0" err="1"/>
              <a:t>array</a:t>
            </a:r>
            <a:r>
              <a:rPr lang="fr-FR" sz="2400" dirty="0"/>
              <a:t> ( </a:t>
            </a:r>
            <a:r>
              <a:rPr lang="fr-FR" sz="2400" dirty="0" err="1"/>
              <a:t>trimming</a:t>
            </a:r>
            <a:r>
              <a:rPr lang="fr-FR" sz="2400" dirty="0"/>
              <a:t>)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      as </a:t>
            </a:r>
            <a:r>
              <a:rPr lang="fr-FR" sz="2400" dirty="0" err="1"/>
              <a:t>Rref</a:t>
            </a:r>
            <a:r>
              <a:rPr lang="fr-FR" sz="2400" dirty="0"/>
              <a:t> *C1 </a:t>
            </a:r>
            <a:r>
              <a:rPr lang="fr-FR" sz="2400" dirty="0" err="1"/>
              <a:t>is</a:t>
            </a:r>
            <a:r>
              <a:rPr lang="fr-FR" sz="2400" dirty="0"/>
              <a:t> not constant versus </a:t>
            </a:r>
            <a:r>
              <a:rPr lang="fr-FR" sz="2400" dirty="0" err="1"/>
              <a:t>temperature</a:t>
            </a:r>
            <a:r>
              <a:rPr lang="fr-FR" sz="2400" dirty="0"/>
              <a:t>  </a:t>
            </a:r>
            <a:r>
              <a:rPr lang="fr-FR" sz="2400" dirty="0" err="1"/>
              <a:t>Fosc</a:t>
            </a:r>
            <a:r>
              <a:rPr lang="fr-FR" sz="2400" dirty="0"/>
              <a:t> </a:t>
            </a:r>
            <a:r>
              <a:rPr lang="fr-FR" sz="2400" dirty="0" err="1"/>
              <a:t>will</a:t>
            </a:r>
            <a:r>
              <a:rPr lang="fr-FR" sz="2400" dirty="0"/>
              <a:t> not </a:t>
            </a:r>
            <a:r>
              <a:rPr lang="fr-FR" sz="2400" dirty="0" err="1"/>
              <a:t>be</a:t>
            </a:r>
            <a:r>
              <a:rPr lang="fr-FR" sz="2400" dirty="0"/>
              <a:t> constant .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2) second </a:t>
            </a:r>
            <a:r>
              <a:rPr lang="fr-FR" sz="2400" dirty="0" err="1"/>
              <a:t>order</a:t>
            </a:r>
            <a:r>
              <a:rPr lang="fr-FR" sz="2400" dirty="0"/>
              <a:t> </a:t>
            </a:r>
            <a:r>
              <a:rPr lang="fr-FR" sz="2400" dirty="0" err="1"/>
              <a:t>effect</a:t>
            </a:r>
            <a:r>
              <a:rPr lang="fr-FR" sz="2400" dirty="0"/>
              <a:t>  : </a:t>
            </a:r>
            <a:r>
              <a:rPr lang="fr-FR" sz="2400" dirty="0" err="1"/>
              <a:t>Comparator</a:t>
            </a:r>
            <a:r>
              <a:rPr lang="fr-FR" sz="2400" dirty="0"/>
              <a:t> </a:t>
            </a:r>
            <a:r>
              <a:rPr lang="fr-FR" sz="2400" dirty="0" err="1"/>
              <a:t>delai</a:t>
            </a:r>
            <a:r>
              <a:rPr lang="fr-FR" sz="2400" dirty="0"/>
              <a:t> </a:t>
            </a:r>
            <a:r>
              <a:rPr lang="fr-FR" sz="2400" dirty="0" err="1"/>
              <a:t>which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not constant versus </a:t>
            </a:r>
            <a:r>
              <a:rPr lang="fr-FR" sz="2400" dirty="0" err="1"/>
              <a:t>temperature</a:t>
            </a:r>
            <a:r>
              <a:rPr lang="fr-FR" sz="2400" dirty="0"/>
              <a:t> and </a:t>
            </a:r>
            <a:r>
              <a:rPr lang="fr-FR" sz="2400" dirty="0" err="1"/>
              <a:t>supply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Oscillation </a:t>
            </a:r>
            <a:r>
              <a:rPr lang="fr-FR" sz="2400" dirty="0" err="1"/>
              <a:t>frequency</a:t>
            </a:r>
            <a:r>
              <a:rPr lang="fr-FR" sz="2400" dirty="0"/>
              <a:t> </a:t>
            </a:r>
            <a:r>
              <a:rPr lang="fr-FR" sz="2400" dirty="0" err="1"/>
              <a:t>will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br>
              <a:rPr lang="fr-FR" sz="2400" dirty="0"/>
            </a:br>
            <a:r>
              <a:rPr lang="fr-FR" sz="2400" dirty="0"/>
              <a:t> </a:t>
            </a:r>
            <a:br>
              <a:rPr lang="fr-FR" sz="2400" dirty="0"/>
            </a:br>
            <a:r>
              <a:rPr lang="fr-FR" sz="2400" dirty="0" err="1"/>
              <a:t>Fosc</a:t>
            </a:r>
            <a:r>
              <a:rPr lang="fr-FR" sz="2400" dirty="0"/>
              <a:t> = 1/(2Rref*C1+2 Td)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If </a:t>
            </a:r>
            <a:r>
              <a:rPr lang="fr-FR" sz="2400" dirty="0" err="1"/>
              <a:t>Fosc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small</a:t>
            </a:r>
            <a:r>
              <a:rPr lang="fr-FR" sz="2400" dirty="0"/>
              <a:t> &lt;&lt; 10 Mhz Td </a:t>
            </a:r>
            <a:r>
              <a:rPr lang="fr-FR" sz="2400" dirty="0" err="1"/>
              <a:t>could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neglected</a:t>
            </a:r>
            <a:br>
              <a:rPr lang="fr-FR" sz="2400" dirty="0"/>
            </a:br>
            <a:r>
              <a:rPr lang="fr-FR" sz="2400" dirty="0" err="1"/>
              <a:t>here</a:t>
            </a:r>
            <a:r>
              <a:rPr lang="fr-FR" sz="2400" dirty="0"/>
              <a:t> for </a:t>
            </a:r>
            <a:r>
              <a:rPr lang="fr-FR" sz="2400" dirty="0" err="1"/>
              <a:t>Fsoc</a:t>
            </a:r>
            <a:r>
              <a:rPr lang="fr-FR" sz="2400" dirty="0"/>
              <a:t>=48Mhz  Td </a:t>
            </a:r>
            <a:r>
              <a:rPr lang="fr-FR" sz="2400" dirty="0" err="1"/>
              <a:t>will</a:t>
            </a:r>
            <a:r>
              <a:rPr lang="fr-FR" sz="2400" dirty="0"/>
              <a:t> impact PSRR ,</a:t>
            </a:r>
            <a:r>
              <a:rPr lang="fr-FR" sz="2400" dirty="0" err="1"/>
              <a:t>Tc_ppm</a:t>
            </a:r>
            <a:r>
              <a:rPr lang="fr-FR" sz="2400" dirty="0"/>
              <a:t>/K and </a:t>
            </a:r>
            <a:r>
              <a:rPr lang="fr-FR" sz="2400" dirty="0" err="1"/>
              <a:t>Error</a:t>
            </a:r>
            <a:r>
              <a:rPr lang="fr-FR" sz="2400" dirty="0"/>
              <a:t> +/- %</a:t>
            </a:r>
            <a:br>
              <a:rPr lang="fr-FR" sz="2400" dirty="0"/>
            </a:br>
            <a:r>
              <a:rPr lang="fr-FR" sz="240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344579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29938-DEDD-DF82-8E88-62C66906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636553-2B67-9A98-2C1C-F74BD4D6555A}"/>
              </a:ext>
            </a:extLst>
          </p:cNvPr>
          <p:cNvSpPr/>
          <p:nvPr/>
        </p:nvSpPr>
        <p:spPr>
          <a:xfrm>
            <a:off x="695400" y="1303700"/>
            <a:ext cx="10492432" cy="516920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69E477-CE8F-5CFC-C3B0-01953759A95D}"/>
              </a:ext>
            </a:extLst>
          </p:cNvPr>
          <p:cNvSpPr/>
          <p:nvPr/>
        </p:nvSpPr>
        <p:spPr>
          <a:xfrm>
            <a:off x="3272179" y="1221108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607BFD-040B-AEA1-4E1F-3BF9C32F7658}"/>
              </a:ext>
            </a:extLst>
          </p:cNvPr>
          <p:cNvSpPr/>
          <p:nvPr/>
        </p:nvSpPr>
        <p:spPr>
          <a:xfrm>
            <a:off x="658558" y="4363728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BAB1E2-BD62-A3F7-CE11-CA0AF6E06874}"/>
              </a:ext>
            </a:extLst>
          </p:cNvPr>
          <p:cNvSpPr/>
          <p:nvPr/>
        </p:nvSpPr>
        <p:spPr>
          <a:xfrm>
            <a:off x="2493255" y="6411716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439E5A7-5940-2412-B17D-CFECC0378B93}"/>
              </a:ext>
            </a:extLst>
          </p:cNvPr>
          <p:cNvSpPr/>
          <p:nvPr/>
        </p:nvSpPr>
        <p:spPr>
          <a:xfrm>
            <a:off x="927377" y="3050980"/>
            <a:ext cx="853370" cy="816232"/>
          </a:xfrm>
          <a:prstGeom prst="rect">
            <a:avLst/>
          </a:prstGeom>
          <a:solidFill>
            <a:srgbClr val="57CF80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113" name="Connecteur droit avec flèche 112">
            <a:extLst>
              <a:ext uri="{FF2B5EF4-FFF2-40B4-BE49-F238E27FC236}">
                <a16:creationId xmlns:a16="http://schemas.microsoft.com/office/drawing/2014/main" id="{E0774846-C7CD-D9F3-5799-B4E33BA45428}"/>
              </a:ext>
            </a:extLst>
          </p:cNvPr>
          <p:cNvCxnSpPr>
            <a:cxnSpLocks/>
          </p:cNvCxnSpPr>
          <p:nvPr/>
        </p:nvCxnSpPr>
        <p:spPr>
          <a:xfrm>
            <a:off x="790920" y="3430091"/>
            <a:ext cx="175777" cy="63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ZoneTexte 114">
            <a:extLst>
              <a:ext uri="{FF2B5EF4-FFF2-40B4-BE49-F238E27FC236}">
                <a16:creationId xmlns:a16="http://schemas.microsoft.com/office/drawing/2014/main" id="{C9A44125-D98A-9A30-6D49-631769D854BE}"/>
              </a:ext>
            </a:extLst>
          </p:cNvPr>
          <p:cNvSpPr txBox="1"/>
          <p:nvPr/>
        </p:nvSpPr>
        <p:spPr>
          <a:xfrm>
            <a:off x="933248" y="3234973"/>
            <a:ext cx="842195" cy="556179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sz="1000" b="1" dirty="0"/>
              <a:t>TRIMMING</a:t>
            </a:r>
          </a:p>
          <a:p>
            <a:pPr algn="ctr">
              <a:spcBef>
                <a:spcPct val="0"/>
              </a:spcBef>
            </a:pPr>
            <a:r>
              <a:rPr lang="fr-FR" sz="1000" b="1" dirty="0" err="1"/>
              <a:t>Fosc</a:t>
            </a:r>
            <a:endParaRPr lang="fr-FR" sz="1000" b="1" dirty="0"/>
          </a:p>
          <a:p>
            <a:pPr algn="ctr">
              <a:spcBef>
                <a:spcPct val="0"/>
              </a:spcBef>
            </a:pPr>
            <a:endParaRPr lang="fr-FR" sz="1000" b="1" dirty="0"/>
          </a:p>
        </p:txBody>
      </p:sp>
      <p:cxnSp>
        <p:nvCxnSpPr>
          <p:cNvPr id="117" name="Connecteur droit avec flèche 116">
            <a:extLst>
              <a:ext uri="{FF2B5EF4-FFF2-40B4-BE49-F238E27FC236}">
                <a16:creationId xmlns:a16="http://schemas.microsoft.com/office/drawing/2014/main" id="{2F3B633C-27E0-D226-6F37-769227088995}"/>
              </a:ext>
            </a:extLst>
          </p:cNvPr>
          <p:cNvCxnSpPr>
            <a:cxnSpLocks/>
          </p:cNvCxnSpPr>
          <p:nvPr/>
        </p:nvCxnSpPr>
        <p:spPr>
          <a:xfrm>
            <a:off x="1744028" y="3483203"/>
            <a:ext cx="4850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Connecteur droit 121">
            <a:extLst>
              <a:ext uri="{FF2B5EF4-FFF2-40B4-BE49-F238E27FC236}">
                <a16:creationId xmlns:a16="http://schemas.microsoft.com/office/drawing/2014/main" id="{4BF6A638-45EA-C7B7-B5AD-7E65CDD30CF2}"/>
              </a:ext>
            </a:extLst>
          </p:cNvPr>
          <p:cNvCxnSpPr>
            <a:cxnSpLocks/>
          </p:cNvCxnSpPr>
          <p:nvPr/>
        </p:nvCxnSpPr>
        <p:spPr>
          <a:xfrm flipV="1">
            <a:off x="1877244" y="3407751"/>
            <a:ext cx="140109" cy="1519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ZoneTexte 134">
            <a:extLst>
              <a:ext uri="{FF2B5EF4-FFF2-40B4-BE49-F238E27FC236}">
                <a16:creationId xmlns:a16="http://schemas.microsoft.com/office/drawing/2014/main" id="{B9FE5D51-3BD7-7EA8-3BD0-2FD1266CC6E5}"/>
              </a:ext>
            </a:extLst>
          </p:cNvPr>
          <p:cNvSpPr txBox="1"/>
          <p:nvPr/>
        </p:nvSpPr>
        <p:spPr>
          <a:xfrm>
            <a:off x="1877827" y="3175535"/>
            <a:ext cx="454423" cy="248402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/>
              <a:t>512</a:t>
            </a:r>
          </a:p>
        </p:txBody>
      </p:sp>
      <p:sp>
        <p:nvSpPr>
          <p:cNvPr id="136" name="Triangle isocèle 135">
            <a:extLst>
              <a:ext uri="{FF2B5EF4-FFF2-40B4-BE49-F238E27FC236}">
                <a16:creationId xmlns:a16="http://schemas.microsoft.com/office/drawing/2014/main" id="{CFC7D255-CC4E-8EE0-042C-E39BF61F6143}"/>
              </a:ext>
            </a:extLst>
          </p:cNvPr>
          <p:cNvSpPr/>
          <p:nvPr/>
        </p:nvSpPr>
        <p:spPr>
          <a:xfrm rot="5400000">
            <a:off x="8498725" y="2293308"/>
            <a:ext cx="978742" cy="1147233"/>
          </a:xfrm>
          <a:prstGeom prst="triangle">
            <a:avLst/>
          </a:prstGeom>
          <a:solidFill>
            <a:srgbClr val="57CF80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027BEACA-B4ED-8524-9697-CF76771861E3}"/>
              </a:ext>
            </a:extLst>
          </p:cNvPr>
          <p:cNvSpPr txBox="1"/>
          <p:nvPr/>
        </p:nvSpPr>
        <p:spPr>
          <a:xfrm>
            <a:off x="8414480" y="2444485"/>
            <a:ext cx="282748" cy="740845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-</a:t>
            </a:r>
          </a:p>
          <a:p>
            <a:pPr algn="l">
              <a:spcBef>
                <a:spcPct val="0"/>
              </a:spcBef>
            </a:pPr>
            <a:endParaRPr lang="fr-FR" sz="1400" dirty="0"/>
          </a:p>
          <a:p>
            <a:pPr algn="l">
              <a:spcBef>
                <a:spcPct val="0"/>
              </a:spcBef>
            </a:pPr>
            <a:r>
              <a:rPr lang="fr-FR" sz="1400" dirty="0"/>
              <a:t>+</a:t>
            </a:r>
          </a:p>
        </p:txBody>
      </p:sp>
      <p:cxnSp>
        <p:nvCxnSpPr>
          <p:cNvPr id="152" name="Connecteur droit 151">
            <a:extLst>
              <a:ext uri="{FF2B5EF4-FFF2-40B4-BE49-F238E27FC236}">
                <a16:creationId xmlns:a16="http://schemas.microsoft.com/office/drawing/2014/main" id="{FBF3FEB1-07B8-A8EC-7386-EEE9BD42DDE8}"/>
              </a:ext>
            </a:extLst>
          </p:cNvPr>
          <p:cNvCxnSpPr>
            <a:cxnSpLocks/>
          </p:cNvCxnSpPr>
          <p:nvPr/>
        </p:nvCxnSpPr>
        <p:spPr>
          <a:xfrm>
            <a:off x="4246690" y="4446589"/>
            <a:ext cx="3277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Connecteur droit 152">
            <a:extLst>
              <a:ext uri="{FF2B5EF4-FFF2-40B4-BE49-F238E27FC236}">
                <a16:creationId xmlns:a16="http://schemas.microsoft.com/office/drawing/2014/main" id="{B85B3558-A800-8999-C5F3-972C80B11172}"/>
              </a:ext>
            </a:extLst>
          </p:cNvPr>
          <p:cNvCxnSpPr>
            <a:cxnSpLocks/>
          </p:cNvCxnSpPr>
          <p:nvPr/>
        </p:nvCxnSpPr>
        <p:spPr>
          <a:xfrm>
            <a:off x="4411169" y="4446589"/>
            <a:ext cx="0" cy="5232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Connecteur droit 153">
            <a:extLst>
              <a:ext uri="{FF2B5EF4-FFF2-40B4-BE49-F238E27FC236}">
                <a16:creationId xmlns:a16="http://schemas.microsoft.com/office/drawing/2014/main" id="{FEA504C2-1CA0-6AE2-2E37-F8DFD84C0E58}"/>
              </a:ext>
            </a:extLst>
          </p:cNvPr>
          <p:cNvCxnSpPr>
            <a:cxnSpLocks/>
          </p:cNvCxnSpPr>
          <p:nvPr/>
        </p:nvCxnSpPr>
        <p:spPr>
          <a:xfrm>
            <a:off x="4246690" y="4374581"/>
            <a:ext cx="3277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4" name="Rectangle 263">
            <a:extLst>
              <a:ext uri="{FF2B5EF4-FFF2-40B4-BE49-F238E27FC236}">
                <a16:creationId xmlns:a16="http://schemas.microsoft.com/office/drawing/2014/main" id="{E635A612-8A8A-72D5-BF0B-120906ED23DD}"/>
              </a:ext>
            </a:extLst>
          </p:cNvPr>
          <p:cNvSpPr/>
          <p:nvPr/>
        </p:nvSpPr>
        <p:spPr>
          <a:xfrm>
            <a:off x="8797864" y="6411716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271" name="ZoneTexte 270">
            <a:extLst>
              <a:ext uri="{FF2B5EF4-FFF2-40B4-BE49-F238E27FC236}">
                <a16:creationId xmlns:a16="http://schemas.microsoft.com/office/drawing/2014/main" id="{FF4896F1-A6B9-C472-8C70-001EB1127F0F}"/>
              </a:ext>
            </a:extLst>
          </p:cNvPr>
          <p:cNvSpPr txBox="1"/>
          <p:nvPr/>
        </p:nvSpPr>
        <p:spPr>
          <a:xfrm>
            <a:off x="2314196" y="6575868"/>
            <a:ext cx="519992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/>
              <a:t>GND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66406337-A659-889C-E7FC-E71A377F0323}"/>
              </a:ext>
            </a:extLst>
          </p:cNvPr>
          <p:cNvSpPr/>
          <p:nvPr/>
        </p:nvSpPr>
        <p:spPr>
          <a:xfrm>
            <a:off x="4596727" y="6421136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273" name="ZoneTexte 272">
            <a:extLst>
              <a:ext uri="{FF2B5EF4-FFF2-40B4-BE49-F238E27FC236}">
                <a16:creationId xmlns:a16="http://schemas.microsoft.com/office/drawing/2014/main" id="{3CB203AB-BECA-E2D8-A761-08DC0BE6CF58}"/>
              </a:ext>
            </a:extLst>
          </p:cNvPr>
          <p:cNvSpPr txBox="1"/>
          <p:nvPr/>
        </p:nvSpPr>
        <p:spPr>
          <a:xfrm>
            <a:off x="4318612" y="6562249"/>
            <a:ext cx="584112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/>
              <a:t>PSUB</a:t>
            </a:r>
          </a:p>
        </p:txBody>
      </p:sp>
      <p:sp>
        <p:nvSpPr>
          <p:cNvPr id="274" name="ZoneTexte 273">
            <a:extLst>
              <a:ext uri="{FF2B5EF4-FFF2-40B4-BE49-F238E27FC236}">
                <a16:creationId xmlns:a16="http://schemas.microsoft.com/office/drawing/2014/main" id="{D339DD23-F429-FF63-A9C5-C897CFF7B793}"/>
              </a:ext>
            </a:extLst>
          </p:cNvPr>
          <p:cNvSpPr txBox="1"/>
          <p:nvPr/>
        </p:nvSpPr>
        <p:spPr>
          <a:xfrm>
            <a:off x="96169" y="4270080"/>
            <a:ext cx="590524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00FF00"/>
                </a:highlight>
              </a:rPr>
              <a:t>OFFA</a:t>
            </a:r>
          </a:p>
        </p:txBody>
      </p:sp>
      <p:sp>
        <p:nvSpPr>
          <p:cNvPr id="275" name="ZoneTexte 274">
            <a:extLst>
              <a:ext uri="{FF2B5EF4-FFF2-40B4-BE49-F238E27FC236}">
                <a16:creationId xmlns:a16="http://schemas.microsoft.com/office/drawing/2014/main" id="{76B3E229-4724-3D80-1985-97824240EF2B}"/>
              </a:ext>
            </a:extLst>
          </p:cNvPr>
          <p:cNvSpPr txBox="1"/>
          <p:nvPr/>
        </p:nvSpPr>
        <p:spPr>
          <a:xfrm>
            <a:off x="-246436" y="3079284"/>
            <a:ext cx="1044173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00FF00"/>
                </a:highlight>
              </a:rPr>
              <a:t>FTRIM&lt;0:8&gt;</a:t>
            </a:r>
          </a:p>
        </p:txBody>
      </p:sp>
      <p:sp>
        <p:nvSpPr>
          <p:cNvPr id="277" name="ZoneTexte 276">
            <a:extLst>
              <a:ext uri="{FF2B5EF4-FFF2-40B4-BE49-F238E27FC236}">
                <a16:creationId xmlns:a16="http://schemas.microsoft.com/office/drawing/2014/main" id="{8D09EA14-3A71-DE08-606D-5E0010F088C1}"/>
              </a:ext>
            </a:extLst>
          </p:cNvPr>
          <p:cNvSpPr txBox="1"/>
          <p:nvPr/>
        </p:nvSpPr>
        <p:spPr>
          <a:xfrm>
            <a:off x="2662027" y="938272"/>
            <a:ext cx="1584663" cy="279180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00FF00"/>
                </a:highlight>
              </a:rPr>
              <a:t>VDD (1.5V+/-10%)</a:t>
            </a:r>
          </a:p>
        </p:txBody>
      </p:sp>
      <p:sp>
        <p:nvSpPr>
          <p:cNvPr id="278" name="ZoneTexte 277">
            <a:extLst>
              <a:ext uri="{FF2B5EF4-FFF2-40B4-BE49-F238E27FC236}">
                <a16:creationId xmlns:a16="http://schemas.microsoft.com/office/drawing/2014/main" id="{04E56316-A55F-8F1C-F36D-F32DC8628F59}"/>
              </a:ext>
            </a:extLst>
          </p:cNvPr>
          <p:cNvSpPr txBox="1"/>
          <p:nvPr/>
        </p:nvSpPr>
        <p:spPr>
          <a:xfrm>
            <a:off x="8571818" y="6555732"/>
            <a:ext cx="584112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00FF00"/>
                </a:highlight>
              </a:rPr>
              <a:t>F48M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A0363B7-334F-1AE5-1A5F-C1D2669E077C}"/>
              </a:ext>
            </a:extLst>
          </p:cNvPr>
          <p:cNvSpPr/>
          <p:nvPr/>
        </p:nvSpPr>
        <p:spPr>
          <a:xfrm>
            <a:off x="2637271" y="2894933"/>
            <a:ext cx="253893" cy="115628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99" name="Connecteur droit avec flèche 98">
            <a:extLst>
              <a:ext uri="{FF2B5EF4-FFF2-40B4-BE49-F238E27FC236}">
                <a16:creationId xmlns:a16="http://schemas.microsoft.com/office/drawing/2014/main" id="{14E0C8EB-B34B-225C-EEFA-EA0BE877C688}"/>
              </a:ext>
            </a:extLst>
          </p:cNvPr>
          <p:cNvCxnSpPr>
            <a:cxnSpLocks/>
            <a:endCxn id="268" idx="3"/>
          </p:cNvCxnSpPr>
          <p:nvPr/>
        </p:nvCxnSpPr>
        <p:spPr>
          <a:xfrm>
            <a:off x="802574" y="4435736"/>
            <a:ext cx="418151" cy="99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F31F2B55-03EC-31CA-2A9B-805BD21B7018}"/>
              </a:ext>
            </a:extLst>
          </p:cNvPr>
          <p:cNvCxnSpPr/>
          <p:nvPr/>
        </p:nvCxnSpPr>
        <p:spPr>
          <a:xfrm flipV="1">
            <a:off x="2560762" y="3407751"/>
            <a:ext cx="511389" cy="3269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Accolade ouvrante 85">
            <a:extLst>
              <a:ext uri="{FF2B5EF4-FFF2-40B4-BE49-F238E27FC236}">
                <a16:creationId xmlns:a16="http://schemas.microsoft.com/office/drawing/2014/main" id="{C3379B07-259B-2490-02E3-A633D912B624}"/>
              </a:ext>
            </a:extLst>
          </p:cNvPr>
          <p:cNvSpPr/>
          <p:nvPr/>
        </p:nvSpPr>
        <p:spPr>
          <a:xfrm>
            <a:off x="2263789" y="2891671"/>
            <a:ext cx="326906" cy="1162924"/>
          </a:xfrm>
          <a:prstGeom prst="lef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EC4D87F-BEDB-BEF0-2037-B8282C67CBBB}"/>
              </a:ext>
            </a:extLst>
          </p:cNvPr>
          <p:cNvSpPr/>
          <p:nvPr/>
        </p:nvSpPr>
        <p:spPr>
          <a:xfrm>
            <a:off x="4738347" y="1197568"/>
            <a:ext cx="144016" cy="16753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930ED1AD-1D8C-DF2B-92BE-6196698EBE0D}"/>
              </a:ext>
            </a:extLst>
          </p:cNvPr>
          <p:cNvSpPr txBox="1"/>
          <p:nvPr/>
        </p:nvSpPr>
        <p:spPr>
          <a:xfrm>
            <a:off x="4580309" y="963915"/>
            <a:ext cx="441444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FFFF00"/>
                </a:highlight>
              </a:rPr>
              <a:t>ISO</a:t>
            </a:r>
          </a:p>
        </p:txBody>
      </p:sp>
      <p:sp>
        <p:nvSpPr>
          <p:cNvPr id="105" name="Ellipse 104">
            <a:extLst>
              <a:ext uri="{FF2B5EF4-FFF2-40B4-BE49-F238E27FC236}">
                <a16:creationId xmlns:a16="http://schemas.microsoft.com/office/drawing/2014/main" id="{5E0E7A22-1554-84EC-9E5E-4BCDBAAF18A4}"/>
              </a:ext>
            </a:extLst>
          </p:cNvPr>
          <p:cNvSpPr/>
          <p:nvPr/>
        </p:nvSpPr>
        <p:spPr>
          <a:xfrm>
            <a:off x="3416195" y="2154525"/>
            <a:ext cx="72008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E2D3EB6-213B-BD86-9BA0-2E3762C3CA61}"/>
              </a:ext>
            </a:extLst>
          </p:cNvPr>
          <p:cNvSpPr/>
          <p:nvPr/>
        </p:nvSpPr>
        <p:spPr>
          <a:xfrm>
            <a:off x="10261531" y="1235023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E1BD352-4018-53C8-042D-C0EB35ADA8B5}"/>
              </a:ext>
            </a:extLst>
          </p:cNvPr>
          <p:cNvSpPr txBox="1"/>
          <p:nvPr/>
        </p:nvSpPr>
        <p:spPr>
          <a:xfrm>
            <a:off x="9727842" y="925018"/>
            <a:ext cx="1047379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fr-FR" sz="1200" b="1" dirty="0">
                <a:highlight>
                  <a:srgbClr val="00FF00"/>
                </a:highlight>
              </a:rPr>
              <a:t>VREF (0.9V)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A72CD089-F26C-7CDD-BF69-F0DA2DFE99BF}"/>
              </a:ext>
            </a:extLst>
          </p:cNvPr>
          <p:cNvCxnSpPr/>
          <p:nvPr/>
        </p:nvCxnSpPr>
        <p:spPr>
          <a:xfrm>
            <a:off x="2523454" y="1854575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4228548F-FB40-4414-A31A-192DF0467BEF}"/>
              </a:ext>
            </a:extLst>
          </p:cNvPr>
          <p:cNvCxnSpPr>
            <a:cxnSpLocks/>
          </p:cNvCxnSpPr>
          <p:nvPr/>
        </p:nvCxnSpPr>
        <p:spPr>
          <a:xfrm>
            <a:off x="2307430" y="2026235"/>
            <a:ext cx="0" cy="365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Ellipse 34">
            <a:extLst>
              <a:ext uri="{FF2B5EF4-FFF2-40B4-BE49-F238E27FC236}">
                <a16:creationId xmlns:a16="http://schemas.microsoft.com/office/drawing/2014/main" id="{549D895E-0DD9-A4DF-087E-14B56E8446BD}"/>
              </a:ext>
            </a:extLst>
          </p:cNvPr>
          <p:cNvSpPr/>
          <p:nvPr/>
        </p:nvSpPr>
        <p:spPr>
          <a:xfrm>
            <a:off x="2446735" y="2007773"/>
            <a:ext cx="76718" cy="88408"/>
          </a:xfrm>
          <a:prstGeom prst="ellipse">
            <a:avLst/>
          </a:prstGeom>
          <a:solidFill>
            <a:schemeClr val="tx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E7FF70B1-DF47-9F6E-BAE4-11CB40240A50}"/>
              </a:ext>
            </a:extLst>
          </p:cNvPr>
          <p:cNvCxnSpPr>
            <a:cxnSpLocks/>
          </p:cNvCxnSpPr>
          <p:nvPr/>
        </p:nvCxnSpPr>
        <p:spPr>
          <a:xfrm>
            <a:off x="2307430" y="2045429"/>
            <a:ext cx="139305" cy="12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BF82C79A-B859-12F5-B5A3-69D77BABF4D6}"/>
              </a:ext>
            </a:extLst>
          </p:cNvPr>
          <p:cNvCxnSpPr/>
          <p:nvPr/>
        </p:nvCxnSpPr>
        <p:spPr>
          <a:xfrm>
            <a:off x="2599154" y="1854575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E4548DBA-A1B2-ADA5-07EA-D6F4C8302C7A}"/>
              </a:ext>
            </a:extLst>
          </p:cNvPr>
          <p:cNvCxnSpPr>
            <a:cxnSpLocks/>
          </p:cNvCxnSpPr>
          <p:nvPr/>
        </p:nvCxnSpPr>
        <p:spPr>
          <a:xfrm>
            <a:off x="2613390" y="1947641"/>
            <a:ext cx="19967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43F7DA8F-4492-B27F-C4C6-7B6E546DB386}"/>
              </a:ext>
            </a:extLst>
          </p:cNvPr>
          <p:cNvCxnSpPr>
            <a:cxnSpLocks/>
          </p:cNvCxnSpPr>
          <p:nvPr/>
        </p:nvCxnSpPr>
        <p:spPr>
          <a:xfrm>
            <a:off x="2610909" y="2168864"/>
            <a:ext cx="20215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653EE925-E89E-30B6-F231-07A11A790A50}"/>
              </a:ext>
            </a:extLst>
          </p:cNvPr>
          <p:cNvCxnSpPr>
            <a:cxnSpLocks/>
          </p:cNvCxnSpPr>
          <p:nvPr/>
        </p:nvCxnSpPr>
        <p:spPr>
          <a:xfrm>
            <a:off x="2302045" y="2382288"/>
            <a:ext cx="4677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B1BECADF-35E4-D922-5802-E1502D3B5CA1}"/>
              </a:ext>
            </a:extLst>
          </p:cNvPr>
          <p:cNvCxnSpPr>
            <a:cxnSpLocks/>
          </p:cNvCxnSpPr>
          <p:nvPr/>
        </p:nvCxnSpPr>
        <p:spPr>
          <a:xfrm>
            <a:off x="2782735" y="2167760"/>
            <a:ext cx="0" cy="713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2E1EB11A-5A85-5519-0CDC-08B0B795A680}"/>
              </a:ext>
            </a:extLst>
          </p:cNvPr>
          <p:cNvCxnSpPr>
            <a:cxnSpLocks/>
          </p:cNvCxnSpPr>
          <p:nvPr/>
        </p:nvCxnSpPr>
        <p:spPr>
          <a:xfrm>
            <a:off x="2810515" y="1585464"/>
            <a:ext cx="0" cy="365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FDA606E5-3355-F615-A6D9-1CD56942CCBA}"/>
              </a:ext>
            </a:extLst>
          </p:cNvPr>
          <p:cNvCxnSpPr/>
          <p:nvPr/>
        </p:nvCxnSpPr>
        <p:spPr>
          <a:xfrm>
            <a:off x="3724224" y="1849223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2F4621C2-9425-D1DB-8044-79697B2686D6}"/>
              </a:ext>
            </a:extLst>
          </p:cNvPr>
          <p:cNvCxnSpPr>
            <a:cxnSpLocks/>
          </p:cNvCxnSpPr>
          <p:nvPr/>
        </p:nvCxnSpPr>
        <p:spPr>
          <a:xfrm>
            <a:off x="3508200" y="2020883"/>
            <a:ext cx="0" cy="365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Ellipse 64">
            <a:extLst>
              <a:ext uri="{FF2B5EF4-FFF2-40B4-BE49-F238E27FC236}">
                <a16:creationId xmlns:a16="http://schemas.microsoft.com/office/drawing/2014/main" id="{17E36A7B-66B1-EF18-CD40-15FBFD91C2DC}"/>
              </a:ext>
            </a:extLst>
          </p:cNvPr>
          <p:cNvSpPr/>
          <p:nvPr/>
        </p:nvSpPr>
        <p:spPr>
          <a:xfrm>
            <a:off x="3647505" y="2002421"/>
            <a:ext cx="76718" cy="88408"/>
          </a:xfrm>
          <a:prstGeom prst="ellipse">
            <a:avLst/>
          </a:prstGeom>
          <a:solidFill>
            <a:schemeClr val="tx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C7C08041-3D31-839C-39AA-4AD7F145B694}"/>
              </a:ext>
            </a:extLst>
          </p:cNvPr>
          <p:cNvCxnSpPr>
            <a:cxnSpLocks/>
          </p:cNvCxnSpPr>
          <p:nvPr/>
        </p:nvCxnSpPr>
        <p:spPr>
          <a:xfrm>
            <a:off x="3508200" y="2040077"/>
            <a:ext cx="139305" cy="12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8F64E575-1DE1-9C0C-ADA3-070FC1382DDF}"/>
              </a:ext>
            </a:extLst>
          </p:cNvPr>
          <p:cNvCxnSpPr/>
          <p:nvPr/>
        </p:nvCxnSpPr>
        <p:spPr>
          <a:xfrm>
            <a:off x="3799924" y="1849223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A13A7D98-ED11-9B26-0309-45A7BC3BC05D}"/>
              </a:ext>
            </a:extLst>
          </p:cNvPr>
          <p:cNvCxnSpPr>
            <a:cxnSpLocks/>
          </p:cNvCxnSpPr>
          <p:nvPr/>
        </p:nvCxnSpPr>
        <p:spPr>
          <a:xfrm>
            <a:off x="3814160" y="1942289"/>
            <a:ext cx="19967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BE80A455-7E31-E7EA-9DA9-A209CA70BD99}"/>
              </a:ext>
            </a:extLst>
          </p:cNvPr>
          <p:cNvCxnSpPr>
            <a:cxnSpLocks/>
          </p:cNvCxnSpPr>
          <p:nvPr/>
        </p:nvCxnSpPr>
        <p:spPr>
          <a:xfrm>
            <a:off x="3811679" y="2163512"/>
            <a:ext cx="20215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E07F5055-0B33-FABE-3EC2-1D292350232E}"/>
              </a:ext>
            </a:extLst>
          </p:cNvPr>
          <p:cNvCxnSpPr>
            <a:cxnSpLocks/>
          </p:cNvCxnSpPr>
          <p:nvPr/>
        </p:nvCxnSpPr>
        <p:spPr>
          <a:xfrm>
            <a:off x="2776101" y="2377552"/>
            <a:ext cx="72671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4D3E49F4-780D-01E3-265C-A366BC293877}"/>
              </a:ext>
            </a:extLst>
          </p:cNvPr>
          <p:cNvCxnSpPr>
            <a:cxnSpLocks/>
          </p:cNvCxnSpPr>
          <p:nvPr/>
        </p:nvCxnSpPr>
        <p:spPr>
          <a:xfrm>
            <a:off x="3983505" y="2162408"/>
            <a:ext cx="0" cy="93085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34D4B15-F457-E3F2-024E-2C4F71AABBBA}"/>
              </a:ext>
            </a:extLst>
          </p:cNvPr>
          <p:cNvCxnSpPr>
            <a:cxnSpLocks/>
          </p:cNvCxnSpPr>
          <p:nvPr/>
        </p:nvCxnSpPr>
        <p:spPr>
          <a:xfrm>
            <a:off x="4011285" y="1580112"/>
            <a:ext cx="0" cy="365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7DED4C50-21A5-6AD2-A1AC-F6C8F31B392B}"/>
              </a:ext>
            </a:extLst>
          </p:cNvPr>
          <p:cNvCxnSpPr>
            <a:cxnSpLocks/>
          </p:cNvCxnSpPr>
          <p:nvPr/>
        </p:nvCxnSpPr>
        <p:spPr>
          <a:xfrm>
            <a:off x="4411169" y="4016411"/>
            <a:ext cx="0" cy="3581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0C503F88-373F-B59D-F176-4E8E1FFD4E2A}"/>
              </a:ext>
            </a:extLst>
          </p:cNvPr>
          <p:cNvCxnSpPr/>
          <p:nvPr/>
        </p:nvCxnSpPr>
        <p:spPr>
          <a:xfrm>
            <a:off x="3686423" y="3356298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5C642D39-B181-50A5-F30C-9E17901079F8}"/>
              </a:ext>
            </a:extLst>
          </p:cNvPr>
          <p:cNvCxnSpPr/>
          <p:nvPr/>
        </p:nvCxnSpPr>
        <p:spPr>
          <a:xfrm>
            <a:off x="3762123" y="3356298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711FE1A7-438F-8592-AB03-CF06100E8822}"/>
              </a:ext>
            </a:extLst>
          </p:cNvPr>
          <p:cNvCxnSpPr>
            <a:cxnSpLocks/>
          </p:cNvCxnSpPr>
          <p:nvPr/>
        </p:nvCxnSpPr>
        <p:spPr>
          <a:xfrm>
            <a:off x="3776359" y="3449364"/>
            <a:ext cx="1585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C09AD72C-926D-B47D-6E3F-BD24F61E618C}"/>
              </a:ext>
            </a:extLst>
          </p:cNvPr>
          <p:cNvCxnSpPr>
            <a:cxnSpLocks/>
          </p:cNvCxnSpPr>
          <p:nvPr/>
        </p:nvCxnSpPr>
        <p:spPr>
          <a:xfrm>
            <a:off x="3773878" y="3670587"/>
            <a:ext cx="16098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7B787B83-195E-D506-D83C-CBE0C8C1D31F}"/>
              </a:ext>
            </a:extLst>
          </p:cNvPr>
          <p:cNvCxnSpPr>
            <a:cxnSpLocks/>
          </p:cNvCxnSpPr>
          <p:nvPr/>
        </p:nvCxnSpPr>
        <p:spPr>
          <a:xfrm>
            <a:off x="3934863" y="3670587"/>
            <a:ext cx="0" cy="365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0D408F45-DF10-9F5A-196E-718B9A918FAD}"/>
              </a:ext>
            </a:extLst>
          </p:cNvPr>
          <p:cNvCxnSpPr>
            <a:cxnSpLocks/>
          </p:cNvCxnSpPr>
          <p:nvPr/>
        </p:nvCxnSpPr>
        <p:spPr>
          <a:xfrm>
            <a:off x="3934863" y="3093262"/>
            <a:ext cx="0" cy="365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6AD4F83C-4484-1622-8B02-DDD1F13F48F9}"/>
              </a:ext>
            </a:extLst>
          </p:cNvPr>
          <p:cNvCxnSpPr>
            <a:cxnSpLocks/>
          </p:cNvCxnSpPr>
          <p:nvPr/>
        </p:nvCxnSpPr>
        <p:spPr>
          <a:xfrm>
            <a:off x="3933836" y="4017628"/>
            <a:ext cx="49850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0CD88D01-9B91-9E13-FCC5-4961903B4C28}"/>
              </a:ext>
            </a:extLst>
          </p:cNvPr>
          <p:cNvCxnSpPr/>
          <p:nvPr/>
        </p:nvCxnSpPr>
        <p:spPr>
          <a:xfrm>
            <a:off x="3686423" y="4250357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7779F229-7222-151A-2807-8A4393B80E67}"/>
              </a:ext>
            </a:extLst>
          </p:cNvPr>
          <p:cNvCxnSpPr/>
          <p:nvPr/>
        </p:nvCxnSpPr>
        <p:spPr>
          <a:xfrm>
            <a:off x="3762123" y="4250357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Connecteur droit 102">
            <a:extLst>
              <a:ext uri="{FF2B5EF4-FFF2-40B4-BE49-F238E27FC236}">
                <a16:creationId xmlns:a16="http://schemas.microsoft.com/office/drawing/2014/main" id="{F35CC4BA-F378-EE63-C459-40F1F4E8572B}"/>
              </a:ext>
            </a:extLst>
          </p:cNvPr>
          <p:cNvCxnSpPr>
            <a:cxnSpLocks/>
          </p:cNvCxnSpPr>
          <p:nvPr/>
        </p:nvCxnSpPr>
        <p:spPr>
          <a:xfrm>
            <a:off x="3776359" y="4343423"/>
            <a:ext cx="1585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CBB43937-1C69-0647-F1A1-04E14E08A619}"/>
              </a:ext>
            </a:extLst>
          </p:cNvPr>
          <p:cNvCxnSpPr>
            <a:cxnSpLocks/>
          </p:cNvCxnSpPr>
          <p:nvPr/>
        </p:nvCxnSpPr>
        <p:spPr>
          <a:xfrm>
            <a:off x="3773878" y="4564646"/>
            <a:ext cx="16098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6240BC61-0D4A-5179-8FE2-990CB1829EA5}"/>
              </a:ext>
            </a:extLst>
          </p:cNvPr>
          <p:cNvCxnSpPr>
            <a:cxnSpLocks/>
          </p:cNvCxnSpPr>
          <p:nvPr/>
        </p:nvCxnSpPr>
        <p:spPr>
          <a:xfrm>
            <a:off x="3934863" y="4564646"/>
            <a:ext cx="0" cy="365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E3FAC0D8-F180-E1CA-97C2-AD2BFB659483}"/>
              </a:ext>
            </a:extLst>
          </p:cNvPr>
          <p:cNvCxnSpPr>
            <a:cxnSpLocks/>
          </p:cNvCxnSpPr>
          <p:nvPr/>
        </p:nvCxnSpPr>
        <p:spPr>
          <a:xfrm>
            <a:off x="3934863" y="3987321"/>
            <a:ext cx="0" cy="365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Connecteur droit 119">
            <a:extLst>
              <a:ext uri="{FF2B5EF4-FFF2-40B4-BE49-F238E27FC236}">
                <a16:creationId xmlns:a16="http://schemas.microsoft.com/office/drawing/2014/main" id="{0FF619DC-705D-E420-B0DF-A419BD1CCEBB}"/>
              </a:ext>
            </a:extLst>
          </p:cNvPr>
          <p:cNvCxnSpPr>
            <a:cxnSpLocks/>
          </p:cNvCxnSpPr>
          <p:nvPr/>
        </p:nvCxnSpPr>
        <p:spPr>
          <a:xfrm>
            <a:off x="3502815" y="3530929"/>
            <a:ext cx="16098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Connecteur droit 120">
            <a:extLst>
              <a:ext uri="{FF2B5EF4-FFF2-40B4-BE49-F238E27FC236}">
                <a16:creationId xmlns:a16="http://schemas.microsoft.com/office/drawing/2014/main" id="{AACEB169-C256-E36B-175B-548150B8839A}"/>
              </a:ext>
            </a:extLst>
          </p:cNvPr>
          <p:cNvCxnSpPr>
            <a:cxnSpLocks/>
          </p:cNvCxnSpPr>
          <p:nvPr/>
        </p:nvCxnSpPr>
        <p:spPr>
          <a:xfrm>
            <a:off x="3525438" y="4445680"/>
            <a:ext cx="16098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D5917E61-2E74-4806-BFD1-BF913777AD5E}"/>
              </a:ext>
            </a:extLst>
          </p:cNvPr>
          <p:cNvSpPr txBox="1"/>
          <p:nvPr/>
        </p:nvSpPr>
        <p:spPr>
          <a:xfrm>
            <a:off x="3342028" y="3271802"/>
            <a:ext cx="277938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S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332A3820-9355-B8EC-8886-167BAEF3B785}"/>
              </a:ext>
            </a:extLst>
          </p:cNvPr>
          <p:cNvSpPr txBox="1"/>
          <p:nvPr/>
        </p:nvSpPr>
        <p:spPr>
          <a:xfrm>
            <a:off x="3342020" y="4174528"/>
            <a:ext cx="38053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Sn</a:t>
            </a:r>
          </a:p>
        </p:txBody>
      </p: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D93E66C5-DA62-BD05-2936-A64A7EDB5D70}"/>
              </a:ext>
            </a:extLst>
          </p:cNvPr>
          <p:cNvCxnSpPr>
            <a:cxnSpLocks/>
          </p:cNvCxnSpPr>
          <p:nvPr/>
        </p:nvCxnSpPr>
        <p:spPr>
          <a:xfrm>
            <a:off x="6222049" y="4448652"/>
            <a:ext cx="3277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necteur droit 125">
            <a:extLst>
              <a:ext uri="{FF2B5EF4-FFF2-40B4-BE49-F238E27FC236}">
                <a16:creationId xmlns:a16="http://schemas.microsoft.com/office/drawing/2014/main" id="{D42AC351-ED16-51DF-7F3C-B2F3225036A9}"/>
              </a:ext>
            </a:extLst>
          </p:cNvPr>
          <p:cNvCxnSpPr>
            <a:cxnSpLocks/>
          </p:cNvCxnSpPr>
          <p:nvPr/>
        </p:nvCxnSpPr>
        <p:spPr>
          <a:xfrm>
            <a:off x="6386528" y="4448652"/>
            <a:ext cx="0" cy="5232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Connecteur droit 126">
            <a:extLst>
              <a:ext uri="{FF2B5EF4-FFF2-40B4-BE49-F238E27FC236}">
                <a16:creationId xmlns:a16="http://schemas.microsoft.com/office/drawing/2014/main" id="{5F6B5880-9802-3D22-08D0-297988B0FB7D}"/>
              </a:ext>
            </a:extLst>
          </p:cNvPr>
          <p:cNvCxnSpPr>
            <a:cxnSpLocks/>
          </p:cNvCxnSpPr>
          <p:nvPr/>
        </p:nvCxnSpPr>
        <p:spPr>
          <a:xfrm>
            <a:off x="6222049" y="4376644"/>
            <a:ext cx="3277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Connecteur droit 127">
            <a:extLst>
              <a:ext uri="{FF2B5EF4-FFF2-40B4-BE49-F238E27FC236}">
                <a16:creationId xmlns:a16="http://schemas.microsoft.com/office/drawing/2014/main" id="{EED637E0-AD60-A35A-0CE7-AB09BCC4B570}"/>
              </a:ext>
            </a:extLst>
          </p:cNvPr>
          <p:cNvCxnSpPr>
            <a:cxnSpLocks/>
          </p:cNvCxnSpPr>
          <p:nvPr/>
        </p:nvCxnSpPr>
        <p:spPr>
          <a:xfrm>
            <a:off x="6386528" y="4018474"/>
            <a:ext cx="0" cy="3581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Connecteur droit 128">
            <a:extLst>
              <a:ext uri="{FF2B5EF4-FFF2-40B4-BE49-F238E27FC236}">
                <a16:creationId xmlns:a16="http://schemas.microsoft.com/office/drawing/2014/main" id="{DA8BCF79-B36D-7FD5-2739-200AF418B49F}"/>
              </a:ext>
            </a:extLst>
          </p:cNvPr>
          <p:cNvCxnSpPr/>
          <p:nvPr/>
        </p:nvCxnSpPr>
        <p:spPr>
          <a:xfrm>
            <a:off x="5661782" y="3358361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Connecteur droit 129">
            <a:extLst>
              <a:ext uri="{FF2B5EF4-FFF2-40B4-BE49-F238E27FC236}">
                <a16:creationId xmlns:a16="http://schemas.microsoft.com/office/drawing/2014/main" id="{E884E92F-1B1F-79B7-FD7C-EE1ADFD296D3}"/>
              </a:ext>
            </a:extLst>
          </p:cNvPr>
          <p:cNvCxnSpPr/>
          <p:nvPr/>
        </p:nvCxnSpPr>
        <p:spPr>
          <a:xfrm>
            <a:off x="5737482" y="3358361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Connecteur droit 130">
            <a:extLst>
              <a:ext uri="{FF2B5EF4-FFF2-40B4-BE49-F238E27FC236}">
                <a16:creationId xmlns:a16="http://schemas.microsoft.com/office/drawing/2014/main" id="{EEA7E860-8D15-8F7A-CE2A-891FCC13D849}"/>
              </a:ext>
            </a:extLst>
          </p:cNvPr>
          <p:cNvCxnSpPr>
            <a:cxnSpLocks/>
          </p:cNvCxnSpPr>
          <p:nvPr/>
        </p:nvCxnSpPr>
        <p:spPr>
          <a:xfrm>
            <a:off x="5751718" y="3451427"/>
            <a:ext cx="1585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A5EEE4A6-7399-06D8-541E-F398DC322F31}"/>
              </a:ext>
            </a:extLst>
          </p:cNvPr>
          <p:cNvCxnSpPr>
            <a:cxnSpLocks/>
          </p:cNvCxnSpPr>
          <p:nvPr/>
        </p:nvCxnSpPr>
        <p:spPr>
          <a:xfrm>
            <a:off x="5749237" y="3672650"/>
            <a:ext cx="16098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Connecteur droit 132">
            <a:extLst>
              <a:ext uri="{FF2B5EF4-FFF2-40B4-BE49-F238E27FC236}">
                <a16:creationId xmlns:a16="http://schemas.microsoft.com/office/drawing/2014/main" id="{C57D0B72-AD04-55D1-8434-273855B039A0}"/>
              </a:ext>
            </a:extLst>
          </p:cNvPr>
          <p:cNvCxnSpPr>
            <a:cxnSpLocks/>
          </p:cNvCxnSpPr>
          <p:nvPr/>
        </p:nvCxnSpPr>
        <p:spPr>
          <a:xfrm>
            <a:off x="5910222" y="3672650"/>
            <a:ext cx="0" cy="365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Connecteur droit 133">
            <a:extLst>
              <a:ext uri="{FF2B5EF4-FFF2-40B4-BE49-F238E27FC236}">
                <a16:creationId xmlns:a16="http://schemas.microsoft.com/office/drawing/2014/main" id="{3186C45D-8490-5B81-837A-9E95D0ED2AD2}"/>
              </a:ext>
            </a:extLst>
          </p:cNvPr>
          <p:cNvCxnSpPr>
            <a:cxnSpLocks/>
          </p:cNvCxnSpPr>
          <p:nvPr/>
        </p:nvCxnSpPr>
        <p:spPr>
          <a:xfrm>
            <a:off x="5910222" y="3095325"/>
            <a:ext cx="0" cy="365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DC5D742D-7109-9496-89D5-5D97B6F6BF62}"/>
              </a:ext>
            </a:extLst>
          </p:cNvPr>
          <p:cNvCxnSpPr>
            <a:cxnSpLocks/>
          </p:cNvCxnSpPr>
          <p:nvPr/>
        </p:nvCxnSpPr>
        <p:spPr>
          <a:xfrm>
            <a:off x="5909195" y="4019691"/>
            <a:ext cx="49850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375515D8-A34C-69D9-BF94-F337BBCCE319}"/>
              </a:ext>
            </a:extLst>
          </p:cNvPr>
          <p:cNvCxnSpPr/>
          <p:nvPr/>
        </p:nvCxnSpPr>
        <p:spPr>
          <a:xfrm>
            <a:off x="5661782" y="4252420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Connecteur droit 141">
            <a:extLst>
              <a:ext uri="{FF2B5EF4-FFF2-40B4-BE49-F238E27FC236}">
                <a16:creationId xmlns:a16="http://schemas.microsoft.com/office/drawing/2014/main" id="{736EFE9C-2A32-F68E-F5FB-2349590275B7}"/>
              </a:ext>
            </a:extLst>
          </p:cNvPr>
          <p:cNvCxnSpPr/>
          <p:nvPr/>
        </p:nvCxnSpPr>
        <p:spPr>
          <a:xfrm>
            <a:off x="5737482" y="4252420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Connecteur droit 142">
            <a:extLst>
              <a:ext uri="{FF2B5EF4-FFF2-40B4-BE49-F238E27FC236}">
                <a16:creationId xmlns:a16="http://schemas.microsoft.com/office/drawing/2014/main" id="{449838D1-A09A-6A46-AA99-0340E4E5BAD7}"/>
              </a:ext>
            </a:extLst>
          </p:cNvPr>
          <p:cNvCxnSpPr>
            <a:cxnSpLocks/>
          </p:cNvCxnSpPr>
          <p:nvPr/>
        </p:nvCxnSpPr>
        <p:spPr>
          <a:xfrm>
            <a:off x="5751718" y="4345486"/>
            <a:ext cx="1585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Connecteur droit 143">
            <a:extLst>
              <a:ext uri="{FF2B5EF4-FFF2-40B4-BE49-F238E27FC236}">
                <a16:creationId xmlns:a16="http://schemas.microsoft.com/office/drawing/2014/main" id="{2499C422-B231-6E63-7F92-53E3D6FD8DAF}"/>
              </a:ext>
            </a:extLst>
          </p:cNvPr>
          <p:cNvCxnSpPr>
            <a:cxnSpLocks/>
          </p:cNvCxnSpPr>
          <p:nvPr/>
        </p:nvCxnSpPr>
        <p:spPr>
          <a:xfrm>
            <a:off x="5749237" y="4566709"/>
            <a:ext cx="16098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Connecteur droit 144">
            <a:extLst>
              <a:ext uri="{FF2B5EF4-FFF2-40B4-BE49-F238E27FC236}">
                <a16:creationId xmlns:a16="http://schemas.microsoft.com/office/drawing/2014/main" id="{DF301579-2BA8-3628-15AB-0424A66D258E}"/>
              </a:ext>
            </a:extLst>
          </p:cNvPr>
          <p:cNvCxnSpPr>
            <a:cxnSpLocks/>
          </p:cNvCxnSpPr>
          <p:nvPr/>
        </p:nvCxnSpPr>
        <p:spPr>
          <a:xfrm>
            <a:off x="5910222" y="4566709"/>
            <a:ext cx="0" cy="365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Connecteur droit 145">
            <a:extLst>
              <a:ext uri="{FF2B5EF4-FFF2-40B4-BE49-F238E27FC236}">
                <a16:creationId xmlns:a16="http://schemas.microsoft.com/office/drawing/2014/main" id="{193CCA56-BF35-74A0-646D-BFD57F87C810}"/>
              </a:ext>
            </a:extLst>
          </p:cNvPr>
          <p:cNvCxnSpPr>
            <a:cxnSpLocks/>
          </p:cNvCxnSpPr>
          <p:nvPr/>
        </p:nvCxnSpPr>
        <p:spPr>
          <a:xfrm>
            <a:off x="5910222" y="3989384"/>
            <a:ext cx="0" cy="365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Connecteur droit 146">
            <a:extLst>
              <a:ext uri="{FF2B5EF4-FFF2-40B4-BE49-F238E27FC236}">
                <a16:creationId xmlns:a16="http://schemas.microsoft.com/office/drawing/2014/main" id="{E853D6DB-16B6-FC33-DCF1-9FD93FD926E0}"/>
              </a:ext>
            </a:extLst>
          </p:cNvPr>
          <p:cNvCxnSpPr>
            <a:cxnSpLocks/>
          </p:cNvCxnSpPr>
          <p:nvPr/>
        </p:nvCxnSpPr>
        <p:spPr>
          <a:xfrm>
            <a:off x="5478174" y="3532992"/>
            <a:ext cx="16098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Connecteur droit 147">
            <a:extLst>
              <a:ext uri="{FF2B5EF4-FFF2-40B4-BE49-F238E27FC236}">
                <a16:creationId xmlns:a16="http://schemas.microsoft.com/office/drawing/2014/main" id="{C17F55B6-7D88-2E53-D964-7090A6B37F3D}"/>
              </a:ext>
            </a:extLst>
          </p:cNvPr>
          <p:cNvCxnSpPr>
            <a:cxnSpLocks/>
          </p:cNvCxnSpPr>
          <p:nvPr/>
        </p:nvCxnSpPr>
        <p:spPr>
          <a:xfrm>
            <a:off x="5500797" y="4447743"/>
            <a:ext cx="16098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ZoneTexte 148">
            <a:extLst>
              <a:ext uri="{FF2B5EF4-FFF2-40B4-BE49-F238E27FC236}">
                <a16:creationId xmlns:a16="http://schemas.microsoft.com/office/drawing/2014/main" id="{1CBC2886-9779-CFE4-0B6E-DE88EDDA70AA}"/>
              </a:ext>
            </a:extLst>
          </p:cNvPr>
          <p:cNvSpPr txBox="1"/>
          <p:nvPr/>
        </p:nvSpPr>
        <p:spPr>
          <a:xfrm>
            <a:off x="5317387" y="3273865"/>
            <a:ext cx="38053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Sn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5474BE86-7E1A-0156-003F-92450C5D07EC}"/>
              </a:ext>
            </a:extLst>
          </p:cNvPr>
          <p:cNvSpPr txBox="1"/>
          <p:nvPr/>
        </p:nvSpPr>
        <p:spPr>
          <a:xfrm>
            <a:off x="5317379" y="4176591"/>
            <a:ext cx="277938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S</a:t>
            </a:r>
          </a:p>
        </p:txBody>
      </p:sp>
      <p:cxnSp>
        <p:nvCxnSpPr>
          <p:cNvPr id="151" name="Connecteur droit 150">
            <a:extLst>
              <a:ext uri="{FF2B5EF4-FFF2-40B4-BE49-F238E27FC236}">
                <a16:creationId xmlns:a16="http://schemas.microsoft.com/office/drawing/2014/main" id="{1C29D328-082B-C84C-4069-72F51923C45D}"/>
              </a:ext>
            </a:extLst>
          </p:cNvPr>
          <p:cNvCxnSpPr>
            <a:cxnSpLocks/>
          </p:cNvCxnSpPr>
          <p:nvPr/>
        </p:nvCxnSpPr>
        <p:spPr>
          <a:xfrm flipV="1">
            <a:off x="3933836" y="3085655"/>
            <a:ext cx="2637183" cy="267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ZoneTexte 163">
            <a:extLst>
              <a:ext uri="{FF2B5EF4-FFF2-40B4-BE49-F238E27FC236}">
                <a16:creationId xmlns:a16="http://schemas.microsoft.com/office/drawing/2014/main" id="{501C5140-77DC-464C-A23A-921B9670056B}"/>
              </a:ext>
            </a:extLst>
          </p:cNvPr>
          <p:cNvSpPr txBox="1"/>
          <p:nvPr/>
        </p:nvSpPr>
        <p:spPr>
          <a:xfrm>
            <a:off x="2802785" y="2410831"/>
            <a:ext cx="577700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/>
              <a:t>VRES</a:t>
            </a:r>
          </a:p>
        </p:txBody>
      </p:sp>
      <p:cxnSp>
        <p:nvCxnSpPr>
          <p:cNvPr id="165" name="Connecteur droit 164">
            <a:extLst>
              <a:ext uri="{FF2B5EF4-FFF2-40B4-BE49-F238E27FC236}">
                <a16:creationId xmlns:a16="http://schemas.microsoft.com/office/drawing/2014/main" id="{7D6284F4-7B79-BC30-9AC3-7BAD9E18C8F1}"/>
              </a:ext>
            </a:extLst>
          </p:cNvPr>
          <p:cNvCxnSpPr>
            <a:cxnSpLocks/>
          </p:cNvCxnSpPr>
          <p:nvPr/>
        </p:nvCxnSpPr>
        <p:spPr>
          <a:xfrm>
            <a:off x="4188720" y="2649467"/>
            <a:ext cx="2374286" cy="121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Connecteur droit 166">
            <a:extLst>
              <a:ext uri="{FF2B5EF4-FFF2-40B4-BE49-F238E27FC236}">
                <a16:creationId xmlns:a16="http://schemas.microsoft.com/office/drawing/2014/main" id="{CB3B338A-B26A-7896-1B2C-0D2C5C8C4208}"/>
              </a:ext>
            </a:extLst>
          </p:cNvPr>
          <p:cNvCxnSpPr>
            <a:cxnSpLocks/>
          </p:cNvCxnSpPr>
          <p:nvPr/>
        </p:nvCxnSpPr>
        <p:spPr>
          <a:xfrm>
            <a:off x="2806163" y="2648336"/>
            <a:ext cx="961996" cy="499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cteur droit 173">
            <a:extLst>
              <a:ext uri="{FF2B5EF4-FFF2-40B4-BE49-F238E27FC236}">
                <a16:creationId xmlns:a16="http://schemas.microsoft.com/office/drawing/2014/main" id="{28E8653B-D85A-ACC6-0958-EC8C1C0D042E}"/>
              </a:ext>
            </a:extLst>
          </p:cNvPr>
          <p:cNvCxnSpPr>
            <a:cxnSpLocks/>
          </p:cNvCxnSpPr>
          <p:nvPr/>
        </p:nvCxnSpPr>
        <p:spPr>
          <a:xfrm>
            <a:off x="3800942" y="2652567"/>
            <a:ext cx="371409" cy="5448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4" name="ZoneTexte 183">
            <a:extLst>
              <a:ext uri="{FF2B5EF4-FFF2-40B4-BE49-F238E27FC236}">
                <a16:creationId xmlns:a16="http://schemas.microsoft.com/office/drawing/2014/main" id="{BD4FCD5A-0EB4-8579-23D4-CFE0B345EE76}"/>
              </a:ext>
            </a:extLst>
          </p:cNvPr>
          <p:cNvSpPr txBox="1"/>
          <p:nvPr/>
        </p:nvSpPr>
        <p:spPr>
          <a:xfrm>
            <a:off x="4548318" y="4290701"/>
            <a:ext cx="39335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C1</a:t>
            </a:r>
          </a:p>
        </p:txBody>
      </p:sp>
      <p:sp>
        <p:nvSpPr>
          <p:cNvPr id="185" name="ZoneTexte 184">
            <a:extLst>
              <a:ext uri="{FF2B5EF4-FFF2-40B4-BE49-F238E27FC236}">
                <a16:creationId xmlns:a16="http://schemas.microsoft.com/office/drawing/2014/main" id="{773BCEAE-EFE9-845D-9B56-FA7307AB89D8}"/>
              </a:ext>
            </a:extLst>
          </p:cNvPr>
          <p:cNvSpPr txBox="1"/>
          <p:nvPr/>
        </p:nvSpPr>
        <p:spPr>
          <a:xfrm>
            <a:off x="6507112" y="4243996"/>
            <a:ext cx="39335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C1</a:t>
            </a:r>
          </a:p>
        </p:txBody>
      </p:sp>
      <p:cxnSp>
        <p:nvCxnSpPr>
          <p:cNvPr id="186" name="Connecteur droit 185">
            <a:extLst>
              <a:ext uri="{FF2B5EF4-FFF2-40B4-BE49-F238E27FC236}">
                <a16:creationId xmlns:a16="http://schemas.microsoft.com/office/drawing/2014/main" id="{0A475D18-36CE-C4BB-4C6F-9067156CA1B4}"/>
              </a:ext>
            </a:extLst>
          </p:cNvPr>
          <p:cNvCxnSpPr>
            <a:cxnSpLocks/>
          </p:cNvCxnSpPr>
          <p:nvPr/>
        </p:nvCxnSpPr>
        <p:spPr>
          <a:xfrm>
            <a:off x="4734041" y="3513170"/>
            <a:ext cx="3277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Connecteur droit 186">
            <a:extLst>
              <a:ext uri="{FF2B5EF4-FFF2-40B4-BE49-F238E27FC236}">
                <a16:creationId xmlns:a16="http://schemas.microsoft.com/office/drawing/2014/main" id="{712FCFB7-FC71-5ABF-95B5-075C8DB77675}"/>
              </a:ext>
            </a:extLst>
          </p:cNvPr>
          <p:cNvCxnSpPr>
            <a:cxnSpLocks/>
          </p:cNvCxnSpPr>
          <p:nvPr/>
        </p:nvCxnSpPr>
        <p:spPr>
          <a:xfrm>
            <a:off x="4898520" y="3513170"/>
            <a:ext cx="0" cy="14566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Connecteur droit 187">
            <a:extLst>
              <a:ext uri="{FF2B5EF4-FFF2-40B4-BE49-F238E27FC236}">
                <a16:creationId xmlns:a16="http://schemas.microsoft.com/office/drawing/2014/main" id="{62D13E33-3443-27D1-E078-D9E504F54F09}"/>
              </a:ext>
            </a:extLst>
          </p:cNvPr>
          <p:cNvCxnSpPr>
            <a:cxnSpLocks/>
          </p:cNvCxnSpPr>
          <p:nvPr/>
        </p:nvCxnSpPr>
        <p:spPr>
          <a:xfrm>
            <a:off x="4734041" y="3441162"/>
            <a:ext cx="3277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Connecteur droit 191">
            <a:extLst>
              <a:ext uri="{FF2B5EF4-FFF2-40B4-BE49-F238E27FC236}">
                <a16:creationId xmlns:a16="http://schemas.microsoft.com/office/drawing/2014/main" id="{C5513D01-1C7A-9E2C-0BA9-31B31FDBCFDB}"/>
              </a:ext>
            </a:extLst>
          </p:cNvPr>
          <p:cNvCxnSpPr>
            <a:cxnSpLocks/>
          </p:cNvCxnSpPr>
          <p:nvPr/>
        </p:nvCxnSpPr>
        <p:spPr>
          <a:xfrm>
            <a:off x="4898520" y="3082992"/>
            <a:ext cx="0" cy="3581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ZoneTexte 192">
            <a:extLst>
              <a:ext uri="{FF2B5EF4-FFF2-40B4-BE49-F238E27FC236}">
                <a16:creationId xmlns:a16="http://schemas.microsoft.com/office/drawing/2014/main" id="{3E0D53D7-4870-A3CC-47D7-2D72DB758EFF}"/>
              </a:ext>
            </a:extLst>
          </p:cNvPr>
          <p:cNvSpPr txBox="1"/>
          <p:nvPr/>
        </p:nvSpPr>
        <p:spPr>
          <a:xfrm>
            <a:off x="4404492" y="3314415"/>
            <a:ext cx="39335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C2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DC96AAC7-2809-0220-2702-036F0D80904B}"/>
              </a:ext>
            </a:extLst>
          </p:cNvPr>
          <p:cNvSpPr/>
          <p:nvPr/>
        </p:nvSpPr>
        <p:spPr>
          <a:xfrm rot="16200000">
            <a:off x="6849331" y="2307440"/>
            <a:ext cx="183938" cy="71928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99" name="ZoneTexte 198">
            <a:extLst>
              <a:ext uri="{FF2B5EF4-FFF2-40B4-BE49-F238E27FC236}">
                <a16:creationId xmlns:a16="http://schemas.microsoft.com/office/drawing/2014/main" id="{B9A7FC47-8B44-1752-1060-32821028DDC0}"/>
              </a:ext>
            </a:extLst>
          </p:cNvPr>
          <p:cNvSpPr txBox="1"/>
          <p:nvPr/>
        </p:nvSpPr>
        <p:spPr>
          <a:xfrm>
            <a:off x="6795737" y="2520106"/>
            <a:ext cx="337250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dirty="0"/>
              <a:t>Rf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601924FA-35BB-F57A-0817-756F15E83E6F}"/>
              </a:ext>
            </a:extLst>
          </p:cNvPr>
          <p:cNvSpPr/>
          <p:nvPr/>
        </p:nvSpPr>
        <p:spPr>
          <a:xfrm rot="16200000">
            <a:off x="6860535" y="2733618"/>
            <a:ext cx="183938" cy="71928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201" name="ZoneTexte 200">
            <a:extLst>
              <a:ext uri="{FF2B5EF4-FFF2-40B4-BE49-F238E27FC236}">
                <a16:creationId xmlns:a16="http://schemas.microsoft.com/office/drawing/2014/main" id="{9DAE2F2A-D52C-4AAA-D2AE-7BF449E7F1A3}"/>
              </a:ext>
            </a:extLst>
          </p:cNvPr>
          <p:cNvSpPr txBox="1"/>
          <p:nvPr/>
        </p:nvSpPr>
        <p:spPr>
          <a:xfrm>
            <a:off x="6806941" y="2946284"/>
            <a:ext cx="337250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dirty="0"/>
              <a:t>Rf</a:t>
            </a:r>
          </a:p>
        </p:txBody>
      </p:sp>
      <p:cxnSp>
        <p:nvCxnSpPr>
          <p:cNvPr id="202" name="Connecteur droit 201">
            <a:extLst>
              <a:ext uri="{FF2B5EF4-FFF2-40B4-BE49-F238E27FC236}">
                <a16:creationId xmlns:a16="http://schemas.microsoft.com/office/drawing/2014/main" id="{C998DAAC-1F3E-2E39-E78C-DEC76B7897A5}"/>
              </a:ext>
            </a:extLst>
          </p:cNvPr>
          <p:cNvCxnSpPr>
            <a:cxnSpLocks/>
          </p:cNvCxnSpPr>
          <p:nvPr/>
        </p:nvCxnSpPr>
        <p:spPr>
          <a:xfrm>
            <a:off x="7313258" y="3539561"/>
            <a:ext cx="3277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Connecteur droit 202">
            <a:extLst>
              <a:ext uri="{FF2B5EF4-FFF2-40B4-BE49-F238E27FC236}">
                <a16:creationId xmlns:a16="http://schemas.microsoft.com/office/drawing/2014/main" id="{468494FB-20B5-52E0-E6BA-AA6B5B1A318B}"/>
              </a:ext>
            </a:extLst>
          </p:cNvPr>
          <p:cNvCxnSpPr>
            <a:cxnSpLocks/>
          </p:cNvCxnSpPr>
          <p:nvPr/>
        </p:nvCxnSpPr>
        <p:spPr>
          <a:xfrm>
            <a:off x="7477737" y="3539561"/>
            <a:ext cx="0" cy="14302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Connecteur droit 205">
            <a:extLst>
              <a:ext uri="{FF2B5EF4-FFF2-40B4-BE49-F238E27FC236}">
                <a16:creationId xmlns:a16="http://schemas.microsoft.com/office/drawing/2014/main" id="{9F09BBBF-B4C9-6756-A703-855F73923F68}"/>
              </a:ext>
            </a:extLst>
          </p:cNvPr>
          <p:cNvCxnSpPr>
            <a:cxnSpLocks/>
          </p:cNvCxnSpPr>
          <p:nvPr/>
        </p:nvCxnSpPr>
        <p:spPr>
          <a:xfrm>
            <a:off x="7313258" y="3467553"/>
            <a:ext cx="3277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Connecteur droit 207">
            <a:extLst>
              <a:ext uri="{FF2B5EF4-FFF2-40B4-BE49-F238E27FC236}">
                <a16:creationId xmlns:a16="http://schemas.microsoft.com/office/drawing/2014/main" id="{8179AE65-BAE8-1D1C-3B27-990BE969B3DB}"/>
              </a:ext>
            </a:extLst>
          </p:cNvPr>
          <p:cNvCxnSpPr>
            <a:cxnSpLocks/>
          </p:cNvCxnSpPr>
          <p:nvPr/>
        </p:nvCxnSpPr>
        <p:spPr>
          <a:xfrm>
            <a:off x="7477737" y="3077608"/>
            <a:ext cx="0" cy="3899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0" name="ZoneTexte 209">
            <a:extLst>
              <a:ext uri="{FF2B5EF4-FFF2-40B4-BE49-F238E27FC236}">
                <a16:creationId xmlns:a16="http://schemas.microsoft.com/office/drawing/2014/main" id="{11BC062A-574F-FFBC-C34B-4D6B007E6FB7}"/>
              </a:ext>
            </a:extLst>
          </p:cNvPr>
          <p:cNvSpPr txBox="1"/>
          <p:nvPr/>
        </p:nvSpPr>
        <p:spPr>
          <a:xfrm>
            <a:off x="7598321" y="3334905"/>
            <a:ext cx="36129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Cf</a:t>
            </a:r>
          </a:p>
        </p:txBody>
      </p:sp>
      <p:cxnSp>
        <p:nvCxnSpPr>
          <p:cNvPr id="211" name="Connecteur droit 210">
            <a:extLst>
              <a:ext uri="{FF2B5EF4-FFF2-40B4-BE49-F238E27FC236}">
                <a16:creationId xmlns:a16="http://schemas.microsoft.com/office/drawing/2014/main" id="{9999BD34-0AF6-B9BF-FC43-664FA6AA3A08}"/>
              </a:ext>
            </a:extLst>
          </p:cNvPr>
          <p:cNvCxnSpPr>
            <a:cxnSpLocks/>
          </p:cNvCxnSpPr>
          <p:nvPr/>
        </p:nvCxnSpPr>
        <p:spPr>
          <a:xfrm>
            <a:off x="7952409" y="3540778"/>
            <a:ext cx="3277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cteur droit 211">
            <a:extLst>
              <a:ext uri="{FF2B5EF4-FFF2-40B4-BE49-F238E27FC236}">
                <a16:creationId xmlns:a16="http://schemas.microsoft.com/office/drawing/2014/main" id="{669C28AE-8925-0E7B-4108-8B697169BC9B}"/>
              </a:ext>
            </a:extLst>
          </p:cNvPr>
          <p:cNvCxnSpPr>
            <a:cxnSpLocks/>
          </p:cNvCxnSpPr>
          <p:nvPr/>
        </p:nvCxnSpPr>
        <p:spPr>
          <a:xfrm>
            <a:off x="8116888" y="3540778"/>
            <a:ext cx="0" cy="14290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cteur droit 212">
            <a:extLst>
              <a:ext uri="{FF2B5EF4-FFF2-40B4-BE49-F238E27FC236}">
                <a16:creationId xmlns:a16="http://schemas.microsoft.com/office/drawing/2014/main" id="{F5C91443-47F9-3726-0F3E-F378D6BB26F4}"/>
              </a:ext>
            </a:extLst>
          </p:cNvPr>
          <p:cNvCxnSpPr>
            <a:cxnSpLocks/>
          </p:cNvCxnSpPr>
          <p:nvPr/>
        </p:nvCxnSpPr>
        <p:spPr>
          <a:xfrm>
            <a:off x="7952409" y="3468770"/>
            <a:ext cx="3277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Connecteur droit 213">
            <a:extLst>
              <a:ext uri="{FF2B5EF4-FFF2-40B4-BE49-F238E27FC236}">
                <a16:creationId xmlns:a16="http://schemas.microsoft.com/office/drawing/2014/main" id="{37345B40-72F4-256A-50A8-5A88D1CBC019}"/>
              </a:ext>
            </a:extLst>
          </p:cNvPr>
          <p:cNvCxnSpPr>
            <a:cxnSpLocks/>
          </p:cNvCxnSpPr>
          <p:nvPr/>
        </p:nvCxnSpPr>
        <p:spPr>
          <a:xfrm>
            <a:off x="8116888" y="3158309"/>
            <a:ext cx="0" cy="3104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5" name="ZoneTexte 214">
            <a:extLst>
              <a:ext uri="{FF2B5EF4-FFF2-40B4-BE49-F238E27FC236}">
                <a16:creationId xmlns:a16="http://schemas.microsoft.com/office/drawing/2014/main" id="{E6586FEE-12B8-4D8A-90C0-9FD1E077651E}"/>
              </a:ext>
            </a:extLst>
          </p:cNvPr>
          <p:cNvSpPr txBox="1"/>
          <p:nvPr/>
        </p:nvSpPr>
        <p:spPr>
          <a:xfrm>
            <a:off x="8237472" y="3336122"/>
            <a:ext cx="36129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Cf</a:t>
            </a:r>
          </a:p>
        </p:txBody>
      </p:sp>
      <p:cxnSp>
        <p:nvCxnSpPr>
          <p:cNvPr id="219" name="Connecteur droit 218">
            <a:extLst>
              <a:ext uri="{FF2B5EF4-FFF2-40B4-BE49-F238E27FC236}">
                <a16:creationId xmlns:a16="http://schemas.microsoft.com/office/drawing/2014/main" id="{984C5B9E-B118-1C02-F4B8-388812B277CD}"/>
              </a:ext>
            </a:extLst>
          </p:cNvPr>
          <p:cNvCxnSpPr>
            <a:cxnSpLocks/>
          </p:cNvCxnSpPr>
          <p:nvPr/>
        </p:nvCxnSpPr>
        <p:spPr>
          <a:xfrm>
            <a:off x="7305527" y="2677297"/>
            <a:ext cx="110895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1" name="Connecteur droit 220">
            <a:extLst>
              <a:ext uri="{FF2B5EF4-FFF2-40B4-BE49-F238E27FC236}">
                <a16:creationId xmlns:a16="http://schemas.microsoft.com/office/drawing/2014/main" id="{C6FD145A-6480-CB0F-9FA8-D36ACCF211F5}"/>
              </a:ext>
            </a:extLst>
          </p:cNvPr>
          <p:cNvCxnSpPr>
            <a:cxnSpLocks/>
          </p:cNvCxnSpPr>
          <p:nvPr/>
        </p:nvCxnSpPr>
        <p:spPr>
          <a:xfrm>
            <a:off x="7317580" y="3077608"/>
            <a:ext cx="109689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2" name="Connecteur droit 221">
            <a:extLst>
              <a:ext uri="{FF2B5EF4-FFF2-40B4-BE49-F238E27FC236}">
                <a16:creationId xmlns:a16="http://schemas.microsoft.com/office/drawing/2014/main" id="{C36EB84D-B770-D343-C9E2-A1D395C2BA2D}"/>
              </a:ext>
            </a:extLst>
          </p:cNvPr>
          <p:cNvCxnSpPr>
            <a:cxnSpLocks/>
          </p:cNvCxnSpPr>
          <p:nvPr/>
        </p:nvCxnSpPr>
        <p:spPr>
          <a:xfrm flipV="1">
            <a:off x="8109879" y="2927861"/>
            <a:ext cx="0" cy="20755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Connecteur droit 233">
            <a:extLst>
              <a:ext uri="{FF2B5EF4-FFF2-40B4-BE49-F238E27FC236}">
                <a16:creationId xmlns:a16="http://schemas.microsoft.com/office/drawing/2014/main" id="{B3C8E808-CD68-1205-55E5-239170A07C10}"/>
              </a:ext>
            </a:extLst>
          </p:cNvPr>
          <p:cNvCxnSpPr>
            <a:cxnSpLocks/>
          </p:cNvCxnSpPr>
          <p:nvPr/>
        </p:nvCxnSpPr>
        <p:spPr>
          <a:xfrm>
            <a:off x="8109879" y="2691669"/>
            <a:ext cx="0" cy="2499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5" name="Connecteur droit 244">
            <a:extLst>
              <a:ext uri="{FF2B5EF4-FFF2-40B4-BE49-F238E27FC236}">
                <a16:creationId xmlns:a16="http://schemas.microsoft.com/office/drawing/2014/main" id="{71B8AC81-A3D2-E9B4-F482-99C7A821CBED}"/>
              </a:ext>
            </a:extLst>
          </p:cNvPr>
          <p:cNvCxnSpPr>
            <a:cxnSpLocks/>
          </p:cNvCxnSpPr>
          <p:nvPr/>
        </p:nvCxnSpPr>
        <p:spPr>
          <a:xfrm>
            <a:off x="2782735" y="4955792"/>
            <a:ext cx="5327144" cy="1804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1" name="Connecteur droit 250">
            <a:extLst>
              <a:ext uri="{FF2B5EF4-FFF2-40B4-BE49-F238E27FC236}">
                <a16:creationId xmlns:a16="http://schemas.microsoft.com/office/drawing/2014/main" id="{BA8701E8-92E5-6D99-E250-73A0A81E2670}"/>
              </a:ext>
            </a:extLst>
          </p:cNvPr>
          <p:cNvCxnSpPr/>
          <p:nvPr/>
        </p:nvCxnSpPr>
        <p:spPr>
          <a:xfrm>
            <a:off x="2554632" y="4249688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3" name="Connecteur droit 252">
            <a:extLst>
              <a:ext uri="{FF2B5EF4-FFF2-40B4-BE49-F238E27FC236}">
                <a16:creationId xmlns:a16="http://schemas.microsoft.com/office/drawing/2014/main" id="{84F03011-3A39-1B84-B61E-CCCC3C7FFDD8}"/>
              </a:ext>
            </a:extLst>
          </p:cNvPr>
          <p:cNvCxnSpPr/>
          <p:nvPr/>
        </p:nvCxnSpPr>
        <p:spPr>
          <a:xfrm>
            <a:off x="2630332" y="4249688"/>
            <a:ext cx="0" cy="4047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4" name="Connecteur droit 253">
            <a:extLst>
              <a:ext uri="{FF2B5EF4-FFF2-40B4-BE49-F238E27FC236}">
                <a16:creationId xmlns:a16="http://schemas.microsoft.com/office/drawing/2014/main" id="{ACB6FDCB-02DD-949B-F36F-9B47D43411A5}"/>
              </a:ext>
            </a:extLst>
          </p:cNvPr>
          <p:cNvCxnSpPr>
            <a:cxnSpLocks/>
          </p:cNvCxnSpPr>
          <p:nvPr/>
        </p:nvCxnSpPr>
        <p:spPr>
          <a:xfrm>
            <a:off x="2644568" y="4342754"/>
            <a:ext cx="1585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Connecteur droit 254">
            <a:extLst>
              <a:ext uri="{FF2B5EF4-FFF2-40B4-BE49-F238E27FC236}">
                <a16:creationId xmlns:a16="http://schemas.microsoft.com/office/drawing/2014/main" id="{1F4B5A29-ADA2-A4AC-0615-445064603361}"/>
              </a:ext>
            </a:extLst>
          </p:cNvPr>
          <p:cNvCxnSpPr>
            <a:cxnSpLocks/>
          </p:cNvCxnSpPr>
          <p:nvPr/>
        </p:nvCxnSpPr>
        <p:spPr>
          <a:xfrm>
            <a:off x="2642087" y="4563977"/>
            <a:ext cx="16098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Connecteur droit 257">
            <a:extLst>
              <a:ext uri="{FF2B5EF4-FFF2-40B4-BE49-F238E27FC236}">
                <a16:creationId xmlns:a16="http://schemas.microsoft.com/office/drawing/2014/main" id="{387A3CA6-6E41-54DD-5C51-9DEAF01ABBB1}"/>
              </a:ext>
            </a:extLst>
          </p:cNvPr>
          <p:cNvCxnSpPr>
            <a:cxnSpLocks/>
          </p:cNvCxnSpPr>
          <p:nvPr/>
        </p:nvCxnSpPr>
        <p:spPr>
          <a:xfrm>
            <a:off x="2803072" y="4563977"/>
            <a:ext cx="0" cy="365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9" name="Connecteur droit 258">
            <a:extLst>
              <a:ext uri="{FF2B5EF4-FFF2-40B4-BE49-F238E27FC236}">
                <a16:creationId xmlns:a16="http://schemas.microsoft.com/office/drawing/2014/main" id="{92ACFF21-0857-0B4B-EB35-EA836A7319A7}"/>
              </a:ext>
            </a:extLst>
          </p:cNvPr>
          <p:cNvCxnSpPr>
            <a:cxnSpLocks/>
            <a:stCxn id="276" idx="2"/>
          </p:cNvCxnSpPr>
          <p:nvPr/>
        </p:nvCxnSpPr>
        <p:spPr>
          <a:xfrm>
            <a:off x="1781120" y="4440381"/>
            <a:ext cx="773512" cy="463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2" name="Connecteur droit 261">
            <a:extLst>
              <a:ext uri="{FF2B5EF4-FFF2-40B4-BE49-F238E27FC236}">
                <a16:creationId xmlns:a16="http://schemas.microsoft.com/office/drawing/2014/main" id="{0FBAC4EC-9481-AA7A-E448-00B906C8620E}"/>
              </a:ext>
            </a:extLst>
          </p:cNvPr>
          <p:cNvCxnSpPr>
            <a:cxnSpLocks/>
          </p:cNvCxnSpPr>
          <p:nvPr/>
        </p:nvCxnSpPr>
        <p:spPr>
          <a:xfrm>
            <a:off x="2769810" y="4036421"/>
            <a:ext cx="0" cy="30700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8" name="Triangle isocèle 267">
            <a:extLst>
              <a:ext uri="{FF2B5EF4-FFF2-40B4-BE49-F238E27FC236}">
                <a16:creationId xmlns:a16="http://schemas.microsoft.com/office/drawing/2014/main" id="{DA4471F3-9AF5-E0F0-5F26-35B4D62FD91D}"/>
              </a:ext>
            </a:extLst>
          </p:cNvPr>
          <p:cNvSpPr/>
          <p:nvPr/>
        </p:nvSpPr>
        <p:spPr>
          <a:xfrm rot="5400000">
            <a:off x="1288790" y="4215899"/>
            <a:ext cx="323432" cy="459563"/>
          </a:xfrm>
          <a:prstGeom prst="triangle">
            <a:avLst/>
          </a:prstGeom>
          <a:solidFill>
            <a:srgbClr val="57CF80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B5C2B048-D61E-DEBC-F2B5-79954F7A700F}"/>
              </a:ext>
            </a:extLst>
          </p:cNvPr>
          <p:cNvSpPr/>
          <p:nvPr/>
        </p:nvSpPr>
        <p:spPr>
          <a:xfrm flipH="1">
            <a:off x="1641009" y="4374581"/>
            <a:ext cx="140111" cy="131599"/>
          </a:xfrm>
          <a:prstGeom prst="ellipse">
            <a:avLst/>
          </a:prstGeom>
          <a:solidFill>
            <a:schemeClr val="tx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290" name="Connecteur droit 289">
            <a:extLst>
              <a:ext uri="{FF2B5EF4-FFF2-40B4-BE49-F238E27FC236}">
                <a16:creationId xmlns:a16="http://schemas.microsoft.com/office/drawing/2014/main" id="{22ACDF70-8907-264C-C636-F6E655F8A7F2}"/>
              </a:ext>
            </a:extLst>
          </p:cNvPr>
          <p:cNvCxnSpPr>
            <a:cxnSpLocks/>
          </p:cNvCxnSpPr>
          <p:nvPr/>
        </p:nvCxnSpPr>
        <p:spPr>
          <a:xfrm rot="16200000">
            <a:off x="8691715" y="2058592"/>
            <a:ext cx="3277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Connecteur droit 290">
            <a:extLst>
              <a:ext uri="{FF2B5EF4-FFF2-40B4-BE49-F238E27FC236}">
                <a16:creationId xmlns:a16="http://schemas.microsoft.com/office/drawing/2014/main" id="{95A6E5DA-760B-B577-0F19-072B49933ECA}"/>
              </a:ext>
            </a:extLst>
          </p:cNvPr>
          <p:cNvCxnSpPr>
            <a:cxnSpLocks/>
          </p:cNvCxnSpPr>
          <p:nvPr/>
        </p:nvCxnSpPr>
        <p:spPr>
          <a:xfrm flipV="1">
            <a:off x="8855606" y="2058003"/>
            <a:ext cx="1046923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2" name="Connecteur droit 291">
            <a:extLst>
              <a:ext uri="{FF2B5EF4-FFF2-40B4-BE49-F238E27FC236}">
                <a16:creationId xmlns:a16="http://schemas.microsoft.com/office/drawing/2014/main" id="{08944F55-E287-D7A3-0763-1788221A9571}"/>
              </a:ext>
            </a:extLst>
          </p:cNvPr>
          <p:cNvCxnSpPr>
            <a:cxnSpLocks/>
          </p:cNvCxnSpPr>
          <p:nvPr/>
        </p:nvCxnSpPr>
        <p:spPr>
          <a:xfrm rot="16200000">
            <a:off x="8619707" y="2058592"/>
            <a:ext cx="3277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Connecteur droit 292">
            <a:extLst>
              <a:ext uri="{FF2B5EF4-FFF2-40B4-BE49-F238E27FC236}">
                <a16:creationId xmlns:a16="http://schemas.microsoft.com/office/drawing/2014/main" id="{E271054C-E32D-C962-EA54-3A67A15557DC}"/>
              </a:ext>
            </a:extLst>
          </p:cNvPr>
          <p:cNvCxnSpPr>
            <a:cxnSpLocks/>
          </p:cNvCxnSpPr>
          <p:nvPr/>
        </p:nvCxnSpPr>
        <p:spPr>
          <a:xfrm>
            <a:off x="8109879" y="2058005"/>
            <a:ext cx="67371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6" name="Connecteur droit 295">
            <a:extLst>
              <a:ext uri="{FF2B5EF4-FFF2-40B4-BE49-F238E27FC236}">
                <a16:creationId xmlns:a16="http://schemas.microsoft.com/office/drawing/2014/main" id="{9D8949B3-9DB3-9D59-3043-CD652E8561A9}"/>
              </a:ext>
            </a:extLst>
          </p:cNvPr>
          <p:cNvCxnSpPr>
            <a:cxnSpLocks/>
          </p:cNvCxnSpPr>
          <p:nvPr/>
        </p:nvCxnSpPr>
        <p:spPr>
          <a:xfrm>
            <a:off x="8111327" y="2068726"/>
            <a:ext cx="0" cy="6176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0" name="Connecteur droit 299">
            <a:extLst>
              <a:ext uri="{FF2B5EF4-FFF2-40B4-BE49-F238E27FC236}">
                <a16:creationId xmlns:a16="http://schemas.microsoft.com/office/drawing/2014/main" id="{4813DA67-14B1-8AE4-48C8-C898627835C4}"/>
              </a:ext>
            </a:extLst>
          </p:cNvPr>
          <p:cNvCxnSpPr>
            <a:cxnSpLocks/>
          </p:cNvCxnSpPr>
          <p:nvPr/>
        </p:nvCxnSpPr>
        <p:spPr>
          <a:xfrm>
            <a:off x="9910079" y="2056928"/>
            <a:ext cx="0" cy="111860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2" name="Connecteur droit 301">
            <a:extLst>
              <a:ext uri="{FF2B5EF4-FFF2-40B4-BE49-F238E27FC236}">
                <a16:creationId xmlns:a16="http://schemas.microsoft.com/office/drawing/2014/main" id="{FBF6E8A4-2C56-3777-68DD-15BA51D7214C}"/>
              </a:ext>
            </a:extLst>
          </p:cNvPr>
          <p:cNvCxnSpPr>
            <a:cxnSpLocks/>
          </p:cNvCxnSpPr>
          <p:nvPr/>
        </p:nvCxnSpPr>
        <p:spPr>
          <a:xfrm>
            <a:off x="9561713" y="2863624"/>
            <a:ext cx="348366" cy="33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4" name="Triangle isocèle 303">
            <a:extLst>
              <a:ext uri="{FF2B5EF4-FFF2-40B4-BE49-F238E27FC236}">
                <a16:creationId xmlns:a16="http://schemas.microsoft.com/office/drawing/2014/main" id="{A1049C6A-D9FD-2A46-27F3-EEA3844D7269}"/>
              </a:ext>
            </a:extLst>
          </p:cNvPr>
          <p:cNvSpPr/>
          <p:nvPr/>
        </p:nvSpPr>
        <p:spPr>
          <a:xfrm rot="10800000">
            <a:off x="9574225" y="3176872"/>
            <a:ext cx="1023297" cy="993359"/>
          </a:xfrm>
          <a:prstGeom prst="triangle">
            <a:avLst/>
          </a:prstGeom>
          <a:solidFill>
            <a:srgbClr val="57CF80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305" name="ZoneTexte 304">
            <a:extLst>
              <a:ext uri="{FF2B5EF4-FFF2-40B4-BE49-F238E27FC236}">
                <a16:creationId xmlns:a16="http://schemas.microsoft.com/office/drawing/2014/main" id="{26F1A7E6-98C1-7DAC-6537-A35A17336509}"/>
              </a:ext>
            </a:extLst>
          </p:cNvPr>
          <p:cNvSpPr txBox="1"/>
          <p:nvPr/>
        </p:nvSpPr>
        <p:spPr>
          <a:xfrm>
            <a:off x="9764660" y="3120781"/>
            <a:ext cx="585715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+      -</a:t>
            </a:r>
          </a:p>
        </p:txBody>
      </p:sp>
      <p:cxnSp>
        <p:nvCxnSpPr>
          <p:cNvPr id="308" name="Connecteur droit 307">
            <a:extLst>
              <a:ext uri="{FF2B5EF4-FFF2-40B4-BE49-F238E27FC236}">
                <a16:creationId xmlns:a16="http://schemas.microsoft.com/office/drawing/2014/main" id="{F9690B70-9387-AE92-0407-CC3BE6FB64D0}"/>
              </a:ext>
            </a:extLst>
          </p:cNvPr>
          <p:cNvCxnSpPr>
            <a:cxnSpLocks/>
            <a:stCxn id="112" idx="2"/>
          </p:cNvCxnSpPr>
          <p:nvPr/>
        </p:nvCxnSpPr>
        <p:spPr>
          <a:xfrm>
            <a:off x="10333539" y="1379039"/>
            <a:ext cx="14612" cy="179649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0" name="ZoneTexte 309">
            <a:extLst>
              <a:ext uri="{FF2B5EF4-FFF2-40B4-BE49-F238E27FC236}">
                <a16:creationId xmlns:a16="http://schemas.microsoft.com/office/drawing/2014/main" id="{D8CD6B34-D987-7F9C-7D9A-4A79D98187DA}"/>
              </a:ext>
            </a:extLst>
          </p:cNvPr>
          <p:cNvSpPr txBox="1"/>
          <p:nvPr/>
        </p:nvSpPr>
        <p:spPr>
          <a:xfrm>
            <a:off x="8527626" y="2726629"/>
            <a:ext cx="8149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OPAMP</a:t>
            </a:r>
          </a:p>
        </p:txBody>
      </p:sp>
      <p:sp>
        <p:nvSpPr>
          <p:cNvPr id="311" name="ZoneTexte 310">
            <a:extLst>
              <a:ext uri="{FF2B5EF4-FFF2-40B4-BE49-F238E27FC236}">
                <a16:creationId xmlns:a16="http://schemas.microsoft.com/office/drawing/2014/main" id="{A2CC535F-BF97-9FA3-C6A0-A54E2C5BACE0}"/>
              </a:ext>
            </a:extLst>
          </p:cNvPr>
          <p:cNvSpPr txBox="1"/>
          <p:nvPr/>
        </p:nvSpPr>
        <p:spPr>
          <a:xfrm>
            <a:off x="9825940" y="3382457"/>
            <a:ext cx="599155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VCO</a:t>
            </a: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36DF9C55-5A07-BF13-11E7-A97451AB8564}"/>
              </a:ext>
            </a:extLst>
          </p:cNvPr>
          <p:cNvSpPr/>
          <p:nvPr/>
        </p:nvSpPr>
        <p:spPr>
          <a:xfrm>
            <a:off x="8959503" y="5492253"/>
            <a:ext cx="682569" cy="617346"/>
          </a:xfrm>
          <a:prstGeom prst="rect">
            <a:avLst/>
          </a:prstGeom>
          <a:solidFill>
            <a:srgbClr val="57CF80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15" name="ZoneTexte 314">
            <a:extLst>
              <a:ext uri="{FF2B5EF4-FFF2-40B4-BE49-F238E27FC236}">
                <a16:creationId xmlns:a16="http://schemas.microsoft.com/office/drawing/2014/main" id="{91DB2391-214F-539E-5254-5D19504F3D0B}"/>
              </a:ext>
            </a:extLst>
          </p:cNvPr>
          <p:cNvSpPr txBox="1"/>
          <p:nvPr/>
        </p:nvSpPr>
        <p:spPr>
          <a:xfrm>
            <a:off x="4606575" y="2826032"/>
            <a:ext cx="481520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/>
              <a:t>VSC</a:t>
            </a:r>
          </a:p>
        </p:txBody>
      </p:sp>
      <p:sp>
        <p:nvSpPr>
          <p:cNvPr id="316" name="ZoneTexte 315">
            <a:extLst>
              <a:ext uri="{FF2B5EF4-FFF2-40B4-BE49-F238E27FC236}">
                <a16:creationId xmlns:a16="http://schemas.microsoft.com/office/drawing/2014/main" id="{E0A6914A-3E4B-F2B8-7647-707655283A28}"/>
              </a:ext>
            </a:extLst>
          </p:cNvPr>
          <p:cNvSpPr txBox="1"/>
          <p:nvPr/>
        </p:nvSpPr>
        <p:spPr>
          <a:xfrm>
            <a:off x="9112253" y="5621701"/>
            <a:ext cx="44946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%2</a:t>
            </a: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2EE82D60-D8E4-54A4-432E-AA0903BA98F0}"/>
              </a:ext>
            </a:extLst>
          </p:cNvPr>
          <p:cNvSpPr/>
          <p:nvPr/>
        </p:nvSpPr>
        <p:spPr>
          <a:xfrm>
            <a:off x="7909113" y="5505330"/>
            <a:ext cx="682569" cy="617346"/>
          </a:xfrm>
          <a:prstGeom prst="rect">
            <a:avLst/>
          </a:prstGeom>
          <a:solidFill>
            <a:srgbClr val="57CF80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18" name="ZoneTexte 317">
            <a:extLst>
              <a:ext uri="{FF2B5EF4-FFF2-40B4-BE49-F238E27FC236}">
                <a16:creationId xmlns:a16="http://schemas.microsoft.com/office/drawing/2014/main" id="{9FC82C80-7F3F-24F8-B7FC-0BCD11908656}"/>
              </a:ext>
            </a:extLst>
          </p:cNvPr>
          <p:cNvSpPr txBox="1"/>
          <p:nvPr/>
        </p:nvSpPr>
        <p:spPr>
          <a:xfrm>
            <a:off x="8014112" y="5659024"/>
            <a:ext cx="44946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%2</a:t>
            </a:r>
          </a:p>
        </p:txBody>
      </p:sp>
      <p:cxnSp>
        <p:nvCxnSpPr>
          <p:cNvPr id="320" name="Connecteur droit avec flèche 319">
            <a:extLst>
              <a:ext uri="{FF2B5EF4-FFF2-40B4-BE49-F238E27FC236}">
                <a16:creationId xmlns:a16="http://schemas.microsoft.com/office/drawing/2014/main" id="{FE7F78C5-1A19-0F30-5ABB-B124F24D7DF3}"/>
              </a:ext>
            </a:extLst>
          </p:cNvPr>
          <p:cNvCxnSpPr>
            <a:cxnSpLocks/>
          </p:cNvCxnSpPr>
          <p:nvPr/>
        </p:nvCxnSpPr>
        <p:spPr>
          <a:xfrm flipH="1">
            <a:off x="8607042" y="5801176"/>
            <a:ext cx="33311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3" name="Connecteur droit avec flèche 322">
            <a:extLst>
              <a:ext uri="{FF2B5EF4-FFF2-40B4-BE49-F238E27FC236}">
                <a16:creationId xmlns:a16="http://schemas.microsoft.com/office/drawing/2014/main" id="{37E2828E-56EA-DC58-496E-10FA97840FE0}"/>
              </a:ext>
            </a:extLst>
          </p:cNvPr>
          <p:cNvCxnSpPr>
            <a:cxnSpLocks/>
          </p:cNvCxnSpPr>
          <p:nvPr/>
        </p:nvCxnSpPr>
        <p:spPr>
          <a:xfrm flipH="1">
            <a:off x="7576001" y="5800926"/>
            <a:ext cx="33311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4" name="Rectangle 323">
            <a:extLst>
              <a:ext uri="{FF2B5EF4-FFF2-40B4-BE49-F238E27FC236}">
                <a16:creationId xmlns:a16="http://schemas.microsoft.com/office/drawing/2014/main" id="{298F15D0-A215-1F1F-EBA9-24254DB46CC0}"/>
              </a:ext>
            </a:extLst>
          </p:cNvPr>
          <p:cNvSpPr/>
          <p:nvPr/>
        </p:nvSpPr>
        <p:spPr>
          <a:xfrm>
            <a:off x="6873493" y="5508669"/>
            <a:ext cx="682569" cy="617346"/>
          </a:xfrm>
          <a:prstGeom prst="rect">
            <a:avLst/>
          </a:prstGeom>
          <a:solidFill>
            <a:srgbClr val="57CF80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25" name="ZoneTexte 324">
            <a:extLst>
              <a:ext uri="{FF2B5EF4-FFF2-40B4-BE49-F238E27FC236}">
                <a16:creationId xmlns:a16="http://schemas.microsoft.com/office/drawing/2014/main" id="{9137A522-8654-3B44-046C-C85BEF014988}"/>
              </a:ext>
            </a:extLst>
          </p:cNvPr>
          <p:cNvSpPr txBox="1"/>
          <p:nvPr/>
        </p:nvSpPr>
        <p:spPr>
          <a:xfrm>
            <a:off x="6978492" y="5662363"/>
            <a:ext cx="44946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%2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31DE32B7-1C09-2F14-448D-B7D565AC5C63}"/>
              </a:ext>
            </a:extLst>
          </p:cNvPr>
          <p:cNvSpPr/>
          <p:nvPr/>
        </p:nvSpPr>
        <p:spPr>
          <a:xfrm>
            <a:off x="5823103" y="5521746"/>
            <a:ext cx="682569" cy="617346"/>
          </a:xfrm>
          <a:prstGeom prst="rect">
            <a:avLst/>
          </a:prstGeom>
          <a:solidFill>
            <a:srgbClr val="57CF80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27" name="ZoneTexte 326">
            <a:extLst>
              <a:ext uri="{FF2B5EF4-FFF2-40B4-BE49-F238E27FC236}">
                <a16:creationId xmlns:a16="http://schemas.microsoft.com/office/drawing/2014/main" id="{5D15E0E4-78E1-B326-1DC4-AF39D003C93B}"/>
              </a:ext>
            </a:extLst>
          </p:cNvPr>
          <p:cNvSpPr txBox="1"/>
          <p:nvPr/>
        </p:nvSpPr>
        <p:spPr>
          <a:xfrm>
            <a:off x="5928102" y="5675440"/>
            <a:ext cx="44946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%2</a:t>
            </a:r>
          </a:p>
        </p:txBody>
      </p:sp>
      <p:cxnSp>
        <p:nvCxnSpPr>
          <p:cNvPr id="328" name="Connecteur droit avec flèche 327">
            <a:extLst>
              <a:ext uri="{FF2B5EF4-FFF2-40B4-BE49-F238E27FC236}">
                <a16:creationId xmlns:a16="http://schemas.microsoft.com/office/drawing/2014/main" id="{D9EC10AC-DADD-42D3-A401-EB5C8039233E}"/>
              </a:ext>
            </a:extLst>
          </p:cNvPr>
          <p:cNvCxnSpPr>
            <a:cxnSpLocks/>
          </p:cNvCxnSpPr>
          <p:nvPr/>
        </p:nvCxnSpPr>
        <p:spPr>
          <a:xfrm flipH="1">
            <a:off x="6549832" y="5788437"/>
            <a:ext cx="33311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9" name="Connecteur droit avec flèche 328">
            <a:extLst>
              <a:ext uri="{FF2B5EF4-FFF2-40B4-BE49-F238E27FC236}">
                <a16:creationId xmlns:a16="http://schemas.microsoft.com/office/drawing/2014/main" id="{FA958C08-9EBB-C550-51E8-3829B4D82CAA}"/>
              </a:ext>
            </a:extLst>
          </p:cNvPr>
          <p:cNvCxnSpPr>
            <a:cxnSpLocks/>
          </p:cNvCxnSpPr>
          <p:nvPr/>
        </p:nvCxnSpPr>
        <p:spPr>
          <a:xfrm flipH="1">
            <a:off x="5195501" y="5788437"/>
            <a:ext cx="62689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9" name="Connecteur droit avec flèche 338">
            <a:extLst>
              <a:ext uri="{FF2B5EF4-FFF2-40B4-BE49-F238E27FC236}">
                <a16:creationId xmlns:a16="http://schemas.microsoft.com/office/drawing/2014/main" id="{A494E55F-DC68-F51D-5B25-5C9A9D47C980}"/>
              </a:ext>
            </a:extLst>
          </p:cNvPr>
          <p:cNvCxnSpPr>
            <a:cxnSpLocks/>
          </p:cNvCxnSpPr>
          <p:nvPr/>
        </p:nvCxnSpPr>
        <p:spPr>
          <a:xfrm flipH="1">
            <a:off x="9622047" y="5821912"/>
            <a:ext cx="4817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1" name="Connecteur droit 340">
            <a:extLst>
              <a:ext uri="{FF2B5EF4-FFF2-40B4-BE49-F238E27FC236}">
                <a16:creationId xmlns:a16="http://schemas.microsoft.com/office/drawing/2014/main" id="{6D45D6F4-B6B1-3553-816A-B2022CD16DF8}"/>
              </a:ext>
            </a:extLst>
          </p:cNvPr>
          <p:cNvCxnSpPr>
            <a:cxnSpLocks/>
          </p:cNvCxnSpPr>
          <p:nvPr/>
        </p:nvCxnSpPr>
        <p:spPr>
          <a:xfrm>
            <a:off x="10083084" y="4159247"/>
            <a:ext cx="0" cy="166266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4" name="ZoneTexte 343">
            <a:extLst>
              <a:ext uri="{FF2B5EF4-FFF2-40B4-BE49-F238E27FC236}">
                <a16:creationId xmlns:a16="http://schemas.microsoft.com/office/drawing/2014/main" id="{88A1F468-6F62-0C77-C77E-55F58CD5C6A7}"/>
              </a:ext>
            </a:extLst>
          </p:cNvPr>
          <p:cNvSpPr txBox="1"/>
          <p:nvPr/>
        </p:nvSpPr>
        <p:spPr>
          <a:xfrm>
            <a:off x="10044588" y="5255162"/>
            <a:ext cx="572891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/>
              <a:t>96Mhz</a:t>
            </a:r>
          </a:p>
        </p:txBody>
      </p:sp>
      <p:sp>
        <p:nvSpPr>
          <p:cNvPr id="346" name="ZoneTexte 345">
            <a:extLst>
              <a:ext uri="{FF2B5EF4-FFF2-40B4-BE49-F238E27FC236}">
                <a16:creationId xmlns:a16="http://schemas.microsoft.com/office/drawing/2014/main" id="{9413C023-65B6-1C8E-6C2A-563DF27AA274}"/>
              </a:ext>
            </a:extLst>
          </p:cNvPr>
          <p:cNvSpPr txBox="1"/>
          <p:nvPr/>
        </p:nvSpPr>
        <p:spPr>
          <a:xfrm>
            <a:off x="7445805" y="5237939"/>
            <a:ext cx="572891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/>
              <a:t>24Mhz</a:t>
            </a:r>
          </a:p>
        </p:txBody>
      </p:sp>
      <p:sp>
        <p:nvSpPr>
          <p:cNvPr id="347" name="ZoneTexte 346">
            <a:extLst>
              <a:ext uri="{FF2B5EF4-FFF2-40B4-BE49-F238E27FC236}">
                <a16:creationId xmlns:a16="http://schemas.microsoft.com/office/drawing/2014/main" id="{E79409E6-E2C7-DD87-6281-870A8E41BA05}"/>
              </a:ext>
            </a:extLst>
          </p:cNvPr>
          <p:cNvSpPr txBox="1"/>
          <p:nvPr/>
        </p:nvSpPr>
        <p:spPr>
          <a:xfrm>
            <a:off x="6425799" y="5237939"/>
            <a:ext cx="572891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/>
              <a:t>12Mhz</a:t>
            </a:r>
          </a:p>
        </p:txBody>
      </p:sp>
      <p:sp>
        <p:nvSpPr>
          <p:cNvPr id="348" name="ZoneTexte 347">
            <a:extLst>
              <a:ext uri="{FF2B5EF4-FFF2-40B4-BE49-F238E27FC236}">
                <a16:creationId xmlns:a16="http://schemas.microsoft.com/office/drawing/2014/main" id="{75A84870-700C-5678-9558-51FBBE9031FF}"/>
              </a:ext>
            </a:extLst>
          </p:cNvPr>
          <p:cNvSpPr txBox="1"/>
          <p:nvPr/>
        </p:nvSpPr>
        <p:spPr>
          <a:xfrm>
            <a:off x="5306245" y="5236286"/>
            <a:ext cx="500756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/>
              <a:t>6Mhz</a:t>
            </a: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DC2B39D6-30B0-D68F-9700-A9634AECB2DC}"/>
              </a:ext>
            </a:extLst>
          </p:cNvPr>
          <p:cNvSpPr/>
          <p:nvPr/>
        </p:nvSpPr>
        <p:spPr>
          <a:xfrm>
            <a:off x="4360333" y="5521746"/>
            <a:ext cx="826585" cy="64613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8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355" name="Connecteur droit avec flèche 354">
            <a:extLst>
              <a:ext uri="{FF2B5EF4-FFF2-40B4-BE49-F238E27FC236}">
                <a16:creationId xmlns:a16="http://schemas.microsoft.com/office/drawing/2014/main" id="{24EB63FF-BE8B-F9FE-1A92-500F89CE6F4C}"/>
              </a:ext>
            </a:extLst>
          </p:cNvPr>
          <p:cNvCxnSpPr>
            <a:cxnSpLocks/>
          </p:cNvCxnSpPr>
          <p:nvPr/>
        </p:nvCxnSpPr>
        <p:spPr>
          <a:xfrm flipH="1">
            <a:off x="4016532" y="5665762"/>
            <a:ext cx="33311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6" name="Connecteur droit avec flèche 355">
            <a:extLst>
              <a:ext uri="{FF2B5EF4-FFF2-40B4-BE49-F238E27FC236}">
                <a16:creationId xmlns:a16="http://schemas.microsoft.com/office/drawing/2014/main" id="{CD51FE2B-9B83-4106-9518-399706059DE9}"/>
              </a:ext>
            </a:extLst>
          </p:cNvPr>
          <p:cNvCxnSpPr>
            <a:cxnSpLocks/>
          </p:cNvCxnSpPr>
          <p:nvPr/>
        </p:nvCxnSpPr>
        <p:spPr>
          <a:xfrm flipH="1">
            <a:off x="4027221" y="5965928"/>
            <a:ext cx="33311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7" name="ZoneTexte 356">
            <a:extLst>
              <a:ext uri="{FF2B5EF4-FFF2-40B4-BE49-F238E27FC236}">
                <a16:creationId xmlns:a16="http://schemas.microsoft.com/office/drawing/2014/main" id="{9D3C28DF-E542-2761-6ADB-705B30CFC86A}"/>
              </a:ext>
            </a:extLst>
          </p:cNvPr>
          <p:cNvSpPr txBox="1"/>
          <p:nvPr/>
        </p:nvSpPr>
        <p:spPr>
          <a:xfrm>
            <a:off x="3762123" y="5466579"/>
            <a:ext cx="277938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S</a:t>
            </a:r>
          </a:p>
        </p:txBody>
      </p:sp>
      <p:sp>
        <p:nvSpPr>
          <p:cNvPr id="358" name="ZoneTexte 357">
            <a:extLst>
              <a:ext uri="{FF2B5EF4-FFF2-40B4-BE49-F238E27FC236}">
                <a16:creationId xmlns:a16="http://schemas.microsoft.com/office/drawing/2014/main" id="{BC66B50C-7D01-8793-2E28-C6322B400E4A}"/>
              </a:ext>
            </a:extLst>
          </p:cNvPr>
          <p:cNvSpPr txBox="1"/>
          <p:nvPr/>
        </p:nvSpPr>
        <p:spPr>
          <a:xfrm>
            <a:off x="3748010" y="5782144"/>
            <a:ext cx="38053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Sn</a:t>
            </a:r>
          </a:p>
        </p:txBody>
      </p:sp>
      <p:cxnSp>
        <p:nvCxnSpPr>
          <p:cNvPr id="360" name="Connecteur droit avec flèche 359">
            <a:extLst>
              <a:ext uri="{FF2B5EF4-FFF2-40B4-BE49-F238E27FC236}">
                <a16:creationId xmlns:a16="http://schemas.microsoft.com/office/drawing/2014/main" id="{61944C28-A826-4D26-A781-7E117C8A62D0}"/>
              </a:ext>
            </a:extLst>
          </p:cNvPr>
          <p:cNvCxnSpPr>
            <a:cxnSpLocks/>
            <a:endCxn id="264" idx="0"/>
          </p:cNvCxnSpPr>
          <p:nvPr/>
        </p:nvCxnSpPr>
        <p:spPr>
          <a:xfrm>
            <a:off x="8869872" y="5789182"/>
            <a:ext cx="0" cy="6225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3" name="ZoneTexte 362">
            <a:extLst>
              <a:ext uri="{FF2B5EF4-FFF2-40B4-BE49-F238E27FC236}">
                <a16:creationId xmlns:a16="http://schemas.microsoft.com/office/drawing/2014/main" id="{CF1C7C92-F401-1212-31A8-FCDF68C960B3}"/>
              </a:ext>
            </a:extLst>
          </p:cNvPr>
          <p:cNvSpPr txBox="1"/>
          <p:nvPr/>
        </p:nvSpPr>
        <p:spPr>
          <a:xfrm>
            <a:off x="3765716" y="3434169"/>
            <a:ext cx="561670" cy="217625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800" dirty="0"/>
              <a:t>nmos5V</a:t>
            </a:r>
          </a:p>
        </p:txBody>
      </p:sp>
      <p:sp>
        <p:nvSpPr>
          <p:cNvPr id="364" name="ZoneTexte 363">
            <a:extLst>
              <a:ext uri="{FF2B5EF4-FFF2-40B4-BE49-F238E27FC236}">
                <a16:creationId xmlns:a16="http://schemas.microsoft.com/office/drawing/2014/main" id="{2EB6820B-163B-6F43-E5C8-F99DEB968B78}"/>
              </a:ext>
            </a:extLst>
          </p:cNvPr>
          <p:cNvSpPr txBox="1"/>
          <p:nvPr/>
        </p:nvSpPr>
        <p:spPr>
          <a:xfrm>
            <a:off x="3749991" y="4343953"/>
            <a:ext cx="561670" cy="217625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800" dirty="0"/>
              <a:t>nmos5V</a:t>
            </a:r>
          </a:p>
        </p:txBody>
      </p:sp>
      <p:sp>
        <p:nvSpPr>
          <p:cNvPr id="365" name="ZoneTexte 364">
            <a:extLst>
              <a:ext uri="{FF2B5EF4-FFF2-40B4-BE49-F238E27FC236}">
                <a16:creationId xmlns:a16="http://schemas.microsoft.com/office/drawing/2014/main" id="{EABE6822-1147-4999-DEBA-B50D8369CC6B}"/>
              </a:ext>
            </a:extLst>
          </p:cNvPr>
          <p:cNvSpPr txBox="1"/>
          <p:nvPr/>
        </p:nvSpPr>
        <p:spPr>
          <a:xfrm>
            <a:off x="5735144" y="3419621"/>
            <a:ext cx="561670" cy="217625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800" dirty="0"/>
              <a:t>nmos5V</a:t>
            </a:r>
          </a:p>
        </p:txBody>
      </p:sp>
      <p:sp>
        <p:nvSpPr>
          <p:cNvPr id="366" name="ZoneTexte 365">
            <a:extLst>
              <a:ext uri="{FF2B5EF4-FFF2-40B4-BE49-F238E27FC236}">
                <a16:creationId xmlns:a16="http://schemas.microsoft.com/office/drawing/2014/main" id="{C8CEAD25-0786-2151-6ADE-5B4A8C476626}"/>
              </a:ext>
            </a:extLst>
          </p:cNvPr>
          <p:cNvSpPr txBox="1"/>
          <p:nvPr/>
        </p:nvSpPr>
        <p:spPr>
          <a:xfrm>
            <a:off x="5745742" y="4316667"/>
            <a:ext cx="561670" cy="217625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800" dirty="0"/>
              <a:t>nmos5V</a:t>
            </a:r>
          </a:p>
        </p:txBody>
      </p:sp>
      <p:cxnSp>
        <p:nvCxnSpPr>
          <p:cNvPr id="378" name="Connecteur droit avec flèche 377">
            <a:extLst>
              <a:ext uri="{FF2B5EF4-FFF2-40B4-BE49-F238E27FC236}">
                <a16:creationId xmlns:a16="http://schemas.microsoft.com/office/drawing/2014/main" id="{1B099655-F54D-40DD-98A6-0AA1D6BA7D97}"/>
              </a:ext>
            </a:extLst>
          </p:cNvPr>
          <p:cNvCxnSpPr>
            <a:cxnSpLocks/>
          </p:cNvCxnSpPr>
          <p:nvPr/>
        </p:nvCxnSpPr>
        <p:spPr>
          <a:xfrm>
            <a:off x="4559406" y="5212373"/>
            <a:ext cx="0" cy="3171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2" name="Rectangle 381">
            <a:extLst>
              <a:ext uri="{FF2B5EF4-FFF2-40B4-BE49-F238E27FC236}">
                <a16:creationId xmlns:a16="http://schemas.microsoft.com/office/drawing/2014/main" id="{DF6A2069-FC2A-D212-2C70-E7B99EF28C5A}"/>
              </a:ext>
            </a:extLst>
          </p:cNvPr>
          <p:cNvSpPr/>
          <p:nvPr/>
        </p:nvSpPr>
        <p:spPr>
          <a:xfrm>
            <a:off x="5341450" y="1222985"/>
            <a:ext cx="144016" cy="1408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383" name="ZoneTexte 382">
            <a:extLst>
              <a:ext uri="{FF2B5EF4-FFF2-40B4-BE49-F238E27FC236}">
                <a16:creationId xmlns:a16="http://schemas.microsoft.com/office/drawing/2014/main" id="{CBF3546F-262F-856B-B7DC-E1A9104240C1}"/>
              </a:ext>
            </a:extLst>
          </p:cNvPr>
          <p:cNvSpPr txBox="1"/>
          <p:nvPr/>
        </p:nvSpPr>
        <p:spPr>
          <a:xfrm>
            <a:off x="4972122" y="963915"/>
            <a:ext cx="909521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sz="1200" b="1" dirty="0">
                <a:highlight>
                  <a:srgbClr val="FFFF00"/>
                </a:highlight>
              </a:rPr>
              <a:t>VCCA(5V)</a:t>
            </a:r>
          </a:p>
        </p:txBody>
      </p:sp>
      <p:cxnSp>
        <p:nvCxnSpPr>
          <p:cNvPr id="395" name="Connecteur droit avec flèche 394">
            <a:extLst>
              <a:ext uri="{FF2B5EF4-FFF2-40B4-BE49-F238E27FC236}">
                <a16:creationId xmlns:a16="http://schemas.microsoft.com/office/drawing/2014/main" id="{4E23E8D9-7814-9C7C-C488-B69D3AD8BD5F}"/>
              </a:ext>
            </a:extLst>
          </p:cNvPr>
          <p:cNvCxnSpPr>
            <a:cxnSpLocks/>
          </p:cNvCxnSpPr>
          <p:nvPr/>
        </p:nvCxnSpPr>
        <p:spPr>
          <a:xfrm>
            <a:off x="3983505" y="2168864"/>
            <a:ext cx="0" cy="3373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7" name="ZoneTexte 396">
            <a:extLst>
              <a:ext uri="{FF2B5EF4-FFF2-40B4-BE49-F238E27FC236}">
                <a16:creationId xmlns:a16="http://schemas.microsoft.com/office/drawing/2014/main" id="{D33C6E7E-1F78-B534-3ED7-1B5F577E3C6F}"/>
              </a:ext>
            </a:extLst>
          </p:cNvPr>
          <p:cNvSpPr txBox="1"/>
          <p:nvPr/>
        </p:nvSpPr>
        <p:spPr>
          <a:xfrm>
            <a:off x="3991965" y="2148498"/>
            <a:ext cx="515182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i="1" dirty="0"/>
              <a:t>IRES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AE23553B-C3AE-84EF-5F59-4A8247EDB6ED}"/>
              </a:ext>
            </a:extLst>
          </p:cNvPr>
          <p:cNvSpPr/>
          <p:nvPr/>
        </p:nvSpPr>
        <p:spPr>
          <a:xfrm>
            <a:off x="7717744" y="6411716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00" name="ZoneTexte 399">
            <a:extLst>
              <a:ext uri="{FF2B5EF4-FFF2-40B4-BE49-F238E27FC236}">
                <a16:creationId xmlns:a16="http://schemas.microsoft.com/office/drawing/2014/main" id="{EE88B527-60C5-02F6-0C38-96E16ACB7D9F}"/>
              </a:ext>
            </a:extLst>
          </p:cNvPr>
          <p:cNvSpPr txBox="1"/>
          <p:nvPr/>
        </p:nvSpPr>
        <p:spPr>
          <a:xfrm>
            <a:off x="7584205" y="6542234"/>
            <a:ext cx="584112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00FF00"/>
                </a:highlight>
              </a:rPr>
              <a:t>F24M</a:t>
            </a:r>
          </a:p>
        </p:txBody>
      </p:sp>
      <p:cxnSp>
        <p:nvCxnSpPr>
          <p:cNvPr id="401" name="Connecteur droit avec flèche 400">
            <a:extLst>
              <a:ext uri="{FF2B5EF4-FFF2-40B4-BE49-F238E27FC236}">
                <a16:creationId xmlns:a16="http://schemas.microsoft.com/office/drawing/2014/main" id="{F743CCFA-4EA5-91C9-E565-3C34799F0EA4}"/>
              </a:ext>
            </a:extLst>
          </p:cNvPr>
          <p:cNvCxnSpPr>
            <a:cxnSpLocks/>
            <a:endCxn id="399" idx="0"/>
          </p:cNvCxnSpPr>
          <p:nvPr/>
        </p:nvCxnSpPr>
        <p:spPr>
          <a:xfrm>
            <a:off x="7789752" y="5789182"/>
            <a:ext cx="0" cy="6225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2" name="Rectangle 401">
            <a:extLst>
              <a:ext uri="{FF2B5EF4-FFF2-40B4-BE49-F238E27FC236}">
                <a16:creationId xmlns:a16="http://schemas.microsoft.com/office/drawing/2014/main" id="{938812D0-6D41-E71F-B033-BC0F5C6811A0}"/>
              </a:ext>
            </a:extLst>
          </p:cNvPr>
          <p:cNvSpPr/>
          <p:nvPr/>
        </p:nvSpPr>
        <p:spPr>
          <a:xfrm>
            <a:off x="6653388" y="6411716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03" name="ZoneTexte 402">
            <a:extLst>
              <a:ext uri="{FF2B5EF4-FFF2-40B4-BE49-F238E27FC236}">
                <a16:creationId xmlns:a16="http://schemas.microsoft.com/office/drawing/2014/main" id="{5D68D0F0-1C0C-44EF-F032-5A4569F40EC5}"/>
              </a:ext>
            </a:extLst>
          </p:cNvPr>
          <p:cNvSpPr txBox="1"/>
          <p:nvPr/>
        </p:nvSpPr>
        <p:spPr>
          <a:xfrm>
            <a:off x="6455603" y="6537113"/>
            <a:ext cx="584112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00FF00"/>
                </a:highlight>
              </a:rPr>
              <a:t>F12M</a:t>
            </a:r>
          </a:p>
        </p:txBody>
      </p:sp>
      <p:cxnSp>
        <p:nvCxnSpPr>
          <p:cNvPr id="404" name="Connecteur droit avec flèche 403">
            <a:extLst>
              <a:ext uri="{FF2B5EF4-FFF2-40B4-BE49-F238E27FC236}">
                <a16:creationId xmlns:a16="http://schemas.microsoft.com/office/drawing/2014/main" id="{3041BEF1-83A0-30AA-D92F-4A50D66E0FD2}"/>
              </a:ext>
            </a:extLst>
          </p:cNvPr>
          <p:cNvCxnSpPr>
            <a:cxnSpLocks/>
            <a:endCxn id="402" idx="0"/>
          </p:cNvCxnSpPr>
          <p:nvPr/>
        </p:nvCxnSpPr>
        <p:spPr>
          <a:xfrm>
            <a:off x="6725396" y="5788437"/>
            <a:ext cx="0" cy="6232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5" name="Rectangle 404">
            <a:extLst>
              <a:ext uri="{FF2B5EF4-FFF2-40B4-BE49-F238E27FC236}">
                <a16:creationId xmlns:a16="http://schemas.microsoft.com/office/drawing/2014/main" id="{CBD70570-93D4-C441-F731-F8AD57DF8160}"/>
              </a:ext>
            </a:extLst>
          </p:cNvPr>
          <p:cNvSpPr/>
          <p:nvPr/>
        </p:nvSpPr>
        <p:spPr>
          <a:xfrm>
            <a:off x="5440561" y="6402235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06" name="ZoneTexte 405">
            <a:extLst>
              <a:ext uri="{FF2B5EF4-FFF2-40B4-BE49-F238E27FC236}">
                <a16:creationId xmlns:a16="http://schemas.microsoft.com/office/drawing/2014/main" id="{994CBB58-F93F-D271-E612-06B846332F97}"/>
              </a:ext>
            </a:extLst>
          </p:cNvPr>
          <p:cNvSpPr txBox="1"/>
          <p:nvPr/>
        </p:nvSpPr>
        <p:spPr>
          <a:xfrm>
            <a:off x="5263521" y="6535489"/>
            <a:ext cx="495946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00FF00"/>
                </a:highlight>
              </a:rPr>
              <a:t>F6M</a:t>
            </a:r>
          </a:p>
        </p:txBody>
      </p:sp>
      <p:cxnSp>
        <p:nvCxnSpPr>
          <p:cNvPr id="407" name="Connecteur droit avec flèche 406">
            <a:extLst>
              <a:ext uri="{FF2B5EF4-FFF2-40B4-BE49-F238E27FC236}">
                <a16:creationId xmlns:a16="http://schemas.microsoft.com/office/drawing/2014/main" id="{F448AEBF-03AA-0274-D401-1A8F40611804}"/>
              </a:ext>
            </a:extLst>
          </p:cNvPr>
          <p:cNvCxnSpPr>
            <a:cxnSpLocks/>
            <a:endCxn id="405" idx="0"/>
          </p:cNvCxnSpPr>
          <p:nvPr/>
        </p:nvCxnSpPr>
        <p:spPr>
          <a:xfrm>
            <a:off x="5512569" y="5788437"/>
            <a:ext cx="0" cy="6137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8" name="Connecteur droit 407">
            <a:extLst>
              <a:ext uri="{FF2B5EF4-FFF2-40B4-BE49-F238E27FC236}">
                <a16:creationId xmlns:a16="http://schemas.microsoft.com/office/drawing/2014/main" id="{7E15479D-8267-BECC-E090-9D90BD5263EC}"/>
              </a:ext>
            </a:extLst>
          </p:cNvPr>
          <p:cNvCxnSpPr>
            <a:cxnSpLocks/>
          </p:cNvCxnSpPr>
          <p:nvPr/>
        </p:nvCxnSpPr>
        <p:spPr>
          <a:xfrm>
            <a:off x="2807964" y="1592051"/>
            <a:ext cx="120077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1" name="Connecteur droit 410">
            <a:extLst>
              <a:ext uri="{FF2B5EF4-FFF2-40B4-BE49-F238E27FC236}">
                <a16:creationId xmlns:a16="http://schemas.microsoft.com/office/drawing/2014/main" id="{88FD7E0C-A474-C985-8CAD-C46862DF9E21}"/>
              </a:ext>
            </a:extLst>
          </p:cNvPr>
          <p:cNvCxnSpPr>
            <a:cxnSpLocks/>
          </p:cNvCxnSpPr>
          <p:nvPr/>
        </p:nvCxnSpPr>
        <p:spPr>
          <a:xfrm>
            <a:off x="3342020" y="1365124"/>
            <a:ext cx="0" cy="2149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7" name="ZoneTexte 416">
            <a:extLst>
              <a:ext uri="{FF2B5EF4-FFF2-40B4-BE49-F238E27FC236}">
                <a16:creationId xmlns:a16="http://schemas.microsoft.com/office/drawing/2014/main" id="{81DB1DFE-BAF1-A810-8286-6F82BC11C265}"/>
              </a:ext>
            </a:extLst>
          </p:cNvPr>
          <p:cNvSpPr txBox="1"/>
          <p:nvPr/>
        </p:nvSpPr>
        <p:spPr>
          <a:xfrm>
            <a:off x="8555854" y="1608050"/>
            <a:ext cx="39656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Cg</a:t>
            </a:r>
          </a:p>
        </p:txBody>
      </p:sp>
      <p:sp>
        <p:nvSpPr>
          <p:cNvPr id="421" name="Ellipse 420">
            <a:extLst>
              <a:ext uri="{FF2B5EF4-FFF2-40B4-BE49-F238E27FC236}">
                <a16:creationId xmlns:a16="http://schemas.microsoft.com/office/drawing/2014/main" id="{B382CB79-1F26-C839-7FD9-4F59B982C7D9}"/>
              </a:ext>
            </a:extLst>
          </p:cNvPr>
          <p:cNvSpPr/>
          <p:nvPr/>
        </p:nvSpPr>
        <p:spPr>
          <a:xfrm>
            <a:off x="8039319" y="2627835"/>
            <a:ext cx="144016" cy="88408"/>
          </a:xfrm>
          <a:prstGeom prst="ellipse">
            <a:avLst/>
          </a:prstGeom>
          <a:solidFill>
            <a:schemeClr val="tx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22" name="Ellipse 421">
            <a:extLst>
              <a:ext uri="{FF2B5EF4-FFF2-40B4-BE49-F238E27FC236}">
                <a16:creationId xmlns:a16="http://schemas.microsoft.com/office/drawing/2014/main" id="{0CE2969C-1D51-953A-14C5-AF705FBEC74D}"/>
              </a:ext>
            </a:extLst>
          </p:cNvPr>
          <p:cNvSpPr/>
          <p:nvPr/>
        </p:nvSpPr>
        <p:spPr>
          <a:xfrm>
            <a:off x="7405978" y="3047734"/>
            <a:ext cx="144016" cy="88408"/>
          </a:xfrm>
          <a:prstGeom prst="ellipse">
            <a:avLst/>
          </a:prstGeom>
          <a:solidFill>
            <a:schemeClr val="tx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6E33EAF8-0BF7-C3AA-4DB2-1613623C7DD7}"/>
              </a:ext>
            </a:extLst>
          </p:cNvPr>
          <p:cNvSpPr/>
          <p:nvPr/>
        </p:nvSpPr>
        <p:spPr>
          <a:xfrm>
            <a:off x="628321" y="3361270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24" name="ZoneTexte 423">
            <a:extLst>
              <a:ext uri="{FF2B5EF4-FFF2-40B4-BE49-F238E27FC236}">
                <a16:creationId xmlns:a16="http://schemas.microsoft.com/office/drawing/2014/main" id="{0F1C073E-55CC-544A-A27F-DE7A3F5F42EC}"/>
              </a:ext>
            </a:extLst>
          </p:cNvPr>
          <p:cNvSpPr txBox="1"/>
          <p:nvPr/>
        </p:nvSpPr>
        <p:spPr>
          <a:xfrm>
            <a:off x="5049841" y="4747563"/>
            <a:ext cx="452666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/>
              <a:t>GND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3EF97B10-07E0-CD6D-8DBC-C90593C6C80A}"/>
              </a:ext>
            </a:extLst>
          </p:cNvPr>
          <p:cNvSpPr/>
          <p:nvPr/>
        </p:nvSpPr>
        <p:spPr>
          <a:xfrm>
            <a:off x="11099762" y="3689812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27" name="ZoneTexte 426">
            <a:extLst>
              <a:ext uri="{FF2B5EF4-FFF2-40B4-BE49-F238E27FC236}">
                <a16:creationId xmlns:a16="http://schemas.microsoft.com/office/drawing/2014/main" id="{9541EC2F-591C-72C2-36A8-082655B9EB97}"/>
              </a:ext>
            </a:extLst>
          </p:cNvPr>
          <p:cNvSpPr txBox="1"/>
          <p:nvPr/>
        </p:nvSpPr>
        <p:spPr>
          <a:xfrm>
            <a:off x="11204068" y="3605039"/>
            <a:ext cx="673880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00FF00"/>
                </a:highlight>
              </a:rPr>
              <a:t>START</a:t>
            </a:r>
          </a:p>
        </p:txBody>
      </p:sp>
      <p:cxnSp>
        <p:nvCxnSpPr>
          <p:cNvPr id="428" name="Connecteur droit avec flèche 427">
            <a:extLst>
              <a:ext uri="{FF2B5EF4-FFF2-40B4-BE49-F238E27FC236}">
                <a16:creationId xmlns:a16="http://schemas.microsoft.com/office/drawing/2014/main" id="{D86774E3-5480-FEBD-A488-6F671CE01511}"/>
              </a:ext>
            </a:extLst>
          </p:cNvPr>
          <p:cNvCxnSpPr>
            <a:cxnSpLocks/>
          </p:cNvCxnSpPr>
          <p:nvPr/>
        </p:nvCxnSpPr>
        <p:spPr>
          <a:xfrm flipH="1">
            <a:off x="10322240" y="3748643"/>
            <a:ext cx="763964" cy="123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8" name="ZoneTexte 437">
            <a:extLst>
              <a:ext uri="{FF2B5EF4-FFF2-40B4-BE49-F238E27FC236}">
                <a16:creationId xmlns:a16="http://schemas.microsoft.com/office/drawing/2014/main" id="{89F5BF1C-04B6-E556-33B8-456F8212DE0D}"/>
              </a:ext>
            </a:extLst>
          </p:cNvPr>
          <p:cNvSpPr txBox="1"/>
          <p:nvPr/>
        </p:nvSpPr>
        <p:spPr>
          <a:xfrm>
            <a:off x="6126401" y="1382104"/>
            <a:ext cx="1512167" cy="569194"/>
          </a:xfrm>
          <a:prstGeom prst="rect">
            <a:avLst/>
          </a:prstGeom>
          <a:solidFill>
            <a:srgbClr val="57CF80"/>
          </a:solidFill>
          <a:ln w="28575">
            <a:solidFill>
              <a:schemeClr val="tx1"/>
            </a:solidFill>
          </a:ln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endParaRPr lang="fr-FR" sz="1400" dirty="0" err="1"/>
          </a:p>
        </p:txBody>
      </p:sp>
      <p:sp>
        <p:nvSpPr>
          <p:cNvPr id="439" name="ZoneTexte 438">
            <a:extLst>
              <a:ext uri="{FF2B5EF4-FFF2-40B4-BE49-F238E27FC236}">
                <a16:creationId xmlns:a16="http://schemas.microsoft.com/office/drawing/2014/main" id="{3968D8D1-E2D2-0A92-E99D-80BBE31D68D4}"/>
              </a:ext>
            </a:extLst>
          </p:cNvPr>
          <p:cNvSpPr txBox="1"/>
          <p:nvPr/>
        </p:nvSpPr>
        <p:spPr>
          <a:xfrm>
            <a:off x="6385940" y="1381759"/>
            <a:ext cx="1069822" cy="525401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sz="1400" dirty="0" err="1"/>
              <a:t>Bandgap</a:t>
            </a:r>
            <a:endParaRPr lang="fr-FR" sz="1400" dirty="0"/>
          </a:p>
          <a:p>
            <a:pPr algn="ctr">
              <a:spcBef>
                <a:spcPct val="0"/>
              </a:spcBef>
            </a:pPr>
            <a:r>
              <a:rPr lang="fr-FR" sz="1400" dirty="0"/>
              <a:t>VREF+IREF</a:t>
            </a:r>
          </a:p>
        </p:txBody>
      </p:sp>
      <p:sp>
        <p:nvSpPr>
          <p:cNvPr id="442" name="ZoneTexte 441">
            <a:extLst>
              <a:ext uri="{FF2B5EF4-FFF2-40B4-BE49-F238E27FC236}">
                <a16:creationId xmlns:a16="http://schemas.microsoft.com/office/drawing/2014/main" id="{50BBF2A9-D77E-2BB6-F95E-03F7FA8C14EC}"/>
              </a:ext>
            </a:extLst>
          </p:cNvPr>
          <p:cNvSpPr txBox="1"/>
          <p:nvPr/>
        </p:nvSpPr>
        <p:spPr>
          <a:xfrm>
            <a:off x="8797864" y="3522372"/>
            <a:ext cx="523198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/>
              <a:t>OFFA</a:t>
            </a:r>
          </a:p>
        </p:txBody>
      </p:sp>
      <p:cxnSp>
        <p:nvCxnSpPr>
          <p:cNvPr id="448" name="Connecteur droit avec flèche 447">
            <a:extLst>
              <a:ext uri="{FF2B5EF4-FFF2-40B4-BE49-F238E27FC236}">
                <a16:creationId xmlns:a16="http://schemas.microsoft.com/office/drawing/2014/main" id="{7C33F634-6CDB-D769-0CD2-BD2186F73E22}"/>
              </a:ext>
            </a:extLst>
          </p:cNvPr>
          <p:cNvCxnSpPr/>
          <p:nvPr/>
        </p:nvCxnSpPr>
        <p:spPr>
          <a:xfrm flipV="1">
            <a:off x="9057817" y="3093262"/>
            <a:ext cx="0" cy="4376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Connecteur droit avec flèche 450">
            <a:extLst>
              <a:ext uri="{FF2B5EF4-FFF2-40B4-BE49-F238E27FC236}">
                <a16:creationId xmlns:a16="http://schemas.microsoft.com/office/drawing/2014/main" id="{0D47AE82-05C8-4A80-2527-83479CFEBEC4}"/>
              </a:ext>
            </a:extLst>
          </p:cNvPr>
          <p:cNvCxnSpPr>
            <a:cxnSpLocks/>
          </p:cNvCxnSpPr>
          <p:nvPr/>
        </p:nvCxnSpPr>
        <p:spPr>
          <a:xfrm>
            <a:off x="7633512" y="1556772"/>
            <a:ext cx="269984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3" name="ZoneTexte 452">
            <a:extLst>
              <a:ext uri="{FF2B5EF4-FFF2-40B4-BE49-F238E27FC236}">
                <a16:creationId xmlns:a16="http://schemas.microsoft.com/office/drawing/2014/main" id="{D211C469-7130-CB3A-E369-6710CF0EFEBF}"/>
              </a:ext>
            </a:extLst>
          </p:cNvPr>
          <p:cNvSpPr txBox="1"/>
          <p:nvPr/>
        </p:nvSpPr>
        <p:spPr>
          <a:xfrm>
            <a:off x="4068543" y="4976030"/>
            <a:ext cx="834181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/>
              <a:t>VCP=3VDD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352CC39D-E024-D962-EED8-E59B640D0DC3}"/>
              </a:ext>
            </a:extLst>
          </p:cNvPr>
          <p:cNvSpPr/>
          <p:nvPr/>
        </p:nvSpPr>
        <p:spPr>
          <a:xfrm>
            <a:off x="11099708" y="2373293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56" name="ZoneTexte 455">
            <a:extLst>
              <a:ext uri="{FF2B5EF4-FFF2-40B4-BE49-F238E27FC236}">
                <a16:creationId xmlns:a16="http://schemas.microsoft.com/office/drawing/2014/main" id="{3DDCEA05-CB73-CA35-8577-FBBFDC206677}"/>
              </a:ext>
            </a:extLst>
          </p:cNvPr>
          <p:cNvSpPr txBox="1"/>
          <p:nvPr/>
        </p:nvSpPr>
        <p:spPr>
          <a:xfrm>
            <a:off x="11252669" y="2335559"/>
            <a:ext cx="484726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00FF00"/>
                </a:highlight>
              </a:rPr>
              <a:t>MIN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95CF1FA9-7917-A072-5A9E-B5F42B0EC5E0}"/>
              </a:ext>
            </a:extLst>
          </p:cNvPr>
          <p:cNvSpPr/>
          <p:nvPr/>
        </p:nvSpPr>
        <p:spPr>
          <a:xfrm>
            <a:off x="11093682" y="2051790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58" name="ZoneTexte 457">
            <a:extLst>
              <a:ext uri="{FF2B5EF4-FFF2-40B4-BE49-F238E27FC236}">
                <a16:creationId xmlns:a16="http://schemas.microsoft.com/office/drawing/2014/main" id="{CBAF1423-3F65-F14C-1BF5-A4E2ED3AFB8C}"/>
              </a:ext>
            </a:extLst>
          </p:cNvPr>
          <p:cNvSpPr txBox="1"/>
          <p:nvPr/>
        </p:nvSpPr>
        <p:spPr>
          <a:xfrm>
            <a:off x="11182528" y="1956717"/>
            <a:ext cx="534418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00FF00"/>
                </a:highlight>
              </a:rPr>
              <a:t>MAX</a:t>
            </a: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5490D65C-29E2-90CF-5BDA-0AD7F4FA9372}"/>
              </a:ext>
            </a:extLst>
          </p:cNvPr>
          <p:cNvSpPr/>
          <p:nvPr/>
        </p:nvSpPr>
        <p:spPr>
          <a:xfrm>
            <a:off x="10261531" y="5932452"/>
            <a:ext cx="573916" cy="475799"/>
          </a:xfrm>
          <a:prstGeom prst="rect">
            <a:avLst/>
          </a:prstGeom>
          <a:solidFill>
            <a:srgbClr val="57CF80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60" name="ZoneTexte 459">
            <a:extLst>
              <a:ext uri="{FF2B5EF4-FFF2-40B4-BE49-F238E27FC236}">
                <a16:creationId xmlns:a16="http://schemas.microsoft.com/office/drawing/2014/main" id="{E5912EF2-FF05-67DE-B359-672973070125}"/>
              </a:ext>
            </a:extLst>
          </p:cNvPr>
          <p:cNvSpPr txBox="1"/>
          <p:nvPr/>
        </p:nvSpPr>
        <p:spPr>
          <a:xfrm>
            <a:off x="10261531" y="5947870"/>
            <a:ext cx="580906" cy="463846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/>
              <a:t>Duty</a:t>
            </a:r>
          </a:p>
          <a:p>
            <a:pPr algn="l">
              <a:spcBef>
                <a:spcPct val="0"/>
              </a:spcBef>
            </a:pPr>
            <a:r>
              <a:rPr lang="fr-FR" sz="1200" b="1" dirty="0"/>
              <a:t>Cycle</a:t>
            </a:r>
          </a:p>
        </p:txBody>
      </p:sp>
      <p:cxnSp>
        <p:nvCxnSpPr>
          <p:cNvPr id="461" name="Connecteur droit avec flèche 460">
            <a:extLst>
              <a:ext uri="{FF2B5EF4-FFF2-40B4-BE49-F238E27FC236}">
                <a16:creationId xmlns:a16="http://schemas.microsoft.com/office/drawing/2014/main" id="{4DBD7EB8-0C5C-7D23-0C71-B53ED4A19CE3}"/>
              </a:ext>
            </a:extLst>
          </p:cNvPr>
          <p:cNvCxnSpPr>
            <a:cxnSpLocks/>
          </p:cNvCxnSpPr>
          <p:nvPr/>
        </p:nvCxnSpPr>
        <p:spPr>
          <a:xfrm>
            <a:off x="8863874" y="6220485"/>
            <a:ext cx="139765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6" name="Connecteur droit avec flèche 465">
            <a:extLst>
              <a:ext uri="{FF2B5EF4-FFF2-40B4-BE49-F238E27FC236}">
                <a16:creationId xmlns:a16="http://schemas.microsoft.com/office/drawing/2014/main" id="{34279795-4A2E-B40B-62F1-EE27A613CCF9}"/>
              </a:ext>
            </a:extLst>
          </p:cNvPr>
          <p:cNvCxnSpPr>
            <a:cxnSpLocks/>
          </p:cNvCxnSpPr>
          <p:nvPr/>
        </p:nvCxnSpPr>
        <p:spPr>
          <a:xfrm>
            <a:off x="10837595" y="6211065"/>
            <a:ext cx="28303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9" name="Rectangle 468">
            <a:extLst>
              <a:ext uri="{FF2B5EF4-FFF2-40B4-BE49-F238E27FC236}">
                <a16:creationId xmlns:a16="http://schemas.microsoft.com/office/drawing/2014/main" id="{E7803FDF-9058-C0AD-D8A0-4C74115718D3}"/>
              </a:ext>
            </a:extLst>
          </p:cNvPr>
          <p:cNvSpPr/>
          <p:nvPr/>
        </p:nvSpPr>
        <p:spPr>
          <a:xfrm>
            <a:off x="11103886" y="6149293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71" name="ZoneTexte 470">
            <a:extLst>
              <a:ext uri="{FF2B5EF4-FFF2-40B4-BE49-F238E27FC236}">
                <a16:creationId xmlns:a16="http://schemas.microsoft.com/office/drawing/2014/main" id="{4159C071-6202-3766-EFCE-83643222DAAA}"/>
              </a:ext>
            </a:extLst>
          </p:cNvPr>
          <p:cNvSpPr txBox="1"/>
          <p:nvPr/>
        </p:nvSpPr>
        <p:spPr>
          <a:xfrm>
            <a:off x="11207822" y="6053012"/>
            <a:ext cx="489534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00FF00"/>
                </a:highlight>
              </a:rPr>
              <a:t>DTC</a:t>
            </a:r>
          </a:p>
        </p:txBody>
      </p:sp>
      <p:cxnSp>
        <p:nvCxnSpPr>
          <p:cNvPr id="473" name="Connecteur droit avec flèche 472">
            <a:extLst>
              <a:ext uri="{FF2B5EF4-FFF2-40B4-BE49-F238E27FC236}">
                <a16:creationId xmlns:a16="http://schemas.microsoft.com/office/drawing/2014/main" id="{505FA40D-FADB-0A07-B2FB-530084D1B116}"/>
              </a:ext>
            </a:extLst>
          </p:cNvPr>
          <p:cNvCxnSpPr>
            <a:stCxn id="454" idx="1"/>
          </p:cNvCxnSpPr>
          <p:nvPr/>
        </p:nvCxnSpPr>
        <p:spPr>
          <a:xfrm flipH="1">
            <a:off x="8943153" y="2445301"/>
            <a:ext cx="2156555" cy="0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Connecteur droit 474">
            <a:extLst>
              <a:ext uri="{FF2B5EF4-FFF2-40B4-BE49-F238E27FC236}">
                <a16:creationId xmlns:a16="http://schemas.microsoft.com/office/drawing/2014/main" id="{F500FBDB-BA74-E07B-445C-A6A7005041C4}"/>
              </a:ext>
            </a:extLst>
          </p:cNvPr>
          <p:cNvCxnSpPr>
            <a:cxnSpLocks/>
          </p:cNvCxnSpPr>
          <p:nvPr/>
        </p:nvCxnSpPr>
        <p:spPr>
          <a:xfrm flipH="1">
            <a:off x="10502918" y="2154525"/>
            <a:ext cx="58328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Connecteur droit avec flèche 476">
            <a:extLst>
              <a:ext uri="{FF2B5EF4-FFF2-40B4-BE49-F238E27FC236}">
                <a16:creationId xmlns:a16="http://schemas.microsoft.com/office/drawing/2014/main" id="{DA9B98FE-C67B-435F-6F56-6D248517E5AA}"/>
              </a:ext>
            </a:extLst>
          </p:cNvPr>
          <p:cNvCxnSpPr/>
          <p:nvPr/>
        </p:nvCxnSpPr>
        <p:spPr>
          <a:xfrm>
            <a:off x="10502918" y="2168864"/>
            <a:ext cx="0" cy="275621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Rectangle 478">
            <a:extLst>
              <a:ext uri="{FF2B5EF4-FFF2-40B4-BE49-F238E27FC236}">
                <a16:creationId xmlns:a16="http://schemas.microsoft.com/office/drawing/2014/main" id="{E65BB1C6-5D37-D635-05BC-EF4CDE9CF627}"/>
              </a:ext>
            </a:extLst>
          </p:cNvPr>
          <p:cNvSpPr/>
          <p:nvPr/>
        </p:nvSpPr>
        <p:spPr>
          <a:xfrm>
            <a:off x="10336425" y="4585443"/>
            <a:ext cx="573916" cy="475799"/>
          </a:xfrm>
          <a:prstGeom prst="rect">
            <a:avLst/>
          </a:prstGeom>
          <a:solidFill>
            <a:srgbClr val="57CF80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80" name="ZoneTexte 479">
            <a:extLst>
              <a:ext uri="{FF2B5EF4-FFF2-40B4-BE49-F238E27FC236}">
                <a16:creationId xmlns:a16="http://schemas.microsoft.com/office/drawing/2014/main" id="{091E0269-FB43-96F6-02A8-7C14E75E7E55}"/>
              </a:ext>
            </a:extLst>
          </p:cNvPr>
          <p:cNvSpPr txBox="1"/>
          <p:nvPr/>
        </p:nvSpPr>
        <p:spPr>
          <a:xfrm>
            <a:off x="10279602" y="4686981"/>
            <a:ext cx="637011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 err="1"/>
              <a:t>Ready</a:t>
            </a:r>
            <a:endParaRPr lang="fr-FR" sz="1200" b="1" dirty="0"/>
          </a:p>
        </p:txBody>
      </p:sp>
      <p:cxnSp>
        <p:nvCxnSpPr>
          <p:cNvPr id="481" name="Connecteur droit avec flèche 480">
            <a:extLst>
              <a:ext uri="{FF2B5EF4-FFF2-40B4-BE49-F238E27FC236}">
                <a16:creationId xmlns:a16="http://schemas.microsoft.com/office/drawing/2014/main" id="{B01E5921-66DC-27FB-9C30-7F7045542300}"/>
              </a:ext>
            </a:extLst>
          </p:cNvPr>
          <p:cNvCxnSpPr>
            <a:cxnSpLocks/>
          </p:cNvCxnSpPr>
          <p:nvPr/>
        </p:nvCxnSpPr>
        <p:spPr>
          <a:xfrm>
            <a:off x="10912803" y="4852333"/>
            <a:ext cx="1734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2" name="Rectangle 481">
            <a:extLst>
              <a:ext uri="{FF2B5EF4-FFF2-40B4-BE49-F238E27FC236}">
                <a16:creationId xmlns:a16="http://schemas.microsoft.com/office/drawing/2014/main" id="{B86FCE36-1F78-398D-C0B8-60A01B301013}"/>
              </a:ext>
            </a:extLst>
          </p:cNvPr>
          <p:cNvSpPr/>
          <p:nvPr/>
        </p:nvSpPr>
        <p:spPr>
          <a:xfrm>
            <a:off x="11088625" y="4749802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83" name="ZoneTexte 482">
            <a:extLst>
              <a:ext uri="{FF2B5EF4-FFF2-40B4-BE49-F238E27FC236}">
                <a16:creationId xmlns:a16="http://schemas.microsoft.com/office/drawing/2014/main" id="{84320CF7-341E-8B21-049B-BB1F69B159A6}"/>
              </a:ext>
            </a:extLst>
          </p:cNvPr>
          <p:cNvSpPr txBox="1"/>
          <p:nvPr/>
        </p:nvSpPr>
        <p:spPr>
          <a:xfrm>
            <a:off x="11226689" y="4651384"/>
            <a:ext cx="702734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00FF00"/>
                </a:highlight>
              </a:rPr>
              <a:t>READY</a:t>
            </a: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264485F6-6965-E33A-AACD-4A8421E9AB15}"/>
              </a:ext>
            </a:extLst>
          </p:cNvPr>
          <p:cNvSpPr/>
          <p:nvPr/>
        </p:nvSpPr>
        <p:spPr>
          <a:xfrm>
            <a:off x="933323" y="1621424"/>
            <a:ext cx="853370" cy="1074867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283E3E30-5630-ACC6-9680-C8C5A6D1F148}"/>
              </a:ext>
            </a:extLst>
          </p:cNvPr>
          <p:cNvSpPr/>
          <p:nvPr/>
        </p:nvSpPr>
        <p:spPr>
          <a:xfrm>
            <a:off x="614685" y="1777215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90" name="ZoneTexte 489">
            <a:extLst>
              <a:ext uri="{FF2B5EF4-FFF2-40B4-BE49-F238E27FC236}">
                <a16:creationId xmlns:a16="http://schemas.microsoft.com/office/drawing/2014/main" id="{04A98B51-2A85-23DA-967A-5358581BD484}"/>
              </a:ext>
            </a:extLst>
          </p:cNvPr>
          <p:cNvSpPr txBox="1"/>
          <p:nvPr/>
        </p:nvSpPr>
        <p:spPr>
          <a:xfrm>
            <a:off x="-207683" y="1565816"/>
            <a:ext cx="866241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FFFF00"/>
                </a:highlight>
              </a:rPr>
              <a:t>ATB0_EN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A45E2BED-877A-CCAC-0020-603D77A78A68}"/>
              </a:ext>
            </a:extLst>
          </p:cNvPr>
          <p:cNvSpPr/>
          <p:nvPr/>
        </p:nvSpPr>
        <p:spPr>
          <a:xfrm>
            <a:off x="593816" y="2143844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92" name="ZoneTexte 491">
            <a:extLst>
              <a:ext uri="{FF2B5EF4-FFF2-40B4-BE49-F238E27FC236}">
                <a16:creationId xmlns:a16="http://schemas.microsoft.com/office/drawing/2014/main" id="{EDC8B4A5-F454-FD7F-6B7B-1809E5D51D30}"/>
              </a:ext>
            </a:extLst>
          </p:cNvPr>
          <p:cNvSpPr txBox="1"/>
          <p:nvPr/>
        </p:nvSpPr>
        <p:spPr>
          <a:xfrm>
            <a:off x="-246540" y="2069562"/>
            <a:ext cx="866241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FFFF00"/>
                </a:highlight>
              </a:rPr>
              <a:t>ATB1_EN</a:t>
            </a: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8F586019-DCF9-8B0F-77DA-59FE5D413194}"/>
              </a:ext>
            </a:extLst>
          </p:cNvPr>
          <p:cNvSpPr/>
          <p:nvPr/>
        </p:nvSpPr>
        <p:spPr>
          <a:xfrm>
            <a:off x="614685" y="2471637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94" name="ZoneTexte 493">
            <a:extLst>
              <a:ext uri="{FF2B5EF4-FFF2-40B4-BE49-F238E27FC236}">
                <a16:creationId xmlns:a16="http://schemas.microsoft.com/office/drawing/2014/main" id="{BE6BBC3C-9A53-2393-E82E-5098FFD924DF}"/>
              </a:ext>
            </a:extLst>
          </p:cNvPr>
          <p:cNvSpPr txBox="1"/>
          <p:nvPr/>
        </p:nvSpPr>
        <p:spPr>
          <a:xfrm>
            <a:off x="-314732" y="2567805"/>
            <a:ext cx="1151575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>
                <a:highlight>
                  <a:srgbClr val="FFFF00"/>
                </a:highlight>
              </a:rPr>
              <a:t>ATBSEL&lt;0:7&gt;</a:t>
            </a:r>
          </a:p>
        </p:txBody>
      </p:sp>
      <p:sp>
        <p:nvSpPr>
          <p:cNvPr id="495" name="ZoneTexte 494">
            <a:extLst>
              <a:ext uri="{FF2B5EF4-FFF2-40B4-BE49-F238E27FC236}">
                <a16:creationId xmlns:a16="http://schemas.microsoft.com/office/drawing/2014/main" id="{6500E61D-A14E-C8FE-7CCF-77D751E7E065}"/>
              </a:ext>
            </a:extLst>
          </p:cNvPr>
          <p:cNvSpPr txBox="1"/>
          <p:nvPr/>
        </p:nvSpPr>
        <p:spPr>
          <a:xfrm>
            <a:off x="914161" y="1951298"/>
            <a:ext cx="919139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/>
              <a:t>ATB_MUX</a:t>
            </a:r>
          </a:p>
        </p:txBody>
      </p:sp>
      <p:cxnSp>
        <p:nvCxnSpPr>
          <p:cNvPr id="496" name="Connecteur droit avec flèche 495">
            <a:extLst>
              <a:ext uri="{FF2B5EF4-FFF2-40B4-BE49-F238E27FC236}">
                <a16:creationId xmlns:a16="http://schemas.microsoft.com/office/drawing/2014/main" id="{F8A929C5-556A-637F-EE0A-40204268FDF4}"/>
              </a:ext>
            </a:extLst>
          </p:cNvPr>
          <p:cNvCxnSpPr>
            <a:cxnSpLocks/>
          </p:cNvCxnSpPr>
          <p:nvPr/>
        </p:nvCxnSpPr>
        <p:spPr>
          <a:xfrm>
            <a:off x="751600" y="2560978"/>
            <a:ext cx="175777" cy="63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7" name="Connecteur droit avec flèche 496">
            <a:extLst>
              <a:ext uri="{FF2B5EF4-FFF2-40B4-BE49-F238E27FC236}">
                <a16:creationId xmlns:a16="http://schemas.microsoft.com/office/drawing/2014/main" id="{4A8454AD-1276-FF3E-5F54-B4C6ABD5AD16}"/>
              </a:ext>
            </a:extLst>
          </p:cNvPr>
          <p:cNvCxnSpPr>
            <a:cxnSpLocks/>
          </p:cNvCxnSpPr>
          <p:nvPr/>
        </p:nvCxnSpPr>
        <p:spPr>
          <a:xfrm>
            <a:off x="748332" y="2218239"/>
            <a:ext cx="175777" cy="63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8" name="Connecteur droit avec flèche 497">
            <a:extLst>
              <a:ext uri="{FF2B5EF4-FFF2-40B4-BE49-F238E27FC236}">
                <a16:creationId xmlns:a16="http://schemas.microsoft.com/office/drawing/2014/main" id="{06003F92-3D17-43A1-EA03-24B94038DD93}"/>
              </a:ext>
            </a:extLst>
          </p:cNvPr>
          <p:cNvCxnSpPr>
            <a:cxnSpLocks/>
          </p:cNvCxnSpPr>
          <p:nvPr/>
        </p:nvCxnSpPr>
        <p:spPr>
          <a:xfrm>
            <a:off x="765434" y="1849223"/>
            <a:ext cx="175777" cy="63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9" name="Rectangle 498">
            <a:extLst>
              <a:ext uri="{FF2B5EF4-FFF2-40B4-BE49-F238E27FC236}">
                <a16:creationId xmlns:a16="http://schemas.microsoft.com/office/drawing/2014/main" id="{3F81C045-3019-87A1-7EEE-C78F3ECD3228}"/>
              </a:ext>
            </a:extLst>
          </p:cNvPr>
          <p:cNvSpPr/>
          <p:nvPr/>
        </p:nvSpPr>
        <p:spPr>
          <a:xfrm>
            <a:off x="1148717" y="1214354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470864CC-8F11-9ED2-862E-47D1F490BE0E}"/>
              </a:ext>
            </a:extLst>
          </p:cNvPr>
          <p:cNvSpPr/>
          <p:nvPr/>
        </p:nvSpPr>
        <p:spPr>
          <a:xfrm>
            <a:off x="1525467" y="1214354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501" name="Connecteur droit avec flèche 500">
            <a:extLst>
              <a:ext uri="{FF2B5EF4-FFF2-40B4-BE49-F238E27FC236}">
                <a16:creationId xmlns:a16="http://schemas.microsoft.com/office/drawing/2014/main" id="{799B1DCE-6242-CBEF-A106-AAA7B0C42501}"/>
              </a:ext>
            </a:extLst>
          </p:cNvPr>
          <p:cNvCxnSpPr>
            <a:cxnSpLocks/>
            <a:endCxn id="499" idx="2"/>
          </p:cNvCxnSpPr>
          <p:nvPr/>
        </p:nvCxnSpPr>
        <p:spPr>
          <a:xfrm flipV="1">
            <a:off x="1220725" y="1358370"/>
            <a:ext cx="0" cy="2360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3" name="Connecteur droit avec flèche 502">
            <a:extLst>
              <a:ext uri="{FF2B5EF4-FFF2-40B4-BE49-F238E27FC236}">
                <a16:creationId xmlns:a16="http://schemas.microsoft.com/office/drawing/2014/main" id="{69A8422D-EA67-ECAB-A6BE-3C261AF4486A}"/>
              </a:ext>
            </a:extLst>
          </p:cNvPr>
          <p:cNvCxnSpPr>
            <a:cxnSpLocks/>
          </p:cNvCxnSpPr>
          <p:nvPr/>
        </p:nvCxnSpPr>
        <p:spPr>
          <a:xfrm flipV="1">
            <a:off x="1573926" y="1379039"/>
            <a:ext cx="0" cy="2259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6" name="ZoneTexte 505">
            <a:extLst>
              <a:ext uri="{FF2B5EF4-FFF2-40B4-BE49-F238E27FC236}">
                <a16:creationId xmlns:a16="http://schemas.microsoft.com/office/drawing/2014/main" id="{868438E4-3AEE-637B-C1D0-F33222F0F977}"/>
              </a:ext>
            </a:extLst>
          </p:cNvPr>
          <p:cNvSpPr txBox="1"/>
          <p:nvPr/>
        </p:nvSpPr>
        <p:spPr>
          <a:xfrm>
            <a:off x="878808" y="916511"/>
            <a:ext cx="579303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/>
              <a:t>ATB0</a:t>
            </a:r>
          </a:p>
        </p:txBody>
      </p:sp>
      <p:sp>
        <p:nvSpPr>
          <p:cNvPr id="507" name="ZoneTexte 506">
            <a:extLst>
              <a:ext uri="{FF2B5EF4-FFF2-40B4-BE49-F238E27FC236}">
                <a16:creationId xmlns:a16="http://schemas.microsoft.com/office/drawing/2014/main" id="{857A30C1-6494-F196-5A70-5769DE4BB2D9}"/>
              </a:ext>
            </a:extLst>
          </p:cNvPr>
          <p:cNvSpPr txBox="1"/>
          <p:nvPr/>
        </p:nvSpPr>
        <p:spPr>
          <a:xfrm>
            <a:off x="1317089" y="925018"/>
            <a:ext cx="579303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/>
              <a:t>ATB1</a:t>
            </a:r>
          </a:p>
        </p:txBody>
      </p:sp>
      <p:cxnSp>
        <p:nvCxnSpPr>
          <p:cNvPr id="512" name="Connecteur droit avec flèche 511">
            <a:extLst>
              <a:ext uri="{FF2B5EF4-FFF2-40B4-BE49-F238E27FC236}">
                <a16:creationId xmlns:a16="http://schemas.microsoft.com/office/drawing/2014/main" id="{3B6BF0C8-83D1-FED3-615A-AE9383AD2E7C}"/>
              </a:ext>
            </a:extLst>
          </p:cNvPr>
          <p:cNvCxnSpPr>
            <a:cxnSpLocks/>
          </p:cNvCxnSpPr>
          <p:nvPr/>
        </p:nvCxnSpPr>
        <p:spPr>
          <a:xfrm>
            <a:off x="5053047" y="5212373"/>
            <a:ext cx="0" cy="3171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3" name="ZoneTexte 512">
            <a:extLst>
              <a:ext uri="{FF2B5EF4-FFF2-40B4-BE49-F238E27FC236}">
                <a16:creationId xmlns:a16="http://schemas.microsoft.com/office/drawing/2014/main" id="{F961BCD3-3466-FD5E-0243-6D6B26C2DC2A}"/>
              </a:ext>
            </a:extLst>
          </p:cNvPr>
          <p:cNvSpPr txBox="1"/>
          <p:nvPr/>
        </p:nvSpPr>
        <p:spPr>
          <a:xfrm>
            <a:off x="4810355" y="4976450"/>
            <a:ext cx="520680" cy="248402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/>
              <a:t>VDD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F64526-9FAF-8E3A-1F3A-7DFD01F1ACFD}"/>
              </a:ext>
            </a:extLst>
          </p:cNvPr>
          <p:cNvSpPr/>
          <p:nvPr/>
        </p:nvSpPr>
        <p:spPr>
          <a:xfrm>
            <a:off x="2659451" y="5478725"/>
            <a:ext cx="682569" cy="61734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1" name="Connecteur : en angle 10">
            <a:extLst>
              <a:ext uri="{FF2B5EF4-FFF2-40B4-BE49-F238E27FC236}">
                <a16:creationId xmlns:a16="http://schemas.microsoft.com/office/drawing/2014/main" id="{72644121-F683-8F28-60A9-0D3BA8218D3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700924" y="4590180"/>
            <a:ext cx="198001" cy="1529782"/>
          </a:xfrm>
          <a:prstGeom prst="bentConnector3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31FDFA8D-60F3-D0A2-0628-24319E5E9331}"/>
              </a:ext>
            </a:extLst>
          </p:cNvPr>
          <p:cNvSpPr txBox="1"/>
          <p:nvPr/>
        </p:nvSpPr>
        <p:spPr>
          <a:xfrm>
            <a:off x="2105038" y="5546221"/>
            <a:ext cx="572891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/>
              <a:t>48Mhz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30EC902F-85F6-E4EF-9423-DC48F4AB347A}"/>
              </a:ext>
            </a:extLst>
          </p:cNvPr>
          <p:cNvCxnSpPr>
            <a:cxnSpLocks/>
          </p:cNvCxnSpPr>
          <p:nvPr/>
        </p:nvCxnSpPr>
        <p:spPr>
          <a:xfrm>
            <a:off x="2204085" y="5860445"/>
            <a:ext cx="4463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76114308-301C-C243-FCB6-BE715DFB9A01}"/>
              </a:ext>
            </a:extLst>
          </p:cNvPr>
          <p:cNvCxnSpPr>
            <a:cxnSpLocks/>
          </p:cNvCxnSpPr>
          <p:nvPr/>
        </p:nvCxnSpPr>
        <p:spPr>
          <a:xfrm>
            <a:off x="5822398" y="1737547"/>
            <a:ext cx="29850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0EAC82B9-8BBC-0939-09B0-C8EB1B1AA3D5}"/>
              </a:ext>
            </a:extLst>
          </p:cNvPr>
          <p:cNvSpPr txBox="1"/>
          <p:nvPr/>
        </p:nvSpPr>
        <p:spPr>
          <a:xfrm>
            <a:off x="5391842" y="1600821"/>
            <a:ext cx="523198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/>
              <a:t>OFFA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E0C694-8C76-3139-DF73-08068FF72A24}"/>
              </a:ext>
            </a:extLst>
          </p:cNvPr>
          <p:cNvSpPr/>
          <p:nvPr/>
        </p:nvSpPr>
        <p:spPr>
          <a:xfrm>
            <a:off x="3509590" y="6392122"/>
            <a:ext cx="144016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02B5E86-AD7B-01DC-C9B6-F46B30757289}"/>
              </a:ext>
            </a:extLst>
          </p:cNvPr>
          <p:cNvSpPr txBox="1"/>
          <p:nvPr/>
        </p:nvSpPr>
        <p:spPr>
          <a:xfrm>
            <a:off x="3309669" y="6555495"/>
            <a:ext cx="491138" cy="279180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200" b="1" dirty="0"/>
              <a:t>VCP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EF5A85BD-146B-A8CE-BAAD-566E5E535725}"/>
              </a:ext>
            </a:extLst>
          </p:cNvPr>
          <p:cNvCxnSpPr>
            <a:cxnSpLocks/>
          </p:cNvCxnSpPr>
          <p:nvPr/>
        </p:nvCxnSpPr>
        <p:spPr>
          <a:xfrm>
            <a:off x="3578430" y="5346431"/>
            <a:ext cx="14036" cy="1055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BC6F1087-6995-D815-091D-4FB72DDDDE79}"/>
              </a:ext>
            </a:extLst>
          </p:cNvPr>
          <p:cNvSpPr txBox="1"/>
          <p:nvPr/>
        </p:nvSpPr>
        <p:spPr>
          <a:xfrm>
            <a:off x="8543717" y="5212373"/>
            <a:ext cx="572891" cy="248402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000" dirty="0"/>
              <a:t>48Mhz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A2F18E08-EA8F-D0DD-507B-51068243F7CB}"/>
              </a:ext>
            </a:extLst>
          </p:cNvPr>
          <p:cNvCxnSpPr>
            <a:cxnSpLocks/>
          </p:cNvCxnSpPr>
          <p:nvPr/>
        </p:nvCxnSpPr>
        <p:spPr>
          <a:xfrm>
            <a:off x="10110168" y="4852333"/>
            <a:ext cx="2233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riangle rectangle 44">
            <a:extLst>
              <a:ext uri="{FF2B5EF4-FFF2-40B4-BE49-F238E27FC236}">
                <a16:creationId xmlns:a16="http://schemas.microsoft.com/office/drawing/2014/main" id="{CF9AABDC-C496-4660-D9D4-11081E38F5BD}"/>
              </a:ext>
            </a:extLst>
          </p:cNvPr>
          <p:cNvSpPr/>
          <p:nvPr/>
        </p:nvSpPr>
        <p:spPr>
          <a:xfrm>
            <a:off x="2662027" y="5500406"/>
            <a:ext cx="622400" cy="576064"/>
          </a:xfrm>
          <a:prstGeom prst="rtTriangle">
            <a:avLst/>
          </a:prstGeom>
          <a:solidFill>
            <a:srgbClr val="57CF8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6" name="Triangle rectangle 45">
            <a:extLst>
              <a:ext uri="{FF2B5EF4-FFF2-40B4-BE49-F238E27FC236}">
                <a16:creationId xmlns:a16="http://schemas.microsoft.com/office/drawing/2014/main" id="{5978B5F8-C50F-8560-D09F-92AAAA370A17}"/>
              </a:ext>
            </a:extLst>
          </p:cNvPr>
          <p:cNvSpPr/>
          <p:nvPr/>
        </p:nvSpPr>
        <p:spPr>
          <a:xfrm rot="10800000">
            <a:off x="4411169" y="5553393"/>
            <a:ext cx="739182" cy="609721"/>
          </a:xfrm>
          <a:prstGeom prst="rtTriangle">
            <a:avLst/>
          </a:prstGeom>
          <a:solidFill>
            <a:srgbClr val="FFFF0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52" name="Triangle rectangle 51">
            <a:extLst>
              <a:ext uri="{FF2B5EF4-FFF2-40B4-BE49-F238E27FC236}">
                <a16:creationId xmlns:a16="http://schemas.microsoft.com/office/drawing/2014/main" id="{472B3B7B-3877-9EF4-8F15-B959C0583E3B}"/>
              </a:ext>
            </a:extLst>
          </p:cNvPr>
          <p:cNvSpPr/>
          <p:nvPr/>
        </p:nvSpPr>
        <p:spPr>
          <a:xfrm>
            <a:off x="4397183" y="5537085"/>
            <a:ext cx="777142" cy="592286"/>
          </a:xfrm>
          <a:prstGeom prst="rtTriangle">
            <a:avLst/>
          </a:prstGeom>
          <a:solidFill>
            <a:srgbClr val="57CF8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55" name="Triangle rectangle 54">
            <a:extLst>
              <a:ext uri="{FF2B5EF4-FFF2-40B4-BE49-F238E27FC236}">
                <a16:creationId xmlns:a16="http://schemas.microsoft.com/office/drawing/2014/main" id="{0E8579FD-39A1-F766-9B3C-16ED81C1CDE9}"/>
              </a:ext>
            </a:extLst>
          </p:cNvPr>
          <p:cNvSpPr/>
          <p:nvPr/>
        </p:nvSpPr>
        <p:spPr>
          <a:xfrm rot="10800000">
            <a:off x="2662027" y="5502359"/>
            <a:ext cx="679993" cy="609721"/>
          </a:xfrm>
          <a:prstGeom prst="rtTriangle">
            <a:avLst/>
          </a:prstGeom>
          <a:solidFill>
            <a:srgbClr val="FFFF0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BE56A172-8AD0-9005-9D1B-CE16BDC98F02}"/>
              </a:ext>
            </a:extLst>
          </p:cNvPr>
          <p:cNvSpPr txBox="1"/>
          <p:nvPr/>
        </p:nvSpPr>
        <p:spPr>
          <a:xfrm>
            <a:off x="2654150" y="5516654"/>
            <a:ext cx="762045" cy="525401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Charge</a:t>
            </a:r>
          </a:p>
          <a:p>
            <a:pPr algn="l">
              <a:spcBef>
                <a:spcPct val="0"/>
              </a:spcBef>
            </a:pPr>
            <a:r>
              <a:rPr lang="fr-FR" sz="1400" dirty="0"/>
              <a:t> </a:t>
            </a:r>
            <a:r>
              <a:rPr lang="fr-FR" sz="1400" dirty="0" err="1"/>
              <a:t>Pump</a:t>
            </a:r>
            <a:endParaRPr lang="fr-FR" sz="1400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D1FF139F-D3EA-2A3B-6121-87BBEF4D4057}"/>
              </a:ext>
            </a:extLst>
          </p:cNvPr>
          <p:cNvSpPr txBox="1"/>
          <p:nvPr/>
        </p:nvSpPr>
        <p:spPr>
          <a:xfrm>
            <a:off x="4502269" y="5533425"/>
            <a:ext cx="616172" cy="525401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/>
              <a:t>Level</a:t>
            </a:r>
            <a:endParaRPr lang="fr-FR" sz="1400" dirty="0"/>
          </a:p>
          <a:p>
            <a:pPr algn="l">
              <a:spcBef>
                <a:spcPct val="0"/>
              </a:spcBef>
            </a:pPr>
            <a:r>
              <a:rPr lang="fr-FR" sz="1400" dirty="0"/>
              <a:t>Shift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88F8933-F76D-4D0E-5CBF-45B56B554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7242" y="-69216"/>
            <a:ext cx="11008413" cy="792163"/>
          </a:xfrm>
        </p:spPr>
        <p:txBody>
          <a:bodyPr/>
          <a:lstStyle/>
          <a:p>
            <a:r>
              <a:rPr lang="fr-FR" dirty="0"/>
              <a:t>New Architecture : FLL OSCILLATOR </a:t>
            </a:r>
          </a:p>
        </p:txBody>
      </p:sp>
    </p:spTree>
    <p:extLst>
      <p:ext uri="{BB962C8B-B14F-4D97-AF65-F5344CB8AC3E}">
        <p14:creationId xmlns:p14="http://schemas.microsoft.com/office/powerpoint/2010/main" val="3044711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FD076-EF3C-31FC-D5C6-EEA02AFA6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60A55C-0358-AAB3-9279-4F9C14293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55" y="1754807"/>
            <a:ext cx="11593288" cy="2160240"/>
          </a:xfrm>
        </p:spPr>
        <p:txBody>
          <a:bodyPr/>
          <a:lstStyle/>
          <a:p>
            <a:r>
              <a:rPr lang="fr-FR" u="sng" dirty="0"/>
              <a:t>FLL ARCHITECTURE PRINCIPLE :</a:t>
            </a:r>
            <a:br>
              <a:rPr lang="fr-FR" u="sng" dirty="0"/>
            </a:br>
            <a:br>
              <a:rPr lang="fr-FR" u="sng" dirty="0"/>
            </a:br>
            <a:r>
              <a:rPr lang="fr-FR" sz="2000" dirty="0" err="1"/>
              <a:t>Steady</a:t>
            </a:r>
            <a:r>
              <a:rPr lang="fr-FR" sz="2000" dirty="0"/>
              <a:t> state </a:t>
            </a:r>
            <a:r>
              <a:rPr lang="fr-FR" sz="2000" dirty="0" err="1"/>
              <a:t>loop</a:t>
            </a:r>
            <a:r>
              <a:rPr lang="fr-FR" sz="2000" dirty="0"/>
              <a:t> : VSC(</a:t>
            </a:r>
            <a:r>
              <a:rPr lang="fr-FR" sz="2000" dirty="0" err="1"/>
              <a:t>average</a:t>
            </a:r>
            <a:r>
              <a:rPr lang="fr-FR" sz="2000" dirty="0"/>
              <a:t>)=VRES</a:t>
            </a:r>
            <a:br>
              <a:rPr lang="fr-FR" sz="2000" dirty="0"/>
            </a:br>
            <a:r>
              <a:rPr lang="fr-FR" sz="2000" dirty="0"/>
              <a:t> 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sz="2400" dirty="0"/>
            </a:br>
            <a:r>
              <a:rPr lang="fr-FR" sz="2400" dirty="0"/>
              <a:t>    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1A97346-FD31-24D0-25CE-307E8C4C14E5}"/>
              </a:ext>
            </a:extLst>
          </p:cNvPr>
          <p:cNvCxnSpPr/>
          <p:nvPr/>
        </p:nvCxnSpPr>
        <p:spPr>
          <a:xfrm>
            <a:off x="1446920" y="3176972"/>
            <a:ext cx="38164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1423E758-AAB6-D208-2666-7A2EEE3D6CA1}"/>
              </a:ext>
            </a:extLst>
          </p:cNvPr>
          <p:cNvSpPr txBox="1"/>
          <p:nvPr/>
        </p:nvSpPr>
        <p:spPr>
          <a:xfrm>
            <a:off x="654832" y="2900178"/>
            <a:ext cx="64502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VRES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3781385-8955-21AD-7052-B91DF7CAD334}"/>
              </a:ext>
            </a:extLst>
          </p:cNvPr>
          <p:cNvCxnSpPr/>
          <p:nvPr/>
        </p:nvCxnSpPr>
        <p:spPr>
          <a:xfrm flipV="1">
            <a:off x="1446920" y="2600908"/>
            <a:ext cx="1656184" cy="10801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B0352E8-6789-9AFE-C4AD-34DE2805EB12}"/>
              </a:ext>
            </a:extLst>
          </p:cNvPr>
          <p:cNvCxnSpPr>
            <a:cxnSpLocks/>
          </p:cNvCxnSpPr>
          <p:nvPr/>
        </p:nvCxnSpPr>
        <p:spPr>
          <a:xfrm>
            <a:off x="3103104" y="2600908"/>
            <a:ext cx="0" cy="10801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2A83054-C430-3D99-FACA-0B34D5E4777C}"/>
              </a:ext>
            </a:extLst>
          </p:cNvPr>
          <p:cNvCxnSpPr/>
          <p:nvPr/>
        </p:nvCxnSpPr>
        <p:spPr>
          <a:xfrm flipV="1">
            <a:off x="3079148" y="2600908"/>
            <a:ext cx="1656184" cy="10801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CD0486EF-AB70-E53F-E1BB-39A740FE2C52}"/>
              </a:ext>
            </a:extLst>
          </p:cNvPr>
          <p:cNvCxnSpPr>
            <a:cxnSpLocks/>
          </p:cNvCxnSpPr>
          <p:nvPr/>
        </p:nvCxnSpPr>
        <p:spPr>
          <a:xfrm>
            <a:off x="4735332" y="2600908"/>
            <a:ext cx="0" cy="10801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BC6A02C3-A5E7-5409-216A-D99448834BC8}"/>
              </a:ext>
            </a:extLst>
          </p:cNvPr>
          <p:cNvSpPr txBox="1"/>
          <p:nvPr/>
        </p:nvSpPr>
        <p:spPr>
          <a:xfrm>
            <a:off x="2094992" y="3753037"/>
            <a:ext cx="47991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S=1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0D5D492-214B-0344-B869-CF8DA116E6ED}"/>
              </a:ext>
            </a:extLst>
          </p:cNvPr>
          <p:cNvSpPr txBox="1"/>
          <p:nvPr/>
        </p:nvSpPr>
        <p:spPr>
          <a:xfrm>
            <a:off x="3878343" y="3753037"/>
            <a:ext cx="582509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Sn=1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4C11696-39AE-1F29-5967-CEB65F3BADC8}"/>
              </a:ext>
            </a:extLst>
          </p:cNvPr>
          <p:cNvSpPr txBox="1"/>
          <p:nvPr/>
        </p:nvSpPr>
        <p:spPr>
          <a:xfrm>
            <a:off x="685773" y="3443079"/>
            <a:ext cx="53281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>
                <a:solidFill>
                  <a:srgbClr val="FF0000"/>
                </a:solidFill>
              </a:rPr>
              <a:t>VSC</a:t>
            </a:r>
          </a:p>
        </p:txBody>
      </p:sp>
      <p:sp>
        <p:nvSpPr>
          <p:cNvPr id="19" name="Triangle isocèle 18">
            <a:extLst>
              <a:ext uri="{FF2B5EF4-FFF2-40B4-BE49-F238E27FC236}">
                <a16:creationId xmlns:a16="http://schemas.microsoft.com/office/drawing/2014/main" id="{B0B6F0A5-139E-107F-1EBD-F1023D9F94C4}"/>
              </a:ext>
            </a:extLst>
          </p:cNvPr>
          <p:cNvSpPr/>
          <p:nvPr/>
        </p:nvSpPr>
        <p:spPr>
          <a:xfrm rot="5400000">
            <a:off x="5267908" y="2600908"/>
            <a:ext cx="1656183" cy="1656184"/>
          </a:xfrm>
          <a:prstGeom prst="triangle">
            <a:avLst/>
          </a:prstGeom>
          <a:solidFill>
            <a:srgbClr val="57CF8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6AC5E301-C378-C21D-ED9D-95B5676C1914}"/>
              </a:ext>
            </a:extLst>
          </p:cNvPr>
          <p:cNvCxnSpPr/>
          <p:nvPr/>
        </p:nvCxnSpPr>
        <p:spPr>
          <a:xfrm>
            <a:off x="1734952" y="5049180"/>
            <a:ext cx="914400" cy="9144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6D845ADC-6422-180E-316C-170B9A0A1A52}"/>
              </a:ext>
            </a:extLst>
          </p:cNvPr>
          <p:cNvSpPr txBox="1"/>
          <p:nvPr/>
        </p:nvSpPr>
        <p:spPr>
          <a:xfrm>
            <a:off x="5384123" y="3027128"/>
            <a:ext cx="282748" cy="740845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+</a:t>
            </a:r>
          </a:p>
          <a:p>
            <a:pPr algn="l">
              <a:spcBef>
                <a:spcPct val="0"/>
              </a:spcBef>
            </a:pPr>
            <a:endParaRPr lang="fr-FR" sz="1400" dirty="0"/>
          </a:p>
          <a:p>
            <a:pPr algn="l">
              <a:spcBef>
                <a:spcPct val="0"/>
              </a:spcBef>
            </a:pPr>
            <a:r>
              <a:rPr lang="fr-FR" sz="1400" dirty="0"/>
              <a:t>-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49859F-AE95-EFCC-3D86-137A3C98C579}"/>
              </a:ext>
            </a:extLst>
          </p:cNvPr>
          <p:cNvSpPr/>
          <p:nvPr/>
        </p:nvSpPr>
        <p:spPr>
          <a:xfrm>
            <a:off x="9120331" y="2625473"/>
            <a:ext cx="1365957" cy="1620180"/>
          </a:xfrm>
          <a:prstGeom prst="rect">
            <a:avLst/>
          </a:prstGeom>
          <a:solidFill>
            <a:srgbClr val="92D05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VCO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(96Mhz)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62ED49-2D40-C0DD-ECA5-999CF50EDCF9}"/>
              </a:ext>
            </a:extLst>
          </p:cNvPr>
          <p:cNvSpPr/>
          <p:nvPr/>
        </p:nvSpPr>
        <p:spPr>
          <a:xfrm>
            <a:off x="2196344" y="4761148"/>
            <a:ext cx="2538988" cy="1620180"/>
          </a:xfrm>
          <a:prstGeom prst="rect">
            <a:avLst/>
          </a:prstGeom>
          <a:solidFill>
            <a:srgbClr val="92D05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 err="1">
                <a:solidFill>
                  <a:schemeClr val="tx1"/>
                </a:solidFill>
              </a:rPr>
              <a:t>Divider</a:t>
            </a:r>
            <a:r>
              <a:rPr lang="fr-FR" sz="1400" dirty="0">
                <a:solidFill>
                  <a:schemeClr val="tx1"/>
                </a:solidFill>
              </a:rPr>
              <a:t> / 16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BA0E2BF1-5570-B9C4-4649-92E039772017}"/>
              </a:ext>
            </a:extLst>
          </p:cNvPr>
          <p:cNvCxnSpPr>
            <a:cxnSpLocks/>
          </p:cNvCxnSpPr>
          <p:nvPr/>
        </p:nvCxnSpPr>
        <p:spPr>
          <a:xfrm flipV="1">
            <a:off x="2315943" y="4033837"/>
            <a:ext cx="0" cy="7273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E700F4D7-1525-ED90-364A-9C2F14D4E958}"/>
              </a:ext>
            </a:extLst>
          </p:cNvPr>
          <p:cNvCxnSpPr>
            <a:cxnSpLocks/>
          </p:cNvCxnSpPr>
          <p:nvPr/>
        </p:nvCxnSpPr>
        <p:spPr>
          <a:xfrm flipV="1">
            <a:off x="4223792" y="4033837"/>
            <a:ext cx="0" cy="7273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81667D22-CAA1-71A9-C24C-2B56479CCE55}"/>
              </a:ext>
            </a:extLst>
          </p:cNvPr>
          <p:cNvCxnSpPr>
            <a:cxnSpLocks/>
          </p:cNvCxnSpPr>
          <p:nvPr/>
        </p:nvCxnSpPr>
        <p:spPr>
          <a:xfrm>
            <a:off x="6816080" y="3429000"/>
            <a:ext cx="61713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D3BB4B8A-C6FA-025B-9053-5646DEE591F5}"/>
              </a:ext>
            </a:extLst>
          </p:cNvPr>
          <p:cNvCxnSpPr>
            <a:cxnSpLocks/>
          </p:cNvCxnSpPr>
          <p:nvPr/>
        </p:nvCxnSpPr>
        <p:spPr>
          <a:xfrm flipV="1">
            <a:off x="9694201" y="4245653"/>
            <a:ext cx="0" cy="12421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14DEB391-1DB8-EC5C-3FFB-06DECA55B27E}"/>
              </a:ext>
            </a:extLst>
          </p:cNvPr>
          <p:cNvCxnSpPr>
            <a:cxnSpLocks/>
          </p:cNvCxnSpPr>
          <p:nvPr/>
        </p:nvCxnSpPr>
        <p:spPr>
          <a:xfrm flipH="1" flipV="1">
            <a:off x="4714335" y="5445224"/>
            <a:ext cx="4949778" cy="425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DC3CDBE0-CC37-17AE-A5AB-A0C28D10FD34}"/>
              </a:ext>
            </a:extLst>
          </p:cNvPr>
          <p:cNvSpPr txBox="1"/>
          <p:nvPr/>
        </p:nvSpPr>
        <p:spPr>
          <a:xfrm>
            <a:off x="4793199" y="3443079"/>
            <a:ext cx="53281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>
                <a:solidFill>
                  <a:srgbClr val="FF0000"/>
                </a:solidFill>
              </a:rPr>
              <a:t>VSC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EA2A9FD1-3CF8-95BB-E3E4-97E5F8C698DB}"/>
              </a:ext>
            </a:extLst>
          </p:cNvPr>
          <p:cNvSpPr txBox="1"/>
          <p:nvPr/>
        </p:nvSpPr>
        <p:spPr>
          <a:xfrm>
            <a:off x="4714335" y="2875760"/>
            <a:ext cx="64502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/>
              <a:t>VRES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844508E-22B7-3CA4-4AC5-55BA84EF8FB8}"/>
              </a:ext>
            </a:extLst>
          </p:cNvPr>
          <p:cNvSpPr txBox="1"/>
          <p:nvPr/>
        </p:nvSpPr>
        <p:spPr>
          <a:xfrm>
            <a:off x="4288083" y="4397176"/>
            <a:ext cx="173827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/>
              <a:t>Fosc</a:t>
            </a:r>
            <a:r>
              <a:rPr lang="fr-FR" sz="1400" dirty="0"/>
              <a:t>(6Mhz)=1/(2 T)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59157ED-9FBA-C994-73AD-4D2F01B8D710}"/>
              </a:ext>
            </a:extLst>
          </p:cNvPr>
          <p:cNvSpPr txBox="1"/>
          <p:nvPr/>
        </p:nvSpPr>
        <p:spPr>
          <a:xfrm>
            <a:off x="3553343" y="6418523"/>
            <a:ext cx="8445238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/>
              <a:t>Fosc</a:t>
            </a:r>
            <a:r>
              <a:rPr lang="fr-FR" sz="1400" dirty="0"/>
              <a:t>(48M) ≈ 8/(2*Req*C1)   </a:t>
            </a:r>
            <a:r>
              <a:rPr lang="fr-FR" sz="1400" dirty="0" err="1"/>
              <a:t>with</a:t>
            </a:r>
            <a:r>
              <a:rPr lang="fr-FR" sz="1400" dirty="0"/>
              <a:t> C2&gt;&gt;C1  , Req </a:t>
            </a:r>
            <a:r>
              <a:rPr lang="fr-FR" sz="1400" dirty="0" err="1"/>
              <a:t>will</a:t>
            </a:r>
            <a:r>
              <a:rPr lang="fr-FR" sz="1400" dirty="0"/>
              <a:t> </a:t>
            </a:r>
            <a:r>
              <a:rPr lang="fr-FR" sz="1400" dirty="0" err="1"/>
              <a:t>be</a:t>
            </a:r>
            <a:r>
              <a:rPr lang="fr-FR" sz="1400" dirty="0"/>
              <a:t> </a:t>
            </a:r>
            <a:r>
              <a:rPr lang="fr-FR" sz="1400" dirty="0" err="1"/>
              <a:t>trimmed</a:t>
            </a:r>
            <a:r>
              <a:rPr lang="fr-FR" sz="1400" dirty="0"/>
              <a:t> to </a:t>
            </a:r>
            <a:r>
              <a:rPr lang="fr-FR" sz="1400" dirty="0" err="1"/>
              <a:t>get</a:t>
            </a:r>
            <a:r>
              <a:rPr lang="fr-FR" sz="1400" dirty="0"/>
              <a:t> the </a:t>
            </a:r>
            <a:r>
              <a:rPr lang="fr-FR" sz="1400" dirty="0" err="1"/>
              <a:t>proper</a:t>
            </a:r>
            <a:r>
              <a:rPr lang="fr-FR" sz="1400" dirty="0"/>
              <a:t> oscillation </a:t>
            </a:r>
            <a:r>
              <a:rPr lang="fr-FR" sz="1400" dirty="0" err="1"/>
              <a:t>frequency</a:t>
            </a:r>
            <a:endParaRPr lang="fr-FR" sz="1400" dirty="0"/>
          </a:p>
        </p:txBody>
      </p: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242B5BEF-2274-63E9-1317-A4BDD9FB9C09}"/>
              </a:ext>
            </a:extLst>
          </p:cNvPr>
          <p:cNvCxnSpPr>
            <a:stCxn id="11" idx="2"/>
          </p:cNvCxnSpPr>
          <p:nvPr/>
        </p:nvCxnSpPr>
        <p:spPr>
          <a:xfrm>
            <a:off x="3465838" y="6381328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24C8CA95-1EC3-24FF-8CC4-AD36B3923FA7}"/>
              </a:ext>
            </a:extLst>
          </p:cNvPr>
          <p:cNvSpPr/>
          <p:nvPr/>
        </p:nvSpPr>
        <p:spPr>
          <a:xfrm>
            <a:off x="7433217" y="2635928"/>
            <a:ext cx="1069978" cy="1620180"/>
          </a:xfrm>
          <a:prstGeom prst="rect">
            <a:avLst/>
          </a:prstGeom>
          <a:solidFill>
            <a:srgbClr val="92D05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LP </a:t>
            </a:r>
          </a:p>
          <a:p>
            <a:pPr algn="ctr"/>
            <a:r>
              <a:rPr lang="fr-FR" sz="1400" dirty="0" err="1">
                <a:solidFill>
                  <a:schemeClr val="tx1"/>
                </a:solidFill>
              </a:rPr>
              <a:t>Filter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762B0B52-49C5-3E35-E022-810C70DBF2BC}"/>
              </a:ext>
            </a:extLst>
          </p:cNvPr>
          <p:cNvCxnSpPr>
            <a:cxnSpLocks/>
          </p:cNvCxnSpPr>
          <p:nvPr/>
        </p:nvCxnSpPr>
        <p:spPr>
          <a:xfrm>
            <a:off x="8503195" y="3429000"/>
            <a:ext cx="61713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09C10330-5A9A-83AF-1E09-D5512DB18A74}"/>
              </a:ext>
            </a:extLst>
          </p:cNvPr>
          <p:cNvSpPr txBox="1"/>
          <p:nvPr/>
        </p:nvSpPr>
        <p:spPr>
          <a:xfrm>
            <a:off x="1446920" y="2118779"/>
            <a:ext cx="100089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T=Req*C1</a:t>
            </a:r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8EB0628B-BC9F-56B6-F4A1-6EADE4E2C570}"/>
              </a:ext>
            </a:extLst>
          </p:cNvPr>
          <p:cNvCxnSpPr/>
          <p:nvPr/>
        </p:nvCxnSpPr>
        <p:spPr>
          <a:xfrm>
            <a:off x="1446920" y="2492896"/>
            <a:ext cx="1632228" cy="0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ZoneTexte 49">
            <a:extLst>
              <a:ext uri="{FF2B5EF4-FFF2-40B4-BE49-F238E27FC236}">
                <a16:creationId xmlns:a16="http://schemas.microsoft.com/office/drawing/2014/main" id="{9F5BA57D-3E3B-C589-DA05-B0BFF7BD54A0}"/>
              </a:ext>
            </a:extLst>
          </p:cNvPr>
          <p:cNvSpPr txBox="1"/>
          <p:nvPr/>
        </p:nvSpPr>
        <p:spPr>
          <a:xfrm>
            <a:off x="6858240" y="3167719"/>
            <a:ext cx="42862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>
                <a:solidFill>
                  <a:srgbClr val="FF0000"/>
                </a:solidFill>
              </a:rPr>
              <a:t>VC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AD4FF5B4-A7CC-D806-2243-B49CFE1D3620}"/>
              </a:ext>
            </a:extLst>
          </p:cNvPr>
          <p:cNvSpPr txBox="1"/>
          <p:nvPr/>
        </p:nvSpPr>
        <p:spPr>
          <a:xfrm>
            <a:off x="8624586" y="3116650"/>
            <a:ext cx="503962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 err="1">
                <a:solidFill>
                  <a:srgbClr val="FF0000"/>
                </a:solidFill>
              </a:rPr>
              <a:t>VCf</a:t>
            </a:r>
            <a:endParaRPr lang="fr-FR" sz="1400" b="1" dirty="0">
              <a:solidFill>
                <a:srgbClr val="FF0000"/>
              </a:solidFill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FCF69F65-FE0B-1F26-FB5A-1742833FA973}"/>
              </a:ext>
            </a:extLst>
          </p:cNvPr>
          <p:cNvSpPr txBox="1"/>
          <p:nvPr/>
        </p:nvSpPr>
        <p:spPr>
          <a:xfrm>
            <a:off x="8144387" y="5156362"/>
            <a:ext cx="151545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b="1" dirty="0">
                <a:solidFill>
                  <a:srgbClr val="FF0000"/>
                </a:solidFill>
              </a:rPr>
              <a:t>Fout=</a:t>
            </a:r>
            <a:r>
              <a:rPr lang="fr-FR" sz="1400" b="1" dirty="0" err="1">
                <a:solidFill>
                  <a:srgbClr val="FF0000"/>
                </a:solidFill>
              </a:rPr>
              <a:t>VCf</a:t>
            </a:r>
            <a:r>
              <a:rPr lang="fr-FR" sz="1400" b="1" dirty="0">
                <a:solidFill>
                  <a:srgbClr val="FF0000"/>
                </a:solidFill>
              </a:rPr>
              <a:t>*</a:t>
            </a:r>
            <a:r>
              <a:rPr lang="fr-FR" sz="1400" b="1" dirty="0" err="1">
                <a:solidFill>
                  <a:srgbClr val="FF0000"/>
                </a:solidFill>
              </a:rPr>
              <a:t>Kvco</a:t>
            </a:r>
            <a:endParaRPr lang="fr-FR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834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B3264-9800-41C3-9B6F-EAB87CA1E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AD822A-128D-5D84-BAE8-0D0E5FCD7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4005064"/>
            <a:ext cx="11593288" cy="2160240"/>
          </a:xfrm>
        </p:spPr>
        <p:txBody>
          <a:bodyPr/>
          <a:lstStyle/>
          <a:p>
            <a:r>
              <a:rPr lang="fr-FR" u="sng" dirty="0" err="1"/>
              <a:t>Why</a:t>
            </a:r>
            <a:r>
              <a:rPr lang="fr-FR" u="sng" dirty="0"/>
              <a:t> FLL ARCHITECTURE  ?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1) FLL :Frequency LOCK LOOP</a:t>
            </a:r>
            <a:br>
              <a:rPr lang="fr-FR" dirty="0"/>
            </a:br>
            <a:r>
              <a:rPr lang="fr-FR" dirty="0"/>
              <a:t>    Main avantage :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closed</a:t>
            </a:r>
            <a:r>
              <a:rPr lang="fr-FR" dirty="0"/>
              <a:t> </a:t>
            </a:r>
            <a:r>
              <a:rPr lang="fr-FR" dirty="0" err="1"/>
              <a:t>loop</a:t>
            </a:r>
            <a:r>
              <a:rPr lang="fr-FR" dirty="0"/>
              <a:t> design </a:t>
            </a:r>
            <a:r>
              <a:rPr lang="fr-FR" dirty="0" err="1"/>
              <a:t>so</a:t>
            </a:r>
            <a:r>
              <a:rPr lang="fr-FR" dirty="0"/>
              <a:t>  </a:t>
            </a:r>
            <a:r>
              <a:rPr lang="fr-FR" dirty="0" err="1"/>
              <a:t>internal</a:t>
            </a:r>
            <a:r>
              <a:rPr lang="fr-FR" dirty="0"/>
              <a:t> block  </a:t>
            </a:r>
            <a:r>
              <a:rPr lang="fr-FR" dirty="0" err="1"/>
              <a:t>delais</a:t>
            </a:r>
            <a:r>
              <a:rPr lang="fr-FR" dirty="0"/>
              <a:t> do not </a:t>
            </a:r>
            <a:r>
              <a:rPr lang="fr-FR" dirty="0" err="1"/>
              <a:t>any</a:t>
            </a:r>
            <a:r>
              <a:rPr lang="fr-FR" dirty="0"/>
              <a:t> impact oscillation </a:t>
            </a:r>
            <a:r>
              <a:rPr lang="fr-FR" dirty="0" err="1"/>
              <a:t>frequency</a:t>
            </a:r>
            <a:r>
              <a:rPr lang="fr-FR" dirty="0"/>
              <a:t>  versus </a:t>
            </a:r>
            <a:r>
              <a:rPr lang="fr-FR" dirty="0" err="1"/>
              <a:t>temperature</a:t>
            </a:r>
            <a:r>
              <a:rPr lang="fr-FR" dirty="0"/>
              <a:t> and </a:t>
            </a:r>
            <a:r>
              <a:rPr lang="fr-FR" dirty="0" err="1"/>
              <a:t>supply</a:t>
            </a:r>
            <a:br>
              <a:rPr lang="fr-FR" dirty="0"/>
            </a:br>
            <a:r>
              <a:rPr lang="fr-FR" dirty="0"/>
              <a:t> ( no Td impact as </a:t>
            </a:r>
            <a:r>
              <a:rPr lang="fr-FR" dirty="0" err="1"/>
              <a:t>previous</a:t>
            </a:r>
            <a:r>
              <a:rPr lang="fr-FR" dirty="0"/>
              <a:t> architecture </a:t>
            </a:r>
            <a:r>
              <a:rPr lang="fr-FR" dirty="0" err="1"/>
              <a:t>ramp</a:t>
            </a:r>
            <a:r>
              <a:rPr lang="fr-FR" dirty="0"/>
              <a:t>) .</a:t>
            </a:r>
            <a:br>
              <a:rPr lang="fr-FR" dirty="0"/>
            </a:br>
            <a:r>
              <a:rPr lang="fr-FR" dirty="0"/>
              <a:t>   By construction PSRR (dc)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neglectable</a:t>
            </a:r>
            <a:r>
              <a:rPr lang="fr-FR" dirty="0"/>
              <a:t> 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/>
              <a:t> 2) </a:t>
            </a:r>
            <a:r>
              <a:rPr lang="fr-FR" dirty="0" err="1"/>
              <a:t>Remain</a:t>
            </a:r>
            <a:r>
              <a:rPr lang="fr-FR" dirty="0"/>
              <a:t> the time constant  T= Req * C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constant versus </a:t>
            </a:r>
            <a:r>
              <a:rPr lang="fr-FR" dirty="0" err="1"/>
              <a:t>temperature</a:t>
            </a:r>
            <a:r>
              <a:rPr lang="fr-FR" dirty="0"/>
              <a:t> and </a:t>
            </a:r>
            <a:r>
              <a:rPr lang="fr-FR" dirty="0" err="1"/>
              <a:t>supply</a:t>
            </a:r>
            <a:r>
              <a:rPr lang="fr-FR" dirty="0"/>
              <a:t>  </a:t>
            </a:r>
            <a:r>
              <a:rPr lang="fr-FR" dirty="0" err="1"/>
              <a:t>Vdd</a:t>
            </a:r>
            <a:r>
              <a:rPr lang="fr-FR" dirty="0"/>
              <a:t>  .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  Key </a:t>
            </a:r>
            <a:r>
              <a:rPr lang="fr-FR" dirty="0" err="1"/>
              <a:t>Foundry</a:t>
            </a:r>
            <a:r>
              <a:rPr lang="fr-FR" dirty="0"/>
              <a:t> </a:t>
            </a:r>
            <a:r>
              <a:rPr lang="fr-FR" dirty="0" err="1"/>
              <a:t>provide</a:t>
            </a:r>
            <a:r>
              <a:rPr lang="fr-FR" dirty="0"/>
              <a:t> a </a:t>
            </a:r>
            <a:r>
              <a:rPr lang="fr-FR" dirty="0" err="1"/>
              <a:t>resistance</a:t>
            </a:r>
            <a:r>
              <a:rPr lang="fr-FR" dirty="0"/>
              <a:t> (</a:t>
            </a:r>
            <a:r>
              <a:rPr lang="fr-FR" dirty="0" err="1"/>
              <a:t>Rdppo_ns</a:t>
            </a:r>
            <a:r>
              <a:rPr lang="fr-FR" dirty="0"/>
              <a:t>) </a:t>
            </a:r>
            <a:r>
              <a:rPr lang="fr-FR" dirty="0" err="1"/>
              <a:t>which</a:t>
            </a:r>
            <a:r>
              <a:rPr lang="fr-FR" dirty="0"/>
              <a:t> coefficient of </a:t>
            </a:r>
            <a:r>
              <a:rPr lang="fr-FR" dirty="0" err="1"/>
              <a:t>temperature</a:t>
            </a:r>
            <a:r>
              <a:rPr lang="fr-FR" dirty="0"/>
              <a:t> Tc1 dépend of </a:t>
            </a:r>
            <a:r>
              <a:rPr lang="fr-FR" dirty="0" err="1"/>
              <a:t>width</a:t>
            </a:r>
            <a:r>
              <a:rPr lang="fr-FR" dirty="0"/>
              <a:t>  !</a:t>
            </a:r>
            <a:br>
              <a:rPr lang="fr-FR" dirty="0"/>
            </a:br>
            <a:r>
              <a:rPr lang="fr-FR" dirty="0"/>
              <a:t>  The goal </a:t>
            </a:r>
            <a:r>
              <a:rPr lang="fr-FR" dirty="0" err="1"/>
              <a:t>is</a:t>
            </a:r>
            <a:r>
              <a:rPr lang="fr-FR" dirty="0"/>
              <a:t> to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Res</a:t>
            </a:r>
            <a:r>
              <a:rPr lang="fr-FR" dirty="0"/>
              <a:t>*C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dirty="0" err="1"/>
              <a:t>lowest</a:t>
            </a:r>
            <a:r>
              <a:rPr lang="fr-FR" dirty="0"/>
              <a:t> </a:t>
            </a:r>
            <a:r>
              <a:rPr lang="fr-FR" dirty="0" err="1"/>
              <a:t>Tc_ppm</a:t>
            </a:r>
            <a:r>
              <a:rPr lang="fr-FR" dirty="0"/>
              <a:t>/K !</a:t>
            </a:r>
            <a:br>
              <a:rPr lang="fr-FR" sz="2400" dirty="0"/>
            </a:br>
            <a:r>
              <a:rPr lang="fr-FR" sz="2400" dirty="0"/>
              <a:t>     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EEF11DD-3006-2DAE-94B2-6043C3A9D417}"/>
              </a:ext>
            </a:extLst>
          </p:cNvPr>
          <p:cNvCxnSpPr/>
          <p:nvPr/>
        </p:nvCxnSpPr>
        <p:spPr>
          <a:xfrm>
            <a:off x="1199456" y="3645024"/>
            <a:ext cx="914400" cy="9144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664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E2C12-035C-FD2C-432C-E1752B26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CEC2C39C-F670-3C5E-6958-445E3F355AB6}"/>
              </a:ext>
            </a:extLst>
          </p:cNvPr>
          <p:cNvCxnSpPr/>
          <p:nvPr/>
        </p:nvCxnSpPr>
        <p:spPr>
          <a:xfrm>
            <a:off x="1199456" y="3645024"/>
            <a:ext cx="914400" cy="9144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re 3">
            <a:extLst>
              <a:ext uri="{FF2B5EF4-FFF2-40B4-BE49-F238E27FC236}">
                <a16:creationId xmlns:a16="http://schemas.microsoft.com/office/drawing/2014/main" id="{97A4FC56-C4A4-03A3-8266-93391406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66" y="-11385"/>
            <a:ext cx="11008413" cy="792163"/>
          </a:xfrm>
        </p:spPr>
        <p:txBody>
          <a:bodyPr/>
          <a:lstStyle/>
          <a:p>
            <a:r>
              <a:rPr lang="fr-FR" dirty="0"/>
              <a:t>Model Req*C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excell</a:t>
            </a:r>
            <a:r>
              <a:rPr lang="fr-FR" dirty="0"/>
              <a:t> file : optimum </a:t>
            </a:r>
            <a:r>
              <a:rPr lang="fr-FR" dirty="0" err="1"/>
              <a:t>width</a:t>
            </a:r>
            <a:r>
              <a:rPr lang="fr-FR" dirty="0"/>
              <a:t> </a:t>
            </a:r>
            <a:r>
              <a:rPr lang="fr-FR" dirty="0" err="1"/>
              <a:t>resistance</a:t>
            </a:r>
            <a:r>
              <a:rPr lang="fr-FR" dirty="0"/>
              <a:t> 4.5um</a:t>
            </a:r>
            <a:br>
              <a:rPr lang="fr-FR" dirty="0"/>
            </a:br>
            <a:r>
              <a:rPr lang="fr-FR" dirty="0" err="1"/>
              <a:t>Tc_ppm</a:t>
            </a:r>
            <a:r>
              <a:rPr lang="fr-FR" dirty="0"/>
              <a:t>/k (-40..+175dc)= 31.45 !!</a:t>
            </a:r>
          </a:p>
        </p:txBody>
      </p:sp>
      <p:pic>
        <p:nvPicPr>
          <p:cNvPr id="6" name="Image 5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A6757DC2-33E3-52E3-35EF-FB8A260A7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71" y="1362932"/>
            <a:ext cx="10865408" cy="55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4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64B80-E388-CB1E-64BC-3B0DF04E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5BC59ED4-95F8-C203-D2A1-B2C4B2655602}"/>
              </a:ext>
            </a:extLst>
          </p:cNvPr>
          <p:cNvCxnSpPr/>
          <p:nvPr/>
        </p:nvCxnSpPr>
        <p:spPr>
          <a:xfrm>
            <a:off x="1199456" y="3645024"/>
            <a:ext cx="914400" cy="9144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re 3">
            <a:extLst>
              <a:ext uri="{FF2B5EF4-FFF2-40B4-BE49-F238E27FC236}">
                <a16:creationId xmlns:a16="http://schemas.microsoft.com/office/drawing/2014/main" id="{16208DD4-A107-48ED-620D-89D445E2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696" y="-236655"/>
            <a:ext cx="11008413" cy="792163"/>
          </a:xfrm>
        </p:spPr>
        <p:txBody>
          <a:bodyPr/>
          <a:lstStyle/>
          <a:p>
            <a:r>
              <a:rPr lang="fr-FR" dirty="0"/>
              <a:t>Design OSCM48 FLL </a:t>
            </a:r>
          </a:p>
        </p:txBody>
      </p:sp>
      <p:pic>
        <p:nvPicPr>
          <p:cNvPr id="3" name="Image 2" descr="Une image contenant capture d’écran, Plan, circuit&#10;&#10;Le contenu généré par l’IA peut être incorrect.">
            <a:extLst>
              <a:ext uri="{FF2B5EF4-FFF2-40B4-BE49-F238E27FC236}">
                <a16:creationId xmlns:a16="http://schemas.microsoft.com/office/drawing/2014/main" id="{C21489DD-5E8A-1DF2-6EC1-F3C22A5ED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42085"/>
            <a:ext cx="11149963" cy="600587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6EA1DB6-F580-F497-B888-0B8A4226479F}"/>
              </a:ext>
            </a:extLst>
          </p:cNvPr>
          <p:cNvSpPr txBox="1"/>
          <p:nvPr/>
        </p:nvSpPr>
        <p:spPr>
          <a:xfrm>
            <a:off x="250851" y="3068960"/>
            <a:ext cx="901507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>
                <a:solidFill>
                  <a:schemeClr val="bg1"/>
                </a:solidFill>
              </a:rPr>
              <a:t>Bandgap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1FAEACE-92CD-3C0F-E87F-EA45CB74193B}"/>
              </a:ext>
            </a:extLst>
          </p:cNvPr>
          <p:cNvSpPr txBox="1"/>
          <p:nvPr/>
        </p:nvSpPr>
        <p:spPr>
          <a:xfrm>
            <a:off x="3318350" y="1988840"/>
            <a:ext cx="1098675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Switch/Cap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9030855-1D15-FA1F-6E42-9595F4D246AC}"/>
              </a:ext>
            </a:extLst>
          </p:cNvPr>
          <p:cNvSpPr txBox="1"/>
          <p:nvPr/>
        </p:nvSpPr>
        <p:spPr>
          <a:xfrm>
            <a:off x="3318349" y="3572748"/>
            <a:ext cx="746015" cy="525401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>
                <a:solidFill>
                  <a:schemeClr val="bg1"/>
                </a:solidFill>
              </a:rPr>
              <a:t>Trimm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</a:p>
          <a:p>
            <a:pPr algn="l">
              <a:spcBef>
                <a:spcPct val="0"/>
              </a:spcBef>
            </a:pPr>
            <a:r>
              <a:rPr lang="fr-FR" sz="1400" dirty="0" err="1">
                <a:solidFill>
                  <a:schemeClr val="bg1"/>
                </a:solidFill>
              </a:rPr>
              <a:t>Res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AB0CD92-9B41-252C-F505-9D2E5ECCA65D}"/>
              </a:ext>
            </a:extLst>
          </p:cNvPr>
          <p:cNvSpPr txBox="1"/>
          <p:nvPr/>
        </p:nvSpPr>
        <p:spPr>
          <a:xfrm>
            <a:off x="5015880" y="2300336"/>
            <a:ext cx="614569" cy="525401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LP</a:t>
            </a:r>
          </a:p>
          <a:p>
            <a:pPr algn="l">
              <a:spcBef>
                <a:spcPct val="0"/>
              </a:spcBef>
            </a:pPr>
            <a:r>
              <a:rPr lang="fr-FR" sz="1400" dirty="0" err="1">
                <a:solidFill>
                  <a:schemeClr val="bg1"/>
                </a:solidFill>
              </a:rPr>
              <a:t>Filter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2C21A54-5967-C420-F35A-809E888B9723}"/>
              </a:ext>
            </a:extLst>
          </p:cNvPr>
          <p:cNvSpPr txBox="1"/>
          <p:nvPr/>
        </p:nvSpPr>
        <p:spPr>
          <a:xfrm>
            <a:off x="5894172" y="3824753"/>
            <a:ext cx="8149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OPAMP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4E705A8-E49F-50E8-B37B-2E1DD6CAF40B}"/>
              </a:ext>
            </a:extLst>
          </p:cNvPr>
          <p:cNvSpPr txBox="1"/>
          <p:nvPr/>
        </p:nvSpPr>
        <p:spPr>
          <a:xfrm>
            <a:off x="7312694" y="3464421"/>
            <a:ext cx="54884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VCO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384497-59CD-2742-F176-0DAE59AEF4A1}"/>
              </a:ext>
            </a:extLst>
          </p:cNvPr>
          <p:cNvSpPr txBox="1"/>
          <p:nvPr/>
        </p:nvSpPr>
        <p:spPr>
          <a:xfrm>
            <a:off x="7861540" y="2204242"/>
            <a:ext cx="999289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ATB_MUX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C3A4440-D704-A523-D4B1-BD22A3B63857}"/>
              </a:ext>
            </a:extLst>
          </p:cNvPr>
          <p:cNvSpPr txBox="1"/>
          <p:nvPr/>
        </p:nvSpPr>
        <p:spPr>
          <a:xfrm>
            <a:off x="6294376" y="1305055"/>
            <a:ext cx="976847" cy="525401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TEST</a:t>
            </a:r>
          </a:p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MIN/MAX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028E13E-6435-EB32-3D16-17AAF0B28A50}"/>
              </a:ext>
            </a:extLst>
          </p:cNvPr>
          <p:cNvSpPr txBox="1"/>
          <p:nvPr/>
        </p:nvSpPr>
        <p:spPr>
          <a:xfrm>
            <a:off x="5922747" y="4748419"/>
            <a:ext cx="1180429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Mirror </a:t>
            </a:r>
            <a:r>
              <a:rPr lang="fr-FR" sz="1400" dirty="0" err="1">
                <a:solidFill>
                  <a:schemeClr val="bg1"/>
                </a:solidFill>
              </a:rPr>
              <a:t>nmos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B747A96-1D69-2B25-CF63-3E4262958593}"/>
              </a:ext>
            </a:extLst>
          </p:cNvPr>
          <p:cNvSpPr txBox="1"/>
          <p:nvPr/>
        </p:nvSpPr>
        <p:spPr>
          <a:xfrm>
            <a:off x="1435890" y="2387396"/>
            <a:ext cx="696322" cy="525401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Mirror</a:t>
            </a:r>
          </a:p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pmos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98F0329-3924-DA2B-A6E2-153EFD10B4FA}"/>
              </a:ext>
            </a:extLst>
          </p:cNvPr>
          <p:cNvSpPr txBox="1"/>
          <p:nvPr/>
        </p:nvSpPr>
        <p:spPr>
          <a:xfrm>
            <a:off x="9957446" y="3774379"/>
            <a:ext cx="762045" cy="525401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Charge</a:t>
            </a:r>
          </a:p>
          <a:p>
            <a:pPr algn="l">
              <a:spcBef>
                <a:spcPct val="0"/>
              </a:spcBef>
            </a:pPr>
            <a:r>
              <a:rPr lang="fr-FR" sz="1400" dirty="0" err="1">
                <a:solidFill>
                  <a:schemeClr val="bg1"/>
                </a:solidFill>
              </a:rPr>
              <a:t>Pump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A33F7E5-04EC-BD96-4C7D-4E74B3BC33CE}"/>
              </a:ext>
            </a:extLst>
          </p:cNvPr>
          <p:cNvSpPr txBox="1"/>
          <p:nvPr/>
        </p:nvSpPr>
        <p:spPr>
          <a:xfrm>
            <a:off x="10338468" y="5690514"/>
            <a:ext cx="574494" cy="525401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Test</a:t>
            </a:r>
          </a:p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Duty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4604ACB-C654-1A4E-ED2A-D58E2600D727}"/>
              </a:ext>
            </a:extLst>
          </p:cNvPr>
          <p:cNvSpPr txBox="1"/>
          <p:nvPr/>
        </p:nvSpPr>
        <p:spPr>
          <a:xfrm>
            <a:off x="4068159" y="934185"/>
            <a:ext cx="75082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READY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95A6421-77E4-71C1-C810-B1341DEB2B0F}"/>
              </a:ext>
            </a:extLst>
          </p:cNvPr>
          <p:cNvSpPr txBox="1"/>
          <p:nvPr/>
        </p:nvSpPr>
        <p:spPr>
          <a:xfrm>
            <a:off x="407368" y="5725528"/>
            <a:ext cx="972039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Start OSC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7EFE8D9-AB8B-EE2A-F525-4BABDE6979A6}"/>
              </a:ext>
            </a:extLst>
          </p:cNvPr>
          <p:cNvSpPr txBox="1"/>
          <p:nvPr/>
        </p:nvSpPr>
        <p:spPr>
          <a:xfrm>
            <a:off x="407367" y="4921713"/>
            <a:ext cx="1084249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ON/OFF dc</a:t>
            </a:r>
          </a:p>
        </p:txBody>
      </p:sp>
    </p:spTree>
    <p:extLst>
      <p:ext uri="{BB962C8B-B14F-4D97-AF65-F5344CB8AC3E}">
        <p14:creationId xmlns:p14="http://schemas.microsoft.com/office/powerpoint/2010/main" val="827074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B3B1F-267E-A448-282E-897E8B54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0862DB6-0A8F-F89E-4C0F-993DFD6EC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480" y="-10268"/>
            <a:ext cx="11008413" cy="792163"/>
          </a:xfrm>
        </p:spPr>
        <p:txBody>
          <a:bodyPr/>
          <a:lstStyle/>
          <a:p>
            <a:r>
              <a:rPr lang="fr-FR" dirty="0"/>
              <a:t>Simulation Validation Time constante :T=Req*C </a:t>
            </a:r>
          </a:p>
        </p:txBody>
      </p:sp>
      <p:pic>
        <p:nvPicPr>
          <p:cNvPr id="6" name="Image 5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12573447-CB0F-58DE-58BF-F4BC73E0A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1412776"/>
            <a:ext cx="10801200" cy="5837383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4D08FBB2-B528-1AAF-3243-58D0968BCCF0}"/>
              </a:ext>
            </a:extLst>
          </p:cNvPr>
          <p:cNvSpPr txBox="1"/>
          <p:nvPr/>
        </p:nvSpPr>
        <p:spPr>
          <a:xfrm>
            <a:off x="695400" y="1021277"/>
            <a:ext cx="7752741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Emulation Time constant by </a:t>
            </a:r>
            <a:r>
              <a:rPr lang="fr-FR" sz="1400" dirty="0" err="1"/>
              <a:t>measuring</a:t>
            </a:r>
            <a:r>
              <a:rPr lang="fr-FR" sz="1400" dirty="0"/>
              <a:t> in DC and AC ;Req and C versus </a:t>
            </a:r>
            <a:r>
              <a:rPr lang="fr-FR" sz="1400" dirty="0" err="1"/>
              <a:t>Temperature</a:t>
            </a:r>
            <a:r>
              <a:rPr lang="fr-FR" sz="1400" dirty="0"/>
              <a:t> and VDD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AC25DD2-63DA-D48A-2CEB-CC8E79B4F368}"/>
              </a:ext>
            </a:extLst>
          </p:cNvPr>
          <p:cNvSpPr txBox="1"/>
          <p:nvPr/>
        </p:nvSpPr>
        <p:spPr>
          <a:xfrm>
            <a:off x="4799856" y="3861048"/>
            <a:ext cx="1765525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Emulation Req (DC)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4B6D016-2A8A-0B65-18A8-B92145228B84}"/>
              </a:ext>
            </a:extLst>
          </p:cNvPr>
          <p:cNvSpPr txBox="1"/>
          <p:nvPr/>
        </p:nvSpPr>
        <p:spPr>
          <a:xfrm>
            <a:off x="8760296" y="3551090"/>
            <a:ext cx="232657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Emulation Switch Cap (AC)</a:t>
            </a:r>
          </a:p>
        </p:txBody>
      </p:sp>
    </p:spTree>
    <p:extLst>
      <p:ext uri="{BB962C8B-B14F-4D97-AF65-F5344CB8AC3E}">
        <p14:creationId xmlns:p14="http://schemas.microsoft.com/office/powerpoint/2010/main" val="1178949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03328-7CD0-86F4-EF30-584447AFB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2B67219-290C-D348-AC57-01711B976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-29623"/>
            <a:ext cx="12592589" cy="792163"/>
          </a:xfrm>
        </p:spPr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simulation , process TTT (  </a:t>
            </a:r>
            <a:r>
              <a:rPr lang="fr-FR" dirty="0" err="1"/>
              <a:t>trimmed</a:t>
            </a:r>
            <a:r>
              <a:rPr lang="fr-FR" dirty="0"/>
              <a:t>  code to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Fsoc</a:t>
            </a:r>
            <a:r>
              <a:rPr lang="fr-FR" dirty="0"/>
              <a:t>=48Mhz)</a:t>
            </a:r>
            <a:br>
              <a:rPr lang="fr-FR" dirty="0"/>
            </a:br>
            <a:r>
              <a:rPr lang="fr-FR" dirty="0"/>
              <a:t> Temp:-55 to 175dC , Vdd:1.25 to 1.65V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BB3F2C7-292A-A895-00FC-C328C2AC2B22}"/>
              </a:ext>
            </a:extLst>
          </p:cNvPr>
          <p:cNvSpPr txBox="1"/>
          <p:nvPr/>
        </p:nvSpPr>
        <p:spPr>
          <a:xfrm>
            <a:off x="4799856" y="3861048"/>
            <a:ext cx="1765525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Emulation Req (DC)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F0824C2-F071-7D1E-4370-2EF179A03DA9}"/>
              </a:ext>
            </a:extLst>
          </p:cNvPr>
          <p:cNvSpPr txBox="1"/>
          <p:nvPr/>
        </p:nvSpPr>
        <p:spPr>
          <a:xfrm>
            <a:off x="8760296" y="3551090"/>
            <a:ext cx="232657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Emulation Switch Cap (AC)</a:t>
            </a:r>
          </a:p>
        </p:txBody>
      </p:sp>
      <p:pic>
        <p:nvPicPr>
          <p:cNvPr id="3" name="Image 2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6D9FD037-86AF-2519-6882-E9F15FF8F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0" y="1254012"/>
            <a:ext cx="12065620" cy="5271331"/>
          </a:xfrm>
          <a:prstGeom prst="rect">
            <a:avLst/>
          </a:prstGeom>
        </p:spPr>
      </p:pic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BE1C0BB-F697-BDA5-7959-0F3CFB080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046" y="2996952"/>
            <a:ext cx="2543393" cy="319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28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6D4E5-7539-D52B-937D-F68BAA93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D5B799B-0D47-4F48-F71F-6CAF395A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67" y="-138473"/>
            <a:ext cx="11008413" cy="792163"/>
          </a:xfrm>
        </p:spPr>
        <p:txBody>
          <a:bodyPr/>
          <a:lstStyle/>
          <a:p>
            <a:r>
              <a:rPr lang="fr-FR" dirty="0"/>
              <a:t>Resistance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trimming</a:t>
            </a:r>
            <a:r>
              <a:rPr lang="fr-FR" dirty="0"/>
              <a:t> 9 bits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A21C048-E175-4AC8-3CEE-8DAEBA3F2B7C}"/>
              </a:ext>
            </a:extLst>
          </p:cNvPr>
          <p:cNvSpPr txBox="1"/>
          <p:nvPr/>
        </p:nvSpPr>
        <p:spPr>
          <a:xfrm>
            <a:off x="4799856" y="3861048"/>
            <a:ext cx="1765525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Emulation Req (DC)</a:t>
            </a:r>
          </a:p>
        </p:txBody>
      </p:sp>
      <p:pic>
        <p:nvPicPr>
          <p:cNvPr id="3" name="Image 2" descr="Une image contenant capture d’écran, carré, diagramme&#10;&#10;Le contenu généré par l’IA peut être incorrect.">
            <a:extLst>
              <a:ext uri="{FF2B5EF4-FFF2-40B4-BE49-F238E27FC236}">
                <a16:creationId xmlns:a16="http://schemas.microsoft.com/office/drawing/2014/main" id="{1AE7F6D9-8EC2-3C69-C9A5-18DFF2C51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9" y="836712"/>
            <a:ext cx="5315223" cy="4692891"/>
          </a:xfrm>
          <a:prstGeom prst="rect">
            <a:avLst/>
          </a:prstGeom>
        </p:spPr>
      </p:pic>
      <p:pic>
        <p:nvPicPr>
          <p:cNvPr id="9" name="Image 8" descr="Une image contenant texte, ligne, capture d’écran, Tracé&#10;&#10;Le contenu généré par l’IA peut être incorrect.">
            <a:extLst>
              <a:ext uri="{FF2B5EF4-FFF2-40B4-BE49-F238E27FC236}">
                <a16:creationId xmlns:a16="http://schemas.microsoft.com/office/drawing/2014/main" id="{ACF2F070-1FD0-86F2-AB30-02F6AB73F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968" y="0"/>
            <a:ext cx="6250772" cy="4396413"/>
          </a:xfrm>
          <a:prstGeom prst="rect">
            <a:avLst/>
          </a:prstGeom>
        </p:spPr>
      </p:pic>
      <p:pic>
        <p:nvPicPr>
          <p:cNvPr id="11" name="Image 10" descr="Une image contenant texte, capture d’écran, ligne, nombre&#10;&#10;Le contenu généré par l’IA peut être incorrect.">
            <a:extLst>
              <a:ext uri="{FF2B5EF4-FFF2-40B4-BE49-F238E27FC236}">
                <a16:creationId xmlns:a16="http://schemas.microsoft.com/office/drawing/2014/main" id="{315E1E29-2693-8AD3-854B-A977F0269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042" y="4396413"/>
            <a:ext cx="6367698" cy="222421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89C9017A-72A7-C618-8E26-012371A175EA}"/>
              </a:ext>
            </a:extLst>
          </p:cNvPr>
          <p:cNvSpPr txBox="1"/>
          <p:nvPr/>
        </p:nvSpPr>
        <p:spPr>
          <a:xfrm>
            <a:off x="8256240" y="850901"/>
            <a:ext cx="119165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/>
              <a:t>Step</a:t>
            </a:r>
            <a:r>
              <a:rPr lang="fr-FR" sz="1400" dirty="0"/>
              <a:t> :32 LSB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D76D967-5AD4-9534-1A9F-8B9DB19617C5}"/>
              </a:ext>
            </a:extLst>
          </p:cNvPr>
          <p:cNvSpPr txBox="1"/>
          <p:nvPr/>
        </p:nvSpPr>
        <p:spPr>
          <a:xfrm>
            <a:off x="7896200" y="5248809"/>
            <a:ext cx="2765799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/>
              <a:t>Step</a:t>
            </a:r>
            <a:r>
              <a:rPr lang="fr-FR" sz="1400" dirty="0"/>
              <a:t> :1 LSB </a:t>
            </a:r>
            <a:r>
              <a:rPr lang="fr-FR" sz="1400" dirty="0" err="1"/>
              <a:t>around</a:t>
            </a:r>
            <a:r>
              <a:rPr lang="fr-FR" sz="1400" dirty="0"/>
              <a:t> </a:t>
            </a:r>
            <a:r>
              <a:rPr lang="fr-FR" sz="1400" dirty="0" err="1"/>
              <a:t>Fosc</a:t>
            </a:r>
            <a:r>
              <a:rPr lang="fr-FR" sz="1400" dirty="0"/>
              <a:t>=48Mhz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68A8C30-9923-A47A-0204-EE3FEFD24521}"/>
              </a:ext>
            </a:extLst>
          </p:cNvPr>
          <p:cNvSpPr txBox="1"/>
          <p:nvPr/>
        </p:nvSpPr>
        <p:spPr>
          <a:xfrm>
            <a:off x="7392144" y="6256184"/>
            <a:ext cx="484649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fr-FR" sz="1400" dirty="0" err="1"/>
              <a:t>Step</a:t>
            </a:r>
            <a:r>
              <a:rPr lang="fr-FR" sz="1400" dirty="0"/>
              <a:t> :  TTT 100khz            SSS 130khz,                    FFF: 70khz </a:t>
            </a:r>
          </a:p>
        </p:txBody>
      </p:sp>
    </p:spTree>
    <p:extLst>
      <p:ext uri="{BB962C8B-B14F-4D97-AF65-F5344CB8AC3E}">
        <p14:creationId xmlns:p14="http://schemas.microsoft.com/office/powerpoint/2010/main" val="1447042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5F2CF-6069-607E-1137-8BC9D1F4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B0F007F-D5AF-D162-0CD4-C989999F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-171400"/>
            <a:ext cx="11008413" cy="792163"/>
          </a:xfrm>
        </p:spPr>
        <p:txBody>
          <a:bodyPr/>
          <a:lstStyle/>
          <a:p>
            <a:r>
              <a:rPr lang="fr-FR" dirty="0"/>
              <a:t>OPAMP :</a:t>
            </a:r>
            <a:r>
              <a:rPr lang="fr-FR" dirty="0" err="1"/>
              <a:t>classical</a:t>
            </a:r>
            <a:r>
              <a:rPr lang="fr-FR" dirty="0"/>
              <a:t> </a:t>
            </a:r>
            <a:r>
              <a:rPr lang="fr-FR" dirty="0" err="1"/>
              <a:t>two</a:t>
            </a:r>
            <a:r>
              <a:rPr lang="fr-FR" dirty="0"/>
              <a:t> stages OTA 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0A49587-0623-4278-2F29-B806BCDFA4B1}"/>
              </a:ext>
            </a:extLst>
          </p:cNvPr>
          <p:cNvSpPr txBox="1"/>
          <p:nvPr/>
        </p:nvSpPr>
        <p:spPr>
          <a:xfrm>
            <a:off x="4799856" y="3861048"/>
            <a:ext cx="1765525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Emulation Req (DC)</a:t>
            </a:r>
          </a:p>
        </p:txBody>
      </p:sp>
      <p:pic>
        <p:nvPicPr>
          <p:cNvPr id="16" name="Image 15" descr="Une image contenant texte, capture d’écran, diagramme, Plan&#10;&#10;Le contenu généré par l’IA peut être incorrect.">
            <a:extLst>
              <a:ext uri="{FF2B5EF4-FFF2-40B4-BE49-F238E27FC236}">
                <a16:creationId xmlns:a16="http://schemas.microsoft.com/office/drawing/2014/main" id="{3FDDBB2B-0A1D-378D-86B0-FAE0E5BF3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08" y="629713"/>
            <a:ext cx="10801200" cy="614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63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00A67-4698-A799-5849-09164746D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11B76FA-1A71-E063-ACF1-C423EC4C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-171400"/>
            <a:ext cx="11008413" cy="792163"/>
          </a:xfrm>
        </p:spPr>
        <p:txBody>
          <a:bodyPr/>
          <a:lstStyle/>
          <a:p>
            <a:r>
              <a:rPr lang="fr-FR" dirty="0"/>
              <a:t>OPAMP </a:t>
            </a:r>
            <a:r>
              <a:rPr lang="fr-FR" dirty="0" err="1"/>
              <a:t>Characteristics</a:t>
            </a:r>
            <a:r>
              <a:rPr lang="fr-FR" dirty="0"/>
              <a:t>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3D718E9-6C7F-C6D3-0597-880FA5A0B6DA}"/>
              </a:ext>
            </a:extLst>
          </p:cNvPr>
          <p:cNvSpPr txBox="1"/>
          <p:nvPr/>
        </p:nvSpPr>
        <p:spPr>
          <a:xfrm>
            <a:off x="4799856" y="3861048"/>
            <a:ext cx="1765525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Emulation Req (DC)</a:t>
            </a:r>
          </a:p>
        </p:txBody>
      </p:sp>
      <p:pic>
        <p:nvPicPr>
          <p:cNvPr id="14" name="Image 13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1D327B28-D6BA-697F-B344-1584B90CB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3266"/>
            <a:ext cx="12259767" cy="531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29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B511-1F72-2E44-23C4-ADDE9E0A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6A38F77-62AF-E02E-1D3B-F26BE566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-171400"/>
            <a:ext cx="11008413" cy="792163"/>
          </a:xfrm>
        </p:spPr>
        <p:txBody>
          <a:bodyPr/>
          <a:lstStyle/>
          <a:p>
            <a:r>
              <a:rPr lang="fr-FR" sz="2000" dirty="0"/>
              <a:t>VCO : V/I amplifier </a:t>
            </a:r>
            <a:r>
              <a:rPr lang="fr-FR" sz="2000" dirty="0" err="1"/>
              <a:t>loading</a:t>
            </a:r>
            <a:r>
              <a:rPr lang="fr-FR" sz="2000" dirty="0"/>
              <a:t> ring </a:t>
            </a:r>
            <a:r>
              <a:rPr lang="fr-FR" sz="2000" dirty="0" err="1"/>
              <a:t>oscillator</a:t>
            </a:r>
            <a:r>
              <a:rPr lang="fr-FR" sz="2000" dirty="0"/>
              <a:t>  </a:t>
            </a:r>
            <a:r>
              <a:rPr lang="fr-FR" sz="2000" dirty="0" err="1"/>
              <a:t>providing</a:t>
            </a:r>
            <a:r>
              <a:rPr lang="fr-FR" sz="2000" dirty="0"/>
              <a:t> 96Mhz  </a:t>
            </a:r>
            <a:r>
              <a:rPr lang="fr-FR" sz="2000" dirty="0" err="1"/>
              <a:t>Followed</a:t>
            </a:r>
            <a:r>
              <a:rPr lang="fr-FR" sz="2000" dirty="0"/>
              <a:t> by </a:t>
            </a:r>
            <a:r>
              <a:rPr lang="fr-FR" sz="2000" dirty="0" err="1"/>
              <a:t>divider</a:t>
            </a:r>
            <a:r>
              <a:rPr lang="fr-FR" sz="2000" dirty="0"/>
              <a:t> 2 to 16 .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89D529E-DC4F-7C41-3612-C8DE687291ED}"/>
              </a:ext>
            </a:extLst>
          </p:cNvPr>
          <p:cNvSpPr txBox="1"/>
          <p:nvPr/>
        </p:nvSpPr>
        <p:spPr>
          <a:xfrm>
            <a:off x="4799856" y="3861048"/>
            <a:ext cx="1765525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Emulation Req (DC)</a:t>
            </a:r>
          </a:p>
        </p:txBody>
      </p:sp>
      <p:pic>
        <p:nvPicPr>
          <p:cNvPr id="3" name="Image 2" descr="Une image contenant capture d’écran, diagramme, ligne, circuit&#10;&#10;Le contenu généré par l’IA peut être incorrect.">
            <a:extLst>
              <a:ext uri="{FF2B5EF4-FFF2-40B4-BE49-F238E27FC236}">
                <a16:creationId xmlns:a16="http://schemas.microsoft.com/office/drawing/2014/main" id="{C7A90AB2-3131-9F13-0589-D4A90BD1C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34" y="662305"/>
            <a:ext cx="11136368" cy="3816654"/>
          </a:xfrm>
          <a:prstGeom prst="rect">
            <a:avLst/>
          </a:prstGeom>
        </p:spPr>
      </p:pic>
      <p:pic>
        <p:nvPicPr>
          <p:cNvPr id="6" name="Image 5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B96B154D-D36F-3BB3-DCD9-E03065C7C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16" y="4509617"/>
            <a:ext cx="5387466" cy="2348383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018F406-D829-5C77-6ACC-0C9452192420}"/>
              </a:ext>
            </a:extLst>
          </p:cNvPr>
          <p:cNvCxnSpPr/>
          <p:nvPr/>
        </p:nvCxnSpPr>
        <p:spPr>
          <a:xfrm>
            <a:off x="1487488" y="2529090"/>
            <a:ext cx="360040" cy="2268062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B1DD14A8-6ACA-FACF-B6B3-A17BA7F1A026}"/>
              </a:ext>
            </a:extLst>
          </p:cNvPr>
          <p:cNvSpPr txBox="1"/>
          <p:nvPr/>
        </p:nvSpPr>
        <p:spPr>
          <a:xfrm>
            <a:off x="893266" y="5927279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0516A77-C713-C130-AC91-0042C1B40D70}"/>
              </a:ext>
            </a:extLst>
          </p:cNvPr>
          <p:cNvSpPr txBox="1"/>
          <p:nvPr/>
        </p:nvSpPr>
        <p:spPr>
          <a:xfrm>
            <a:off x="114434" y="2551208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pic>
        <p:nvPicPr>
          <p:cNvPr id="13" name="Image 12" descr="Une image contenant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FCDBC283-5FAD-107E-B99F-106E288C9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148" y="4520502"/>
            <a:ext cx="1651344" cy="2337498"/>
          </a:xfrm>
          <a:prstGeom prst="rect">
            <a:avLst/>
          </a:prstGeom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9B384D24-61C3-9526-FA8E-71CC4C8E9105}"/>
              </a:ext>
            </a:extLst>
          </p:cNvPr>
          <p:cNvCxnSpPr/>
          <p:nvPr/>
        </p:nvCxnSpPr>
        <p:spPr>
          <a:xfrm>
            <a:off x="6694934" y="2421848"/>
            <a:ext cx="360040" cy="2268062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AC856D1D-656B-9889-C157-127A31700F42}"/>
              </a:ext>
            </a:extLst>
          </p:cNvPr>
          <p:cNvSpPr txBox="1"/>
          <p:nvPr/>
        </p:nvSpPr>
        <p:spPr>
          <a:xfrm>
            <a:off x="6565381" y="1306369"/>
            <a:ext cx="99608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Delay </a:t>
            </a:r>
            <a:r>
              <a:rPr lang="fr-FR" sz="1400" dirty="0" err="1">
                <a:solidFill>
                  <a:schemeClr val="bg1"/>
                </a:solidFill>
              </a:rPr>
              <a:t>Cell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3295FAF-E542-71E7-7698-548DE9759A95}"/>
              </a:ext>
            </a:extLst>
          </p:cNvPr>
          <p:cNvSpPr txBox="1"/>
          <p:nvPr/>
        </p:nvSpPr>
        <p:spPr>
          <a:xfrm>
            <a:off x="6907423" y="6309320"/>
            <a:ext cx="99608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Delay </a:t>
            </a:r>
            <a:r>
              <a:rPr lang="fr-FR" sz="1400" dirty="0" err="1">
                <a:solidFill>
                  <a:schemeClr val="bg1"/>
                </a:solidFill>
              </a:rPr>
              <a:t>Cell</a:t>
            </a:r>
            <a:endParaRPr lang="fr-F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0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1772B-E41F-1E54-0D1D-426EE3C9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F20914D-673E-519A-B2D5-2688C3860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-171400"/>
            <a:ext cx="11008413" cy="792163"/>
          </a:xfrm>
        </p:spPr>
        <p:txBody>
          <a:bodyPr/>
          <a:lstStyle/>
          <a:p>
            <a:r>
              <a:rPr lang="fr-FR" sz="2000" dirty="0"/>
              <a:t>VCO : Simulation PVT  </a:t>
            </a:r>
            <a:r>
              <a:rPr lang="fr-FR" sz="2000" dirty="0" err="1"/>
              <a:t>results</a:t>
            </a:r>
            <a:r>
              <a:rPr lang="fr-FR" sz="2000" dirty="0"/>
              <a:t> versus </a:t>
            </a:r>
            <a:r>
              <a:rPr lang="fr-FR" sz="2000" dirty="0" err="1"/>
              <a:t>Vc</a:t>
            </a:r>
            <a:r>
              <a:rPr lang="fr-FR" sz="2000" dirty="0"/>
              <a:t>  (</a:t>
            </a:r>
            <a:r>
              <a:rPr lang="fr-FR" sz="2000" dirty="0" err="1"/>
              <a:t>Centered</a:t>
            </a:r>
            <a:r>
              <a:rPr lang="fr-FR" sz="2000" dirty="0"/>
              <a:t> at VREF=0.9V)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EA55E10-093C-0FD5-A5E7-96C698CF9B6B}"/>
              </a:ext>
            </a:extLst>
          </p:cNvPr>
          <p:cNvSpPr txBox="1"/>
          <p:nvPr/>
        </p:nvSpPr>
        <p:spPr>
          <a:xfrm>
            <a:off x="4799856" y="3861048"/>
            <a:ext cx="1765525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Emulation Req (DC)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969B547-4F90-F2AB-1D55-E6DEF51B9448}"/>
              </a:ext>
            </a:extLst>
          </p:cNvPr>
          <p:cNvSpPr txBox="1"/>
          <p:nvPr/>
        </p:nvSpPr>
        <p:spPr>
          <a:xfrm>
            <a:off x="893266" y="5927279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B2E4548-2F14-33CE-40E6-777C552057DC}"/>
              </a:ext>
            </a:extLst>
          </p:cNvPr>
          <p:cNvSpPr txBox="1"/>
          <p:nvPr/>
        </p:nvSpPr>
        <p:spPr>
          <a:xfrm>
            <a:off x="114434" y="2551208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6796FEA-E8E2-CCEB-DD7F-8E54C9BFF8E7}"/>
              </a:ext>
            </a:extLst>
          </p:cNvPr>
          <p:cNvSpPr txBox="1"/>
          <p:nvPr/>
        </p:nvSpPr>
        <p:spPr>
          <a:xfrm>
            <a:off x="6565381" y="1306369"/>
            <a:ext cx="99608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Delay </a:t>
            </a:r>
            <a:r>
              <a:rPr lang="fr-FR" sz="1400" dirty="0" err="1">
                <a:solidFill>
                  <a:schemeClr val="bg1"/>
                </a:solidFill>
              </a:rPr>
              <a:t>Cell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AAB54C7-652C-6181-6B40-F59C389A585A}"/>
              </a:ext>
            </a:extLst>
          </p:cNvPr>
          <p:cNvSpPr txBox="1"/>
          <p:nvPr/>
        </p:nvSpPr>
        <p:spPr>
          <a:xfrm>
            <a:off x="6907423" y="6309320"/>
            <a:ext cx="99608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Delay </a:t>
            </a:r>
            <a:r>
              <a:rPr lang="fr-FR" sz="1400" dirty="0" err="1">
                <a:solidFill>
                  <a:schemeClr val="bg1"/>
                </a:solidFill>
              </a:rPr>
              <a:t>Cell</a:t>
            </a:r>
            <a:endParaRPr lang="fr-FR" sz="1400" dirty="0">
              <a:solidFill>
                <a:schemeClr val="bg1"/>
              </a:solidFill>
            </a:endParaRPr>
          </a:p>
        </p:txBody>
      </p:sp>
      <p:pic>
        <p:nvPicPr>
          <p:cNvPr id="5" name="Image 4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7EB03D5C-4B86-98B9-ADAB-F0EF73DE3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03" y="908720"/>
            <a:ext cx="12184877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33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9F67-965A-8895-4F73-E0F79E88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ED88E96-106E-BFB4-CD2F-E0CAADBB8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52" y="-171400"/>
            <a:ext cx="11771875" cy="792163"/>
          </a:xfrm>
        </p:spPr>
        <p:txBody>
          <a:bodyPr/>
          <a:lstStyle/>
          <a:p>
            <a:r>
              <a:rPr lang="fr-FR" sz="2000" dirty="0" err="1"/>
              <a:t>Bandgap:providing</a:t>
            </a:r>
            <a:r>
              <a:rPr lang="fr-FR" sz="2000" dirty="0"/>
              <a:t> </a:t>
            </a:r>
            <a:r>
              <a:rPr lang="fr-FR" sz="2000" dirty="0" err="1"/>
              <a:t>current</a:t>
            </a:r>
            <a:r>
              <a:rPr lang="fr-FR" sz="2000" dirty="0"/>
              <a:t> 10uA (VCO,OPAMP) and VREF=0.9V (to VCO) (</a:t>
            </a:r>
            <a:r>
              <a:rPr lang="fr-FR" sz="2000" dirty="0" err="1"/>
              <a:t>Reused</a:t>
            </a:r>
            <a:r>
              <a:rPr lang="fr-FR" sz="2000" dirty="0"/>
              <a:t> OSC32MCCO)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B12F24B-B636-2965-7D58-5BF9F5B677C8}"/>
              </a:ext>
            </a:extLst>
          </p:cNvPr>
          <p:cNvSpPr txBox="1"/>
          <p:nvPr/>
        </p:nvSpPr>
        <p:spPr>
          <a:xfrm>
            <a:off x="893266" y="5927279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B4945A8-1508-1C9F-8627-5AEAF2D91F77}"/>
              </a:ext>
            </a:extLst>
          </p:cNvPr>
          <p:cNvSpPr txBox="1"/>
          <p:nvPr/>
        </p:nvSpPr>
        <p:spPr>
          <a:xfrm>
            <a:off x="114434" y="2551208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799B0F7-CAE2-ECAF-4CD4-B01F2784BFA3}"/>
              </a:ext>
            </a:extLst>
          </p:cNvPr>
          <p:cNvSpPr txBox="1"/>
          <p:nvPr/>
        </p:nvSpPr>
        <p:spPr>
          <a:xfrm>
            <a:off x="6907423" y="6309320"/>
            <a:ext cx="99608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Delay </a:t>
            </a:r>
            <a:r>
              <a:rPr lang="fr-FR" sz="1400" dirty="0" err="1">
                <a:solidFill>
                  <a:schemeClr val="bg1"/>
                </a:solidFill>
              </a:rPr>
              <a:t>Cell</a:t>
            </a:r>
            <a:endParaRPr lang="fr-FR" sz="1400" dirty="0">
              <a:solidFill>
                <a:schemeClr val="bg1"/>
              </a:solidFill>
            </a:endParaRPr>
          </a:p>
        </p:txBody>
      </p:sp>
      <p:pic>
        <p:nvPicPr>
          <p:cNvPr id="5" name="Image 4" descr="Une image contenant circuit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A80C749-F0D0-AEE4-D67D-EBB6978E0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5" y="935894"/>
            <a:ext cx="11771875" cy="537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996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C3C9-03AA-FA41-25A7-BC052AD5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580579B-8D87-57FE-0D5D-A1EAD881C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52" y="-171400"/>
            <a:ext cx="11771875" cy="792163"/>
          </a:xfrm>
        </p:spPr>
        <p:txBody>
          <a:bodyPr/>
          <a:lstStyle/>
          <a:p>
            <a:r>
              <a:rPr lang="fr-FR" sz="2000" dirty="0" err="1"/>
              <a:t>Bandgap</a:t>
            </a:r>
            <a:r>
              <a:rPr lang="fr-FR" sz="2000" dirty="0"/>
              <a:t> simulation </a:t>
            </a:r>
            <a:r>
              <a:rPr lang="fr-FR" sz="2000" dirty="0" err="1"/>
              <a:t>results</a:t>
            </a:r>
            <a:r>
              <a:rPr lang="fr-FR" sz="2000" dirty="0"/>
              <a:t> versus PVT :temp-55 to 175, </a:t>
            </a:r>
            <a:r>
              <a:rPr lang="fr-FR" sz="2000" dirty="0" err="1"/>
              <a:t>Vdd</a:t>
            </a:r>
            <a:r>
              <a:rPr lang="fr-FR" sz="2000" dirty="0"/>
              <a:t> 1.25 to 1.65 , all corners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71B10B2-110A-25E2-1F4A-5C5C9967B15E}"/>
              </a:ext>
            </a:extLst>
          </p:cNvPr>
          <p:cNvSpPr txBox="1"/>
          <p:nvPr/>
        </p:nvSpPr>
        <p:spPr>
          <a:xfrm>
            <a:off x="893266" y="5927279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5D21CDB-F997-7386-7102-BCB314932974}"/>
              </a:ext>
            </a:extLst>
          </p:cNvPr>
          <p:cNvSpPr txBox="1"/>
          <p:nvPr/>
        </p:nvSpPr>
        <p:spPr>
          <a:xfrm>
            <a:off x="114434" y="2551208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989FEE0-02D1-495E-2B7B-1383D9F40C3E}"/>
              </a:ext>
            </a:extLst>
          </p:cNvPr>
          <p:cNvSpPr txBox="1"/>
          <p:nvPr/>
        </p:nvSpPr>
        <p:spPr>
          <a:xfrm>
            <a:off x="6907423" y="6309320"/>
            <a:ext cx="99608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Delay </a:t>
            </a:r>
            <a:r>
              <a:rPr lang="fr-FR" sz="1400" dirty="0" err="1">
                <a:solidFill>
                  <a:schemeClr val="bg1"/>
                </a:solidFill>
              </a:rPr>
              <a:t>Cell</a:t>
            </a:r>
            <a:endParaRPr lang="fr-FR" sz="1400" dirty="0">
              <a:solidFill>
                <a:schemeClr val="bg1"/>
              </a:solidFill>
            </a:endParaRPr>
          </a:p>
        </p:txBody>
      </p:sp>
      <p:pic>
        <p:nvPicPr>
          <p:cNvPr id="3" name="Image 2" descr="Une image contenant capture d’écran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E212AEC0-A6CF-DE90-7D3A-046CFEB57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5" y="1323866"/>
            <a:ext cx="12046569" cy="577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877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C55B3-DE1A-3582-86C7-105F5477D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9335969-FE53-BC90-5CCF-E5D5C43E5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52" y="-171400"/>
            <a:ext cx="11771875" cy="792163"/>
          </a:xfrm>
        </p:spPr>
        <p:txBody>
          <a:bodyPr/>
          <a:lstStyle/>
          <a:p>
            <a:r>
              <a:rPr lang="fr-FR" sz="2000" dirty="0"/>
              <a:t>Charge PUMP +Translator : </a:t>
            </a:r>
            <a:r>
              <a:rPr lang="fr-FR" sz="2000" dirty="0" err="1"/>
              <a:t>loading</a:t>
            </a:r>
            <a:r>
              <a:rPr lang="fr-FR" sz="2000" dirty="0"/>
              <a:t> Switch Cap : .</a:t>
            </a:r>
            <a:br>
              <a:rPr lang="fr-FR" sz="2000" dirty="0"/>
            </a:br>
            <a:r>
              <a:rPr lang="fr-FR" sz="2000" dirty="0" err="1"/>
              <a:t>Why</a:t>
            </a:r>
            <a:r>
              <a:rPr lang="fr-FR" sz="2000" dirty="0"/>
              <a:t> Charge </a:t>
            </a:r>
            <a:r>
              <a:rPr lang="fr-FR" sz="2000" dirty="0" err="1"/>
              <a:t>pump</a:t>
            </a:r>
            <a:r>
              <a:rPr lang="fr-FR" sz="2000" dirty="0"/>
              <a:t>  ? </a:t>
            </a:r>
            <a:r>
              <a:rPr lang="fr-FR" sz="2000" dirty="0" err="1"/>
              <a:t>Reduce</a:t>
            </a:r>
            <a:r>
              <a:rPr lang="fr-FR" sz="2000" dirty="0"/>
              <a:t> RON  SWITCH ( REQ=Cste) (switch </a:t>
            </a:r>
            <a:r>
              <a:rPr lang="fr-FR" sz="2000" dirty="0" err="1"/>
              <a:t>Vdd</a:t>
            </a:r>
            <a:r>
              <a:rPr lang="fr-FR" sz="2000" dirty="0"/>
              <a:t>=1.25 mos 1.5V </a:t>
            </a:r>
            <a:r>
              <a:rPr lang="fr-FR" sz="2000" dirty="0" err="1"/>
              <a:t>don’t</a:t>
            </a:r>
            <a:r>
              <a:rPr lang="fr-FR" sz="2000" dirty="0"/>
              <a:t> </a:t>
            </a:r>
            <a:r>
              <a:rPr lang="fr-FR" sz="2000" dirty="0" err="1"/>
              <a:t>work</a:t>
            </a:r>
            <a:r>
              <a:rPr lang="fr-FR" sz="2000" dirty="0"/>
              <a:t>)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25B1E0E-C032-597C-BC71-12267A808521}"/>
              </a:ext>
            </a:extLst>
          </p:cNvPr>
          <p:cNvSpPr txBox="1"/>
          <p:nvPr/>
        </p:nvSpPr>
        <p:spPr>
          <a:xfrm>
            <a:off x="893266" y="5927279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8C2EC3E-D5F0-991D-3F02-D14EE4D362C9}"/>
              </a:ext>
            </a:extLst>
          </p:cNvPr>
          <p:cNvSpPr txBox="1"/>
          <p:nvPr/>
        </p:nvSpPr>
        <p:spPr>
          <a:xfrm>
            <a:off x="114434" y="2551208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C4DC1FA-A98C-C5AA-F6D1-BC93F41B2016}"/>
              </a:ext>
            </a:extLst>
          </p:cNvPr>
          <p:cNvSpPr txBox="1"/>
          <p:nvPr/>
        </p:nvSpPr>
        <p:spPr>
          <a:xfrm>
            <a:off x="6907423" y="6309320"/>
            <a:ext cx="99608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Delay </a:t>
            </a:r>
            <a:r>
              <a:rPr lang="fr-FR" sz="1400" dirty="0" err="1">
                <a:solidFill>
                  <a:schemeClr val="bg1"/>
                </a:solidFill>
              </a:rPr>
              <a:t>Cell</a:t>
            </a:r>
            <a:endParaRPr lang="fr-FR" sz="1400" dirty="0">
              <a:solidFill>
                <a:schemeClr val="bg1"/>
              </a:solidFill>
            </a:endParaRPr>
          </a:p>
        </p:txBody>
      </p:sp>
      <p:pic>
        <p:nvPicPr>
          <p:cNvPr id="3" name="Image 2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D3E18296-9A5F-94B8-D879-E5D0A9687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69" y="954406"/>
            <a:ext cx="6796997" cy="3050658"/>
          </a:xfrm>
          <a:prstGeom prst="rect">
            <a:avLst/>
          </a:prstGeom>
        </p:spPr>
      </p:pic>
      <p:pic>
        <p:nvPicPr>
          <p:cNvPr id="9" name="Image 8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476F71D0-D2C1-2B79-9101-FAD37849D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32" y="4470381"/>
            <a:ext cx="4838948" cy="1822543"/>
          </a:xfrm>
          <a:prstGeom prst="rect">
            <a:avLst/>
          </a:prstGeom>
        </p:spPr>
      </p:pic>
      <p:pic>
        <p:nvPicPr>
          <p:cNvPr id="13" name="Image 12" descr="Une image contenant text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A7CC9C5C-DB7B-C169-E32D-FE319BDA2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184" y="4475108"/>
            <a:ext cx="3105310" cy="1924149"/>
          </a:xfrm>
          <a:prstGeom prst="rect">
            <a:avLst/>
          </a:prstGeom>
        </p:spPr>
      </p:pic>
      <p:pic>
        <p:nvPicPr>
          <p:cNvPr id="15" name="Image 14" descr="Une image contenant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F4E8BB38-5965-A721-8435-F27E134E5C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123" y="954406"/>
            <a:ext cx="4929280" cy="3050658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B989E7BF-CB33-80E5-0BC6-A88A15E44354}"/>
              </a:ext>
            </a:extLst>
          </p:cNvPr>
          <p:cNvSpPr txBox="1"/>
          <p:nvPr/>
        </p:nvSpPr>
        <p:spPr>
          <a:xfrm>
            <a:off x="1631504" y="1196752"/>
            <a:ext cx="1275006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Charge </a:t>
            </a:r>
            <a:r>
              <a:rPr lang="fr-FR" sz="1400" dirty="0" err="1">
                <a:solidFill>
                  <a:schemeClr val="bg1"/>
                </a:solidFill>
              </a:rPr>
              <a:t>Pump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B5998C6-6716-6492-310E-B0F0C25A3D64}"/>
              </a:ext>
            </a:extLst>
          </p:cNvPr>
          <p:cNvSpPr txBox="1"/>
          <p:nvPr/>
        </p:nvSpPr>
        <p:spPr>
          <a:xfrm>
            <a:off x="2275029" y="3310062"/>
            <a:ext cx="106020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>
                <a:solidFill>
                  <a:schemeClr val="bg1"/>
                </a:solidFill>
              </a:rPr>
              <a:t>TRanslator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70281E6-F5DF-2412-7F97-204F22B71DDC}"/>
              </a:ext>
            </a:extLst>
          </p:cNvPr>
          <p:cNvSpPr txBox="1"/>
          <p:nvPr/>
        </p:nvSpPr>
        <p:spPr>
          <a:xfrm>
            <a:off x="4223792" y="1628800"/>
            <a:ext cx="1071425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Switch Cap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5345D23-1B51-F57F-3FA6-0499423EFA2E}"/>
              </a:ext>
            </a:extLst>
          </p:cNvPr>
          <p:cNvSpPr txBox="1"/>
          <p:nvPr/>
        </p:nvSpPr>
        <p:spPr>
          <a:xfrm>
            <a:off x="8832304" y="1783779"/>
            <a:ext cx="1795982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>
                <a:solidFill>
                  <a:schemeClr val="bg1"/>
                </a:solidFill>
              </a:rPr>
              <a:t>Two</a:t>
            </a:r>
            <a:r>
              <a:rPr lang="fr-FR" sz="1400" dirty="0">
                <a:solidFill>
                  <a:schemeClr val="bg1"/>
                </a:solidFill>
              </a:rPr>
              <a:t> Stages Dickson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A18E7EF-1FE9-F5BC-2346-DFF4B7DEDEE8}"/>
              </a:ext>
            </a:extLst>
          </p:cNvPr>
          <p:cNvSpPr txBox="1"/>
          <p:nvPr/>
        </p:nvSpPr>
        <p:spPr>
          <a:xfrm>
            <a:off x="7809781" y="5583089"/>
            <a:ext cx="81975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Dickson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B206278-C9B1-5115-B724-944A033B51ED}"/>
              </a:ext>
            </a:extLst>
          </p:cNvPr>
          <p:cNvSpPr txBox="1"/>
          <p:nvPr/>
        </p:nvSpPr>
        <p:spPr>
          <a:xfrm>
            <a:off x="589497" y="4751761"/>
            <a:ext cx="106020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 err="1">
                <a:solidFill>
                  <a:schemeClr val="bg1"/>
                </a:solidFill>
              </a:rPr>
              <a:t>TRanslator</a:t>
            </a:r>
            <a:endParaRPr lang="fr-F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845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0279F-0A2C-39F1-841D-2300EF172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66A08B8-EA68-FB2E-CAF9-F8D87E72B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781" y="70326"/>
            <a:ext cx="11771875" cy="792163"/>
          </a:xfrm>
        </p:spPr>
        <p:txBody>
          <a:bodyPr/>
          <a:lstStyle/>
          <a:p>
            <a:r>
              <a:rPr lang="fr-FR" sz="2000" dirty="0"/>
              <a:t>TOP SIMULATION RESULTS VERSUS PVT (</a:t>
            </a:r>
            <a:r>
              <a:rPr lang="fr-FR" sz="2000" dirty="0" err="1"/>
              <a:t>Results</a:t>
            </a:r>
            <a:r>
              <a:rPr lang="fr-FR" sz="2000" dirty="0"/>
              <a:t> simulation 28 </a:t>
            </a:r>
            <a:r>
              <a:rPr lang="fr-FR" sz="2000" dirty="0" err="1"/>
              <a:t>Feb</a:t>
            </a:r>
            <a:r>
              <a:rPr lang="fr-FR" sz="2000" dirty="0"/>
              <a:t>)</a:t>
            </a:r>
            <a:br>
              <a:rPr lang="fr-FR" sz="2000" dirty="0"/>
            </a:br>
            <a:r>
              <a:rPr lang="fr-FR" sz="2000" dirty="0"/>
              <a:t>All corners </a:t>
            </a:r>
            <a:r>
              <a:rPr lang="fr-FR" sz="2000" dirty="0" err="1"/>
              <a:t>trimmed</a:t>
            </a:r>
            <a:r>
              <a:rPr lang="fr-FR" sz="2000" dirty="0"/>
              <a:t> at </a:t>
            </a:r>
            <a:r>
              <a:rPr lang="fr-FR" sz="2000" dirty="0" err="1"/>
              <a:t>Vdd</a:t>
            </a:r>
            <a:r>
              <a:rPr lang="fr-FR" sz="2000" dirty="0"/>
              <a:t>=1.5V and Temp=40dC</a:t>
            </a:r>
            <a:br>
              <a:rPr lang="fr-FR" sz="2000" dirty="0"/>
            </a:br>
            <a:endParaRPr lang="fr-FR" sz="20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FB7D0F2-0C4E-1E04-5987-A3D5BE1DB8A7}"/>
              </a:ext>
            </a:extLst>
          </p:cNvPr>
          <p:cNvSpPr txBox="1"/>
          <p:nvPr/>
        </p:nvSpPr>
        <p:spPr>
          <a:xfrm>
            <a:off x="893266" y="5927279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E5B325F-1CC2-2D1F-E9AC-C96F261DD7BF}"/>
              </a:ext>
            </a:extLst>
          </p:cNvPr>
          <p:cNvSpPr txBox="1"/>
          <p:nvPr/>
        </p:nvSpPr>
        <p:spPr>
          <a:xfrm>
            <a:off x="114434" y="2551208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E09BE15-6074-8B9C-7D1F-31B8CB445ED9}"/>
              </a:ext>
            </a:extLst>
          </p:cNvPr>
          <p:cNvSpPr txBox="1"/>
          <p:nvPr/>
        </p:nvSpPr>
        <p:spPr>
          <a:xfrm>
            <a:off x="6907423" y="6309320"/>
            <a:ext cx="99608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Delay </a:t>
            </a:r>
            <a:r>
              <a:rPr lang="fr-FR" sz="1400" dirty="0" err="1">
                <a:solidFill>
                  <a:schemeClr val="bg1"/>
                </a:solidFill>
              </a:rPr>
              <a:t>Cell</a:t>
            </a:r>
            <a:endParaRPr lang="fr-FR" sz="1400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texte, lign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8EBEFD16-3581-3777-A252-6609B874E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64" y="610247"/>
            <a:ext cx="12067235" cy="6237237"/>
          </a:xfrm>
          <a:prstGeom prst="rect">
            <a:avLst/>
          </a:prstGeom>
        </p:spPr>
      </p:pic>
      <p:pic>
        <p:nvPicPr>
          <p:cNvPr id="9" name="Image 8" descr="Une image contenant texte, capture d’écran, Police, jaune&#10;&#10;Le contenu généré par l’IA peut être incorrect.">
            <a:extLst>
              <a:ext uri="{FF2B5EF4-FFF2-40B4-BE49-F238E27FC236}">
                <a16:creationId xmlns:a16="http://schemas.microsoft.com/office/drawing/2014/main" id="{4F1D1A76-CC72-0EB7-54E8-A8D7C8C25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655" y="5013176"/>
            <a:ext cx="7399579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54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6C8DF-B550-6712-3014-BD982156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7BC7709-1E76-35B6-017F-727F8B70C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781" y="70326"/>
            <a:ext cx="11771875" cy="792163"/>
          </a:xfrm>
        </p:spPr>
        <p:txBody>
          <a:bodyPr/>
          <a:lstStyle/>
          <a:p>
            <a:r>
              <a:rPr lang="fr-FR" sz="2000" dirty="0" err="1"/>
              <a:t>Summary</a:t>
            </a:r>
            <a:r>
              <a:rPr lang="fr-FR" sz="2000" dirty="0"/>
              <a:t> </a:t>
            </a:r>
            <a:r>
              <a:rPr lang="fr-FR" sz="2000" dirty="0" err="1"/>
              <a:t>Specification</a:t>
            </a:r>
            <a:r>
              <a:rPr lang="fr-FR" sz="2000" dirty="0"/>
              <a:t> </a:t>
            </a:r>
            <a:r>
              <a:rPr lang="fr-FR" sz="2000" dirty="0" err="1"/>
              <a:t>parameter</a:t>
            </a:r>
            <a:r>
              <a:rPr lang="fr-FR" sz="2000" dirty="0"/>
              <a:t> (</a:t>
            </a:r>
            <a:r>
              <a:rPr lang="fr-FR" sz="2000" dirty="0" err="1"/>
              <a:t>after</a:t>
            </a:r>
            <a:r>
              <a:rPr lang="fr-FR" sz="2000" dirty="0"/>
              <a:t> </a:t>
            </a:r>
            <a:r>
              <a:rPr lang="fr-FR" sz="2000" dirty="0" err="1"/>
              <a:t>trimming</a:t>
            </a:r>
            <a:r>
              <a:rPr lang="fr-FR" sz="2000" dirty="0"/>
              <a:t>)</a:t>
            </a:r>
            <a:br>
              <a:rPr lang="fr-FR" sz="2000" dirty="0"/>
            </a:br>
            <a:endParaRPr lang="fr-FR" sz="20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9518AD5-0C58-1C08-8DBD-436129642EE2}"/>
              </a:ext>
            </a:extLst>
          </p:cNvPr>
          <p:cNvSpPr txBox="1"/>
          <p:nvPr/>
        </p:nvSpPr>
        <p:spPr>
          <a:xfrm>
            <a:off x="893266" y="5927279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0B872A1-7D05-5FBC-E10A-A3654447CDC6}"/>
              </a:ext>
            </a:extLst>
          </p:cNvPr>
          <p:cNvSpPr txBox="1"/>
          <p:nvPr/>
        </p:nvSpPr>
        <p:spPr>
          <a:xfrm>
            <a:off x="114434" y="2551208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C64F82F-63B6-A44F-C43D-F398AF883B68}"/>
              </a:ext>
            </a:extLst>
          </p:cNvPr>
          <p:cNvSpPr txBox="1"/>
          <p:nvPr/>
        </p:nvSpPr>
        <p:spPr>
          <a:xfrm>
            <a:off x="6907423" y="6309320"/>
            <a:ext cx="99608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Delay </a:t>
            </a:r>
            <a:r>
              <a:rPr lang="fr-FR" sz="1400" dirty="0" err="1">
                <a:solidFill>
                  <a:schemeClr val="bg1"/>
                </a:solidFill>
              </a:rPr>
              <a:t>Cell</a:t>
            </a:r>
            <a:endParaRPr lang="fr-FR" sz="1400" dirty="0">
              <a:solidFill>
                <a:schemeClr val="bg1"/>
              </a:solidFill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F12A691-31D5-F560-8C1C-4591EF3EB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796583"/>
              </p:ext>
            </p:extLst>
          </p:nvPr>
        </p:nvGraphicFramePr>
        <p:xfrm>
          <a:off x="191344" y="692696"/>
          <a:ext cx="10801199" cy="5616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994">
                  <a:extLst>
                    <a:ext uri="{9D8B030D-6E8A-4147-A177-3AD203B41FA5}">
                      <a16:colId xmlns:a16="http://schemas.microsoft.com/office/drawing/2014/main" val="1346381821"/>
                    </a:ext>
                  </a:extLst>
                </a:gridCol>
                <a:gridCol w="931389">
                  <a:extLst>
                    <a:ext uri="{9D8B030D-6E8A-4147-A177-3AD203B41FA5}">
                      <a16:colId xmlns:a16="http://schemas.microsoft.com/office/drawing/2014/main" val="3910463291"/>
                    </a:ext>
                  </a:extLst>
                </a:gridCol>
                <a:gridCol w="1786554">
                  <a:extLst>
                    <a:ext uri="{9D8B030D-6E8A-4147-A177-3AD203B41FA5}">
                      <a16:colId xmlns:a16="http://schemas.microsoft.com/office/drawing/2014/main" val="2437967191"/>
                    </a:ext>
                  </a:extLst>
                </a:gridCol>
                <a:gridCol w="2085754">
                  <a:extLst>
                    <a:ext uri="{9D8B030D-6E8A-4147-A177-3AD203B41FA5}">
                      <a16:colId xmlns:a16="http://schemas.microsoft.com/office/drawing/2014/main" val="2159549748"/>
                    </a:ext>
                  </a:extLst>
                </a:gridCol>
                <a:gridCol w="2085754">
                  <a:extLst>
                    <a:ext uri="{9D8B030D-6E8A-4147-A177-3AD203B41FA5}">
                      <a16:colId xmlns:a16="http://schemas.microsoft.com/office/drawing/2014/main" val="1482972223"/>
                    </a:ext>
                  </a:extLst>
                </a:gridCol>
                <a:gridCol w="2085754">
                  <a:extLst>
                    <a:ext uri="{9D8B030D-6E8A-4147-A177-3AD203B41FA5}">
                      <a16:colId xmlns:a16="http://schemas.microsoft.com/office/drawing/2014/main" val="4203172905"/>
                    </a:ext>
                  </a:extLst>
                </a:gridCol>
              </a:tblGrid>
              <a:tr h="790759">
                <a:tc>
                  <a:txBody>
                    <a:bodyPr/>
                    <a:lstStyle/>
                    <a:p>
                      <a:pPr algn="ctr"/>
                      <a:r>
                        <a:rPr lang="fr-FR" sz="1400" baseline="0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aseline="0"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aseline="0" dirty="0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aseline="0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aseline="0" dirty="0"/>
                        <a:t>STDEV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aseline="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277506"/>
                  </a:ext>
                </a:extLst>
              </a:tr>
              <a:tr h="553531"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FOSC (Mhz)</a:t>
                      </a:r>
                    </a:p>
                    <a:p>
                      <a:pPr algn="ctr"/>
                      <a:r>
                        <a:rPr lang="fr-FR" sz="1400" b="1" baseline="0" dirty="0"/>
                        <a:t>(</a:t>
                      </a:r>
                      <a:r>
                        <a:rPr lang="fr-FR" sz="1400" b="1" baseline="0" dirty="0" err="1"/>
                        <a:t>with</a:t>
                      </a:r>
                      <a:r>
                        <a:rPr lang="fr-FR" sz="1400" b="1" baseline="0" dirty="0"/>
                        <a:t> </a:t>
                      </a:r>
                      <a:r>
                        <a:rPr lang="fr-FR" sz="1400" b="1" baseline="0" dirty="0" err="1"/>
                        <a:t>Trimming</a:t>
                      </a:r>
                      <a:r>
                        <a:rPr lang="fr-FR" sz="1400" b="1" baseline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47.44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48.212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47.91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SPEC3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412614"/>
                  </a:ext>
                </a:extLst>
              </a:tr>
              <a:tr h="316304"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I_ON (</a:t>
                      </a:r>
                      <a:r>
                        <a:rPr lang="fr-FR" sz="1400" b="1" baseline="0" dirty="0" err="1"/>
                        <a:t>uA</a:t>
                      </a:r>
                      <a:r>
                        <a:rPr lang="fr-FR" sz="1400" b="1" baseline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SPEC3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789954"/>
                  </a:ext>
                </a:extLst>
              </a:tr>
              <a:tr h="474455"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ERROR +/-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SPEC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88836"/>
                  </a:ext>
                </a:extLst>
              </a:tr>
              <a:tr h="474455"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ERROR +/-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SPEC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271616"/>
                  </a:ext>
                </a:extLst>
              </a:tr>
              <a:tr h="395379"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ERROR +/-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SPEC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015600"/>
                  </a:ext>
                </a:extLst>
              </a:tr>
              <a:tr h="652935"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 err="1"/>
                        <a:t>TC_ppm</a:t>
                      </a:r>
                      <a:r>
                        <a:rPr lang="fr-FR" sz="1400" b="1" baseline="0" dirty="0"/>
                        <a:t>/K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43.3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33.1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SPEC1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969364"/>
                  </a:ext>
                </a:extLst>
              </a:tr>
              <a:tr h="652935"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PSRR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-44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-51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SPEC1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899790"/>
                  </a:ext>
                </a:extLst>
              </a:tr>
              <a:tr h="652935"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 err="1"/>
                        <a:t>Step</a:t>
                      </a:r>
                      <a:r>
                        <a:rPr lang="fr-FR" sz="1400" b="1" baseline="0" dirty="0"/>
                        <a:t> </a:t>
                      </a:r>
                      <a:r>
                        <a:rPr lang="fr-FR" sz="1400" b="1" baseline="0" dirty="0" err="1"/>
                        <a:t>Trimm</a:t>
                      </a:r>
                      <a:r>
                        <a:rPr lang="fr-FR" sz="1400" b="1" baseline="0" dirty="0"/>
                        <a:t> (kHz)</a:t>
                      </a:r>
                    </a:p>
                    <a:p>
                      <a:pPr algn="ctr"/>
                      <a:r>
                        <a:rPr lang="fr-FR" sz="1400" b="1" baseline="0" dirty="0"/>
                        <a:t>(</a:t>
                      </a:r>
                      <a:r>
                        <a:rPr lang="fr-FR" sz="1400" b="1" baseline="0" dirty="0" err="1"/>
                        <a:t>around</a:t>
                      </a:r>
                      <a:r>
                        <a:rPr lang="fr-FR" sz="1400" b="1" baseline="0" dirty="0"/>
                        <a:t> 48Mhz)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SPEC3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826114"/>
                  </a:ext>
                </a:extLst>
              </a:tr>
              <a:tr h="652935"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Duty Cycle (48Mhz)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0.4956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0.5054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0.499966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baseline="0" dirty="0"/>
                        <a:t>0.0017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baseline="0" dirty="0"/>
                        <a:t>SPEC3</a:t>
                      </a:r>
                    </a:p>
                    <a:p>
                      <a:pPr algn="ctr"/>
                      <a:endParaRPr lang="fr-FR" sz="1400" b="1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462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258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2D56E-6AE4-091B-0577-4CEB367C8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45E3743-6549-68AE-7707-A451A47BF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62" y="1845168"/>
            <a:ext cx="11771875" cy="792163"/>
          </a:xfrm>
        </p:spPr>
        <p:txBody>
          <a:bodyPr/>
          <a:lstStyle/>
          <a:p>
            <a:r>
              <a:rPr lang="fr-FR" sz="2400" i="1" dirty="0" err="1">
                <a:highlight>
                  <a:srgbClr val="FFFF00"/>
                </a:highlight>
              </a:rPr>
              <a:t>Going</a:t>
            </a:r>
            <a:r>
              <a:rPr lang="fr-FR" sz="2400" i="1" dirty="0">
                <a:highlight>
                  <a:srgbClr val="FFFF00"/>
                </a:highlight>
              </a:rPr>
              <a:t> to 64 Mhz OSCILLATOR  ? 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 err="1"/>
              <a:t>Only</a:t>
            </a:r>
            <a:r>
              <a:rPr lang="fr-FR" sz="2400" dirty="0"/>
              <a:t> </a:t>
            </a:r>
            <a:r>
              <a:rPr lang="fr-FR" sz="2400" dirty="0" err="1"/>
              <a:t>two</a:t>
            </a:r>
            <a:r>
              <a:rPr lang="fr-FR" sz="2400" dirty="0"/>
              <a:t> </a:t>
            </a:r>
            <a:r>
              <a:rPr lang="fr-FR" sz="2400" dirty="0" err="1"/>
              <a:t>small</a:t>
            </a:r>
            <a:r>
              <a:rPr lang="fr-FR" sz="2400" dirty="0"/>
              <a:t> changes :</a:t>
            </a:r>
            <a:br>
              <a:rPr lang="fr-FR" sz="2400" dirty="0"/>
            </a:br>
            <a:r>
              <a:rPr lang="fr-FR" sz="2400" dirty="0"/>
              <a:t> </a:t>
            </a:r>
            <a:r>
              <a:rPr lang="fr-FR" sz="2400" dirty="0">
                <a:sym typeface="Wingdings" panose="05000000000000000000" pitchFamily="2" charset="2"/>
              </a:rPr>
              <a:t> </a:t>
            </a:r>
            <a:r>
              <a:rPr lang="fr-FR" sz="2400" dirty="0" err="1"/>
              <a:t>increasing</a:t>
            </a:r>
            <a:r>
              <a:rPr lang="fr-FR" sz="2400" dirty="0"/>
              <a:t> the </a:t>
            </a:r>
            <a:r>
              <a:rPr lang="fr-FR" sz="2400" dirty="0" err="1"/>
              <a:t>current</a:t>
            </a:r>
            <a:r>
              <a:rPr lang="fr-FR" sz="2400" dirty="0"/>
              <a:t> </a:t>
            </a:r>
            <a:r>
              <a:rPr lang="fr-FR" sz="2400" dirty="0" err="1"/>
              <a:t>loading</a:t>
            </a:r>
            <a:r>
              <a:rPr lang="fr-FR" sz="2400" dirty="0"/>
              <a:t> the switch cap by 33%</a:t>
            </a:r>
            <a:br>
              <a:rPr lang="fr-FR" sz="2400" dirty="0"/>
            </a:br>
            <a:r>
              <a:rPr lang="fr-FR" sz="2400" dirty="0"/>
              <a:t> </a:t>
            </a:r>
            <a:r>
              <a:rPr lang="fr-FR" sz="2400" dirty="0">
                <a:sym typeface="Wingdings" panose="05000000000000000000" pitchFamily="2" charset="2"/>
              </a:rPr>
              <a:t> </a:t>
            </a:r>
            <a:r>
              <a:rPr lang="fr-FR" sz="2400" dirty="0"/>
              <a:t> </a:t>
            </a:r>
            <a:r>
              <a:rPr lang="fr-FR" sz="2400" dirty="0" err="1"/>
              <a:t>increasing</a:t>
            </a:r>
            <a:r>
              <a:rPr lang="fr-FR" sz="2400" dirty="0"/>
              <a:t> the </a:t>
            </a:r>
            <a:r>
              <a:rPr lang="fr-FR" sz="2400" dirty="0" err="1"/>
              <a:t>current</a:t>
            </a:r>
            <a:r>
              <a:rPr lang="fr-FR" sz="2400" dirty="0"/>
              <a:t> in the VCO by 33%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 err="1"/>
              <a:t>These</a:t>
            </a:r>
            <a:r>
              <a:rPr lang="fr-FR" sz="2400" dirty="0"/>
              <a:t> </a:t>
            </a:r>
            <a:r>
              <a:rPr lang="fr-FR" sz="2400" dirty="0" err="1"/>
              <a:t>two</a:t>
            </a:r>
            <a:r>
              <a:rPr lang="fr-FR" sz="2400" dirty="0"/>
              <a:t> changes </a:t>
            </a:r>
            <a:r>
              <a:rPr lang="fr-FR" sz="2400" dirty="0" err="1"/>
              <a:t>could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easily</a:t>
            </a:r>
            <a:r>
              <a:rPr lang="fr-FR" sz="2400" dirty="0"/>
              <a:t> </a:t>
            </a:r>
            <a:r>
              <a:rPr lang="fr-FR" sz="2400" dirty="0" err="1"/>
              <a:t>digitally</a:t>
            </a:r>
            <a:r>
              <a:rPr lang="fr-FR" sz="2400" dirty="0"/>
              <a:t> control (1bit) </a:t>
            </a:r>
            <a:r>
              <a:rPr lang="fr-FR" sz="2400" dirty="0" err="1"/>
              <a:t>meaning</a:t>
            </a:r>
            <a:r>
              <a:rPr lang="fr-FR" sz="2400" dirty="0"/>
              <a:t> </a:t>
            </a:r>
            <a:r>
              <a:rPr lang="fr-FR" sz="2400" dirty="0" err="1"/>
              <a:t>that</a:t>
            </a:r>
            <a:r>
              <a:rPr lang="fr-FR" sz="2400" dirty="0"/>
              <a:t> the IP </a:t>
            </a:r>
            <a:r>
              <a:rPr lang="fr-FR" sz="2400" dirty="0" err="1"/>
              <a:t>could</a:t>
            </a:r>
            <a:r>
              <a:rPr lang="fr-FR" sz="2400" dirty="0"/>
              <a:t> </a:t>
            </a:r>
            <a:r>
              <a:rPr lang="fr-FR" sz="2400" dirty="0" err="1"/>
              <a:t>provide</a:t>
            </a:r>
            <a:r>
              <a:rPr lang="fr-FR" sz="2400" dirty="0"/>
              <a:t> 48Mhz  and 64Mhz  ..</a:t>
            </a:r>
            <a:r>
              <a:rPr lang="fr-FR" sz="2400" dirty="0" err="1"/>
              <a:t>with</a:t>
            </a:r>
            <a:r>
              <a:rPr lang="fr-FR" sz="2400" dirty="0"/>
              <a:t> the </a:t>
            </a:r>
            <a:r>
              <a:rPr lang="fr-FR" sz="2400" dirty="0" err="1"/>
              <a:t>same</a:t>
            </a:r>
            <a:r>
              <a:rPr lang="fr-FR" sz="2400" dirty="0"/>
              <a:t> </a:t>
            </a:r>
            <a:r>
              <a:rPr lang="fr-FR" sz="2400" dirty="0" err="1"/>
              <a:t>trimmed</a:t>
            </a:r>
            <a:r>
              <a:rPr lang="fr-FR" sz="2400" dirty="0"/>
              <a:t> values !!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C2FE528-6D95-E71B-AA87-D5D5658A2C8C}"/>
              </a:ext>
            </a:extLst>
          </p:cNvPr>
          <p:cNvSpPr txBox="1"/>
          <p:nvPr/>
        </p:nvSpPr>
        <p:spPr>
          <a:xfrm>
            <a:off x="893266" y="5927279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2852705-5BAF-D136-BD99-1BB1BBE5FFC9}"/>
              </a:ext>
            </a:extLst>
          </p:cNvPr>
          <p:cNvSpPr txBox="1"/>
          <p:nvPr/>
        </p:nvSpPr>
        <p:spPr>
          <a:xfrm>
            <a:off x="114434" y="2551208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DCF54C4-3344-A495-9DF0-9ED9E2DEBB06}"/>
              </a:ext>
            </a:extLst>
          </p:cNvPr>
          <p:cNvSpPr txBox="1"/>
          <p:nvPr/>
        </p:nvSpPr>
        <p:spPr>
          <a:xfrm>
            <a:off x="6907423" y="6309320"/>
            <a:ext cx="99608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Delay </a:t>
            </a:r>
            <a:r>
              <a:rPr lang="fr-FR" sz="1400" dirty="0" err="1">
                <a:solidFill>
                  <a:schemeClr val="bg1"/>
                </a:solidFill>
              </a:rPr>
              <a:t>Cell</a:t>
            </a:r>
            <a:endParaRPr lang="fr-FR" sz="1400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8E262CA1-1862-0994-9D08-C0FB04C5D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8" y="2841114"/>
            <a:ext cx="7427044" cy="3106217"/>
          </a:xfrm>
          <a:prstGeom prst="rect">
            <a:avLst/>
          </a:prstGeom>
        </p:spPr>
      </p:pic>
      <p:pic>
        <p:nvPicPr>
          <p:cNvPr id="9" name="Image 8" descr="Une image contenant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3D50E8EF-EC45-4253-427E-8D90F0279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015" y="2861166"/>
            <a:ext cx="4591670" cy="308616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1B4F852-817C-8CD5-4B54-8B198AAB1478}"/>
              </a:ext>
            </a:extLst>
          </p:cNvPr>
          <p:cNvSpPr txBox="1"/>
          <p:nvPr/>
        </p:nvSpPr>
        <p:spPr>
          <a:xfrm>
            <a:off x="2065134" y="6151114"/>
            <a:ext cx="3233875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Digital </a:t>
            </a:r>
            <a:r>
              <a:rPr lang="fr-FR" sz="1400" dirty="0" err="1"/>
              <a:t>Current</a:t>
            </a:r>
            <a:r>
              <a:rPr lang="fr-FR" sz="1400" dirty="0"/>
              <a:t> control for Switch Cap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A80BDD0-6DC2-D7CF-305B-B23FF1304E41}"/>
              </a:ext>
            </a:extLst>
          </p:cNvPr>
          <p:cNvSpPr txBox="1"/>
          <p:nvPr/>
        </p:nvSpPr>
        <p:spPr>
          <a:xfrm>
            <a:off x="8688288" y="6130770"/>
            <a:ext cx="3407000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/>
              <a:t>Digital </a:t>
            </a:r>
            <a:r>
              <a:rPr lang="fr-FR" sz="1400" dirty="0" err="1"/>
              <a:t>Current</a:t>
            </a:r>
            <a:r>
              <a:rPr lang="fr-FR" sz="1400" dirty="0"/>
              <a:t> control for VCO (ZOOM)</a:t>
            </a:r>
          </a:p>
        </p:txBody>
      </p:sp>
    </p:spTree>
    <p:extLst>
      <p:ext uri="{BB962C8B-B14F-4D97-AF65-F5344CB8AC3E}">
        <p14:creationId xmlns:p14="http://schemas.microsoft.com/office/powerpoint/2010/main" val="3030758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97B9-90B8-63AE-845D-D38EF74A2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A2D8CE2-281C-A5D7-D637-7427961FA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73" y="239161"/>
            <a:ext cx="12035227" cy="792163"/>
          </a:xfrm>
        </p:spPr>
        <p:txBody>
          <a:bodyPr/>
          <a:lstStyle/>
          <a:p>
            <a:r>
              <a:rPr lang="fr-FR" sz="2000" dirty="0"/>
              <a:t>First simulation </a:t>
            </a:r>
            <a:r>
              <a:rPr lang="fr-FR" sz="2000" dirty="0" err="1"/>
              <a:t>with</a:t>
            </a:r>
            <a:r>
              <a:rPr lang="fr-FR" sz="2000" dirty="0"/>
              <a:t> bit control SEL48M   : All corner (</a:t>
            </a:r>
            <a:r>
              <a:rPr lang="fr-FR" sz="2000" dirty="0" err="1"/>
              <a:t>trimmed</a:t>
            </a:r>
            <a:r>
              <a:rPr lang="fr-FR" sz="2000" dirty="0"/>
              <a:t>) , Temp=40dC, </a:t>
            </a:r>
            <a:r>
              <a:rPr lang="fr-FR" sz="2000" dirty="0" err="1"/>
              <a:t>Vdd</a:t>
            </a:r>
            <a:r>
              <a:rPr lang="fr-FR" sz="2000" dirty="0"/>
              <a:t>=1.5V </a:t>
            </a:r>
            <a:br>
              <a:rPr lang="fr-FR" sz="2400" dirty="0"/>
            </a:br>
            <a:br>
              <a:rPr lang="fr-FR" sz="2400" dirty="0"/>
            </a:br>
            <a:endParaRPr lang="fr-FR" sz="24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A085CDB-BD71-C998-A841-307DF0D4B3C9}"/>
              </a:ext>
            </a:extLst>
          </p:cNvPr>
          <p:cNvSpPr txBox="1"/>
          <p:nvPr/>
        </p:nvSpPr>
        <p:spPr>
          <a:xfrm>
            <a:off x="893266" y="5927279"/>
            <a:ext cx="1188444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V/I amplifier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AAACA59-E074-6A8C-86F5-58C60C93FED8}"/>
              </a:ext>
            </a:extLst>
          </p:cNvPr>
          <p:cNvSpPr txBox="1"/>
          <p:nvPr/>
        </p:nvSpPr>
        <p:spPr>
          <a:xfrm>
            <a:off x="6907423" y="6309320"/>
            <a:ext cx="996083" cy="309958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sz="1400" dirty="0">
                <a:solidFill>
                  <a:schemeClr val="bg1"/>
                </a:solidFill>
              </a:rPr>
              <a:t>Delay </a:t>
            </a:r>
            <a:r>
              <a:rPr lang="fr-FR" sz="1400" dirty="0" err="1">
                <a:solidFill>
                  <a:schemeClr val="bg1"/>
                </a:solidFill>
              </a:rPr>
              <a:t>Cell</a:t>
            </a:r>
            <a:endParaRPr lang="fr-FR" sz="1400" dirty="0">
              <a:solidFill>
                <a:schemeClr val="bg1"/>
              </a:solidFill>
            </a:endParaRP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FA1BD6C3-2D69-C27C-3022-42AB2E4A5261}"/>
              </a:ext>
            </a:extLst>
          </p:cNvPr>
          <p:cNvGrpSpPr/>
          <p:nvPr/>
        </p:nvGrpSpPr>
        <p:grpSpPr>
          <a:xfrm>
            <a:off x="407368" y="658762"/>
            <a:ext cx="10590078" cy="5650558"/>
            <a:chOff x="114434" y="586679"/>
            <a:chExt cx="6285498" cy="2749691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9BD8B9F8-331D-AE60-FD85-3E4E60196623}"/>
                </a:ext>
              </a:extLst>
            </p:cNvPr>
            <p:cNvSpPr txBox="1"/>
            <p:nvPr/>
          </p:nvSpPr>
          <p:spPr>
            <a:xfrm>
              <a:off x="114434" y="2551208"/>
              <a:ext cx="1188444" cy="309958"/>
            </a:xfrm>
            <a:prstGeom prst="rect">
              <a:avLst/>
            </a:prstGeom>
            <a:noFill/>
          </p:spPr>
          <p:txBody>
            <a:bodyPr vert="horz" wrap="none" lIns="90000" tIns="46800" rIns="90000" bIns="46800" rtlCol="0" anchor="ctr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sz="1400" dirty="0">
                  <a:solidFill>
                    <a:schemeClr val="bg1"/>
                  </a:solidFill>
                </a:rPr>
                <a:t>V/I amplifier</a:t>
              </a:r>
            </a:p>
          </p:txBody>
        </p:sp>
        <p:pic>
          <p:nvPicPr>
            <p:cNvPr id="14" name="Image 13" descr="Une image contenant texte, capture d’écran, nombre, Police&#10;&#10;Le contenu généré par l’IA peut être incorrect.">
              <a:extLst>
                <a:ext uri="{FF2B5EF4-FFF2-40B4-BE49-F238E27FC236}">
                  <a16:creationId xmlns:a16="http://schemas.microsoft.com/office/drawing/2014/main" id="{BC0FDDD2-1FC1-1B2C-5089-4B2DC1F7C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3326" y="586679"/>
              <a:ext cx="3276768" cy="2749691"/>
            </a:xfrm>
            <a:prstGeom prst="rect">
              <a:avLst/>
            </a:prstGeom>
          </p:spPr>
        </p:pic>
        <p:pic>
          <p:nvPicPr>
            <p:cNvPr id="16" name="Image 15" descr="Une image contenant texte, capture d’écran, Police, nombre&#10;&#10;Le contenu généré par l’IA peut être incorrect.">
              <a:extLst>
                <a:ext uri="{FF2B5EF4-FFF2-40B4-BE49-F238E27FC236}">
                  <a16:creationId xmlns:a16="http://schemas.microsoft.com/office/drawing/2014/main" id="{330E8ED6-995E-CB31-3DF9-B31BAF9B2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0094" y="586679"/>
              <a:ext cx="1301817" cy="2730640"/>
            </a:xfrm>
            <a:prstGeom prst="rect">
              <a:avLst/>
            </a:prstGeom>
          </p:spPr>
        </p:pic>
        <p:pic>
          <p:nvPicPr>
            <p:cNvPr id="19" name="Image 18" descr="Une image contenant texte, capture d’écran, Police, nombre&#10;&#10;Le contenu généré par l’IA peut être incorrect.">
              <a:extLst>
                <a:ext uri="{FF2B5EF4-FFF2-40B4-BE49-F238E27FC236}">
                  <a16:creationId xmlns:a16="http://schemas.microsoft.com/office/drawing/2014/main" id="{4BF2E883-8AD1-F119-618E-F1581F047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1911" y="612080"/>
              <a:ext cx="1378021" cy="2705239"/>
            </a:xfrm>
            <a:prstGeom prst="rect">
              <a:avLst/>
            </a:prstGeom>
          </p:spPr>
        </p:pic>
      </p:grpSp>
      <p:pic>
        <p:nvPicPr>
          <p:cNvPr id="22" name="Image 2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F8F4A0C8-3980-1B50-CFF1-E6144673B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1710" y="689041"/>
            <a:ext cx="4304026" cy="55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3927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E4P_AGENDAWIZARD" val="&lt;ee4p&gt;&lt;layouts&gt;&lt;layout name=&quot;Capgemini invent Line Grey&quot; id=&quot;435_2&quot;&gt;&lt;standard&gt;&lt;textframe horizontalAnchor=&quot;1&quot; marginBottom=&quot;0&quot; marginLeft=&quot;0&quot; marginRight=&quot;0&quot; marginTop=&quot;0&quot; orientation=&quot;1&quot; verticalAnchor=&quot;1&quot; /&gt;&lt;font name=&quot;Ubuntu&quot; bold=&quot;0&quot; italic=&quot;0&quot; color=&quot;#ffffff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shadow visible=&quot;0&quot; /&gt;&lt;/standard&gt;&lt;agenda name=&quot;New Agenda&quot; title=&quot;Agenda&quot; subtitle=&quot;&quot; sizingModeId=&quot;2&quot; fontSize=&quot;24&quot; fontSizeAuto=&quot;1&quot; startTime=&quot;540&quot; timeFormatId=&quot;2&quot; startItemNo=&quot;1&quot; createSingleAgendaSlide=&quot;1&quot; createSeparatingSlides=&quot;1&quot; createBackupSlide=&quot;1&quot; /&gt;&lt;columns&gt;&lt;column field=&quot;itemno&quot; label=&quot;No.&quot; checked=&quot;1&quot; leftSpacing=&quot;0&quot; rightSpacing=&quot;0&quot; dock=&quot;1&quot; fixedWidth=&quot;52&quot; /&gt;&lt;column field=&quot;topic&quot; label=&quot;Topic&quot; leftSpacing=&quot;10&quot; rightDistribute=&quot;1&quot; dock=&quot;1&quot; /&gt;&lt;column field=&quot;responsible&quot; label=&quot;Responsible&quot; visible=&quot;1&quot; checked=&quot;1&quot; leftSpacing=&quot;10&quot; rightDistribute=&quot;1&quot; dock=&quot;1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position left=&quot;84.31764&quot; top=&quot;128.4218&quot; width=&quot;611.1824&quot; height=&quot;379.8731&quot; /&gt;&lt;settings allowedSizingModeIds=&quot;1|2&quot; allowedFontSizes=&quot;8|9|10|10.5|11|12|14|16|18&quot; allowedTimeFormatIds=&quot;1|2|3&quot; slideLayout=&quot;11&quot; customLayoutName=&quot;1_Agenda&quot; customLayoutNameBackup=&quot;1_Agenda&quot; customLayoutIndex=&quot;&quot; showBreak=&quot;1&quot; singleAgendaSlideSelected=&quot;0&quot; backupSlideTitle=&quot;Backup: %agendaName%&quot; topMargin=&quot;0&quot; leftMargin=&quot;0&quot; allowedLevels=&quot;4&quot; itemNoFormats=&quot;{1:2}¦{1:2}.{2}¦{3:alphaLC}¦{3:alphaLC}.{4:alphaLC}&quot; /&gt;&lt;!-- Agenda item formats --&gt;&lt;cases&gt;&lt;case level=&quot;1&quot; selected=&quot;0&quot; break=&quot;0&quot; topMinSpacing=&quot;15&quot; topMaxSpacing=&quot;15&quot; bottomMinSpacing=&quot;0&quot; bottomMaxSpacing=&quot;0&quot;&gt;&lt;element field=&quot;itemno&quot; type=&quot;autoshape&quot; autoShape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&gt;&lt;paragraphformat alignment=&quot;1&quot; /&gt;&lt;textframe marginLeft=&quot;0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1&quot; selected=&quot;1&quot; break=&quot;0&quot; topMinSpacing=&quot;15&quot; topMaxSpacing=&quot;15&quot; bottomMinSpacing=&quot;0&quot; bottomMaxSpacing=&quot;0&quot;&gt;&lt;element type=&quot;line&quot; value=&quot;&quot;&gt;&lt;position left=&quot;0&quot; top=&quot;itemHeight+3*scale*fontScale&quot; width=&quot;agendaWidth&quot; height=&quot;0&quot; /&gt;&lt;line style=&quot;1&quot; dashStyle=&quot;1&quot; foreColor=&quot;6&quot; transparency=&quot;0&quot; visible=&quot;1&quot; weight=&quot;1&quot; /&gt;&lt;/element&gt;&lt;element type=&quot;line&quot; value=&quot;&quot;&gt;&lt;position left=&quot;0&quot; top=&quot;0&quot; width=&quot;agendaWidth&quot; height=&quot;0&quot; /&gt;&lt;line style=&quot;1&quot; dashStyle=&quot;1&quot; foreColor=&quot;6&quot; transparency=&quot;0&quot; visible=&quot;1&quot; weight=&quot;1&quot; /&gt;&lt;/element&gt;&lt;element field=&quot;itemno&quot; type=&quot;autoshape&quot; autoShape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&gt;&lt;paragraphformat alignment=&quot;1&quot; /&gt;&lt;textframe marginLeft=&quot;0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2&quot; selected=&quot;0&quot; break=&quot;0&quot; topMinSpacing=&quot;15&quot; topMaxSpacing=&quot;15&quot; bottomMinSpacing=&quot;0&quot; bottomMaxSpacing=&quot;0&quot;&gt;&lt;element field=&quot;itemno&quot; type=&quot;autoshape&quot; autoShapeType=&quot;1&quot; indent=&quot;(level-1)*(itemNoWidth+topicLeftSpacing) &quot; indent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 indent=&quot;(level-1)*(itemNoWidth+topicLeftSpacing) &quot; indentType=&quot;2&quot;&gt;&lt;paragraphformat alignment=&quot;1&quot; /&gt;&lt;textframe marginLeft=&quot;0&quot; /&gt;&lt;/element&gt;&lt;element field=&quot;responsible&quot; type=&quot;autoshape&quot; autoShapeType=&quot;1&quot; indent=&quot;(level-1)*(itemNoWidth+topicLeftSpacing) &quot; indentType=&quot;1&quot;&gt;&lt;paragraphformat alignment=&quot;1&quot; /&gt;&lt;/element&gt;&lt;element field=&quot;freecolumn&quot; type=&quot;autoshape&quot; autoShapeType=&quot;1&quot; indent=&quot;(level-1)*(itemNoWidth+topicLeftSpacing) &quot; indent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2&quot; selected=&quot;1&quot; break=&quot;0&quot; topMinSpacing=&quot;15&quot; topMaxSpacing=&quot;15&quot; bottomMinSpacing=&quot;0&quot; bottomMaxSpacing=&quot;0&quot;&gt;&lt;element type=&quot;line&quot; value=&quot;&quot;&gt;&lt;position left=&quot;0&quot; top=&quot;itemHeight+3*scale*fontScale&quot; width=&quot;agendaWidth&quot; height=&quot;0&quot; /&gt;&lt;line style=&quot;1&quot; dashStyle=&quot;1&quot; foreColor=&quot;6&quot; transparency=&quot;0&quot; visible=&quot;1&quot; weight=&quot;1&quot; /&gt;&lt;/element&gt;&lt;element type=&quot;line&quot; value=&quot;&quot;&gt;&lt;position left=&quot;0&quot; top=&quot;0&quot; width=&quot;agendaWidth&quot; height=&quot;0&quot; /&gt;&lt;line style=&quot;1&quot; dashStyle=&quot;1&quot; foreColor=&quot;6&quot; transparency=&quot;0&quot; visible=&quot;1&quot; weight=&quot;1&quot; /&gt;&lt;/element&gt;&lt;element field=&quot;itemno&quot; type=&quot;autoshape&quot; autoShapeType=&quot;1&quot; indent=&quot;(level-1)*(itemNoWidth+topicLeftSpacing) &quot; indent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 indent=&quot;(level-1)*(itemNoWidth+topicLeftSpacing) &quot; indentType=&quot;2&quot;&gt;&lt;paragraphformat alignment=&quot;1&quot; /&gt;&lt;textframe marginLeft=&quot;0&quot; /&gt;&lt;/element&gt;&lt;element field=&quot;responsible&quot; type=&quot;autoshape&quot; autoShapeType=&quot;1&quot; indent=&quot;(level-1)*(itemNoWidth+topicLeftSpacing) &quot; indentType=&quot;1&quot;&gt;&lt;paragraphformat alignment=&quot;1&quot; /&gt;&lt;/element&gt;&lt;element field=&quot;freecolumn&quot; type=&quot;autoshape&quot; autoShapeType=&quot;1&quot; indent=&quot;(level-1)*(itemNoWidth+topicLeftSpacing) &quot; indent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1&quot; selected=&quot;0&quot; break=&quot;1&quot; topMinSpacing=&quot;15&quot; topMaxSpacing=&quot;15&quot; bottomMinSpacing=&quot;0&quot; bottomMaxSpacing=&quot;0&quot;&gt;&lt;element field=&quot;topic&quot; type=&quot;autoshape&quot; autoShapeType=&quot;1&quot; indent=&quot;(level-1)*(itemNoWidth+topicLeftSpacing) &quot; indentType=&quot;2&quot;&gt;&lt;paragraphformat alignment=&quot;1&quot; /&gt;&lt;font italic=&quot;1&quot; /&gt;&lt;/element&gt;&lt;element field=&quot;responsible&quot; type=&quot;autoshape&quot; autoShapeType=&quot;1&quot; indent=&quot;(level-1)*(itemNoWidth+topicLeftSpacing) &quot; indentType=&quot;1&quot;&gt;&lt;paragraphformat alignment=&quot;1&quot; /&gt;&lt;font italic=&quot;1&quot; /&gt;&lt;/element&gt;&lt;element field=&quot;freecolumn&quot; type=&quot;autoshape&quot; autoShapeType=&quot;1&quot; indent=&quot;(level-1)*(itemNoWidth+topicLeftSpacing) &quot; indentType=&quot;1&quot;&gt;&lt;paragraphformat alignment=&quot;1&quot; /&gt;&lt;font italic=&quot;1&quot; /&gt;&lt;/element&gt;&lt;element field=&quot;timeslot&quot; type=&quot;autoshape&quot; autoShapeType=&quot;1&quot;&gt;&lt;paragraphformat alignment=&quot;3&quot; /&gt;&lt;font italic=&quot;1&quot; /&gt;&lt;/element&gt;&lt;element field=&quot;pageno&quot; type=&quot;autoshape&quot; autoShapeType=&quot;1&quot;&gt;&lt;paragraphformat alignment=&quot;3&quot; /&gt;&lt;font italic=&quot;1&quot; /&gt;&lt;/element&gt;&lt;/case&gt;&lt;case level=&quot;1&quot; selected=&quot;1&quot; break=&quot;1&quot; topMinSpacing=&quot;15&quot; topMaxSpacing=&quot;15&quot; bottomMinSpacing=&quot;0&quot; bottomMaxSpacing=&quot;0&quot;&gt;&lt;element type=&quot;line&quot; value=&quot;&quot;&gt;&lt;position left=&quot;0&quot; top=&quot;itemHeight+3*scale*fontScale&quot; width=&quot;agendaWidth&quot; height=&quot;0&quot; /&gt;&lt;line style=&quot;1&quot; dashStyle=&quot;1&quot; foreColor=&quot;6&quot; transparency=&quot;0&quot; visible=&quot;1&quot; weight=&quot;1&quot; /&gt;&lt;/element&gt;&lt;element type=&quot;line&quot; value=&quot;&quot;&gt;&lt;position left=&quot;0&quot; top=&quot;0&quot; width=&quot;agendaWidth&quot; height=&quot;0&quot; /&gt;&lt;line style=&quot;1&quot; dashStyle=&quot;1&quot; foreColor=&quot;6&quot; transparency=&quot;0&quot; visible=&quot;1&quot; weight=&quot;1&quot; /&gt;&lt;/element&gt;&lt;element field=&quot;topic&quot; type=&quot;autoshape&quot; autoShapeType=&quot;1&quot; indent=&quot;(level-1)*(itemNoWidth+topicLeftSpacing) &quot; indentType=&quot;2&quot;&gt;&lt;paragraphformat alignment=&quot;1&quot; /&gt;&lt;font italic=&quot;1&quot; /&gt;&lt;/element&gt;&lt;element field=&quot;responsible&quot; type=&quot;autoshape&quot; autoShapeType=&quot;1&quot; indent=&quot;(level-1)*(itemNoWidth+topicLeftSpacing) &quot; indentType=&quot;1&quot;&gt;&lt;paragraphformat alignment=&quot;1&quot; /&gt;&lt;font italic=&quot;1&quot; /&gt;&lt;/element&gt;&lt;element field=&quot;freecolumn&quot; type=&quot;autoshape&quot; autoShapeType=&quot;1&quot; indent=&quot;(level-1)*(itemNoWidth+topicLeftSpacing) &quot; indentType=&quot;1&quot;&gt;&lt;paragraphformat alignment=&quot;1&quot; /&gt;&lt;font italic=&quot;1&quot; /&gt;&lt;/element&gt;&lt;element field=&quot;timeslot&quot; type=&quot;autoshape&quot; autoShapeType=&quot;1&quot;&gt;&lt;paragraphformat alignment=&quot;3&quot; /&gt;&lt;font italic=&quot;1&quot; /&gt;&lt;/element&gt;&lt;element field=&quot;pageno&quot; type=&quot;autoshape&quot; autoShapeType=&quot;1&quot;&gt;&lt;paragraphformat alignment=&quot;3&quot; /&gt;&lt;font italic=&quot;1&quot; /&gt;&lt;/element&gt;&lt;/case&gt;&lt;/cases&gt;&lt;!-- Elements on slide independent of items --&gt;&lt;elements&gt;&lt;!--   &lt;element type=&quot;picture&quot; picture=&quot;image.png&quot; value=&quot;asdf&quot;  &gt;&#10;          &lt;position left=&quot;-278.9405&quot; top=&quot;-142.375&quot; width=&quot;457.6407&quot; height=&quot;540.0002&quot;/&gt;        &#10;        &lt;/element&gt;&#10;&#10;        &lt;element type=&quot;picture&quot; picture=&quot;BG_blue.png&quot; value=&quot;asdf&quot;  &gt;&#10;          &lt;position left=&quot;-278.9405&quot; top=&quot;-142.375&quot; width=&quot;960&quot; height=&quot;540&quot;/&gt;        &#10;        &lt;/element&gt; --&gt;&lt;/elements&gt;&lt;/layout&gt;&lt;/layouts&gt;&lt;contents&gt;&lt;agenda name=&quot;New Agenda&quot; title=&quot;Agenda&quot; subtitle=&quot;&quot; sizingModeId=&quot;2&quot; fontSize=&quot;24&quot; fontSizeAuto=&quot;1&quot; startTime=&quot;540&quot; timeFormatId=&quot;2&quot; startItemNo=&quot;1&quot; createSingleAgendaSlide=&quot;1&quot; createSeparatingSlides=&quot;1&quot; createBackupSlide=&quot;1&quot; layoutId=&quot;435_2&quot; hideSeparatingSlides=&quot;0&quot; createSections=&quot;0&quot; singleSlideId=&quot;4a985bb3-9c0f-4d30-bab0-e861f6c1f7d9&quot; backupSlideId=&quot;59f12b8f-bcfa-4c72-806d-af721da5741a&quot;&gt;&lt;columns leftSpacing=&quot;0&quot; rightSpacing=&quot;0&quot;&gt;&lt;column field=&quot;itemno&quot; label=&quot;No.&quot; checked=&quot;1&quot; leftSpacing=&quot;0&quot; rightSpacing=&quot;0&quot; dock=&quot;1&quot; fixedWidth=&quot;52&quot; /&gt;&lt;column field=&quot;topic&quot; label=&quot;Topic&quot; leftSpacing=&quot;10&quot; rightDistribute=&quot;1&quot; dock=&quot;1&quot; rightSpacing=&quot;114.0997&quot; /&gt;&lt;column field=&quot;responsible&quot; label=&quot;Responsible&quot; visible=&quot;1&quot; checked=&quot;1&quot; leftSpacing=&quot;10&quot; rightDistribute=&quot;1&quot; dock=&quot;1&quot; rightSpacing=&quot;114.0997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items&gt;&lt;item duration=&quot;30&quot; id=&quot;f30ff3b2-059e-47be-bfce-20f89c801ddd&quot; parentId=&quot;&quot; level=&quot;1&quot; generateAgendaSlide=&quot;1&quot; showAgendaItem=&quot;1&quot; isBreak=&quot;0&quot; topic=&quot;Part 1&quot; agendaSlideId=&quot;af0b860f-cd42-4a9e-9c99-a53635a9e083&quot; /&gt;&lt;item duration=&quot;30&quot; id=&quot;7f2c9adb-5359-438f-8174-f3799807dfb9&quot; parentId=&quot;&quot; level=&quot;1&quot; generateAgendaSlide=&quot;1&quot; showAgendaItem=&quot;1&quot; isBreak=&quot;0&quot; topic=&quot;Part 2&quot; agendaSlideId=&quot;07e6bc76-8a2b-48ad-97c4-1f85e540bbd5&quot; /&gt;&lt;item duration=&quot;30&quot; id=&quot;00ba97b5-5509-49fc-95b8-9afe1f8e54cf&quot; parentId=&quot;&quot; level=&quot;1&quot; generateAgendaSlide=&quot;1&quot; showAgendaItem=&quot;1&quot; isBreak=&quot;0&quot; topic=&quot;Part 3&quot; agendaSlideId=&quot;4d6dfe7c-00a3-4d20-aa7f-6447da594e0a&quot; /&gt;&lt;item duration=&quot;30&quot; id=&quot;d6c20a75-a816-4fd9-9cac-9e1eb824eb5f&quot; parentId=&quot;&quot; level=&quot;1&quot; generateAgendaSlide=&quot;1&quot; showAgendaItem=&quot;1&quot; isBreak=&quot;0&quot; topic=&quot;Part 4&quot; agendaSlideId=&quot;d29762e6-a410-4070-9806-5d73acff4eaf&quot; /&gt;&lt;/items&gt;&lt;/agenda&gt;&lt;/contents&gt;&lt;/ee4p&gt;"/>
  <p:tag name="EE4P_STYLE_ID" val="3edb2f5e-e25b-4bbf-81ee-2b4396447386"/>
</p:tagLst>
</file>

<file path=ppt/theme/theme1.xml><?xml version="1.0" encoding="utf-8"?>
<a:theme xmlns:a="http://schemas.openxmlformats.org/drawingml/2006/main" name="Capgemini Engineering 2025">
  <a:themeElements>
    <a:clrScheme name="Capgemini 2024">
      <a:dk1>
        <a:sysClr val="windowText" lastClr="000000"/>
      </a:dk1>
      <a:lt1>
        <a:srgbClr val="FFFFFF"/>
      </a:lt1>
      <a:dk2>
        <a:srgbClr val="000000"/>
      </a:dk2>
      <a:lt2>
        <a:srgbClr val="F6F6F6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00BFBF"/>
      </a:accent6>
      <a:hlink>
        <a:srgbClr val="00929B"/>
      </a:hlink>
      <a:folHlink>
        <a:srgbClr val="00BFBF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Engineering-template-master_2025.potx" id="{3DBE4F98-56F4-4AAB-A485-990DA88006A0}" vid="{02178783-60D2-4EBF-9F07-051103436257}"/>
    </a:ext>
  </a:extLst>
</a:theme>
</file>

<file path=ppt/theme/theme2.xml><?xml version="1.0" encoding="utf-8"?>
<a:theme xmlns:a="http://schemas.openxmlformats.org/drawingml/2006/main" name="Tema do Office">
  <a:themeElements>
    <a:clrScheme name="Capgemini Invent">
      <a:dk1>
        <a:sysClr val="windowText" lastClr="000000"/>
      </a:dk1>
      <a:lt1>
        <a:srgbClr val="FFFFFF"/>
      </a:lt1>
      <a:dk2>
        <a:srgbClr val="2B143D"/>
      </a:dk2>
      <a:lt2>
        <a:srgbClr val="ECECEC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0070A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apgemini Invent">
      <a:dk1>
        <a:sysClr val="windowText" lastClr="000000"/>
      </a:dk1>
      <a:lt1>
        <a:srgbClr val="FFFFFF"/>
      </a:lt1>
      <a:dk2>
        <a:srgbClr val="2B143D"/>
      </a:dk2>
      <a:lt2>
        <a:srgbClr val="ECECEC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0070A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D005C7-03E4-4069-A4FB-9A9D17E8A0A1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ntity xmlns="f1122fed-4606-4ec8-90ef-13536176a38c">Capgemini Engineering</Entity>
    <Classification xmlns="f1122fed-4606-4ec8-90ef-13536176a38c">Company Public (Sec 0)</Classification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DB8F1B61B4E349B1D07C13E9DB8DAC" ma:contentTypeVersion="11" ma:contentTypeDescription="Create a new document." ma:contentTypeScope="" ma:versionID="3aaf0f9d2064301305610fb2c4a290e0">
  <xsd:schema xmlns:xsd="http://www.w3.org/2001/XMLSchema" xmlns:xs="http://www.w3.org/2001/XMLSchema" xmlns:p="http://schemas.microsoft.com/office/2006/metadata/properties" xmlns:ns2="f1122fed-4606-4ec8-90ef-13536176a38c" xmlns:ns3="83fd27e2-85d6-4e10-9bbd-a3e555ecf21b" targetNamespace="http://schemas.microsoft.com/office/2006/metadata/properties" ma:root="true" ma:fieldsID="2b8266dd3e8c0b66e3d5c70a7635ee51" ns2:_="" ns3:_="">
    <xsd:import namespace="f1122fed-4606-4ec8-90ef-13536176a38c"/>
    <xsd:import namespace="83fd27e2-85d6-4e10-9bbd-a3e555ecf21b"/>
    <xsd:element name="properties">
      <xsd:complexType>
        <xsd:sequence>
          <xsd:element name="documentManagement">
            <xsd:complexType>
              <xsd:all>
                <xsd:element ref="ns2:Entity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Classification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122fed-4606-4ec8-90ef-13536176a38c" elementFormDefault="qualified">
    <xsd:import namespace="http://schemas.microsoft.com/office/2006/documentManagement/types"/>
    <xsd:import namespace="http://schemas.microsoft.com/office/infopath/2007/PartnerControls"/>
    <xsd:element name="Entity" ma:index="8" ma:displayName="Entity" ma:format="RadioButtons" ma:internalName="Entity">
      <xsd:simpleType>
        <xsd:restriction base="dms:Choice">
          <xsd:enumeration value="Capgemini Group"/>
          <xsd:enumeration value="Capgemini Invent"/>
          <xsd:enumeration value="Group IT"/>
          <xsd:enumeration value="Sogeti"/>
          <xsd:enumeration value="Capgemini Engineering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Classification" ma:index="13" ma:displayName="Classification" ma:description="Data Classification" ma:format="RadioButtons" ma:internalName="Classification">
      <xsd:simpleType>
        <xsd:restriction base="dms:Choice">
          <xsd:enumeration value="Company Public (Sec 0)"/>
          <xsd:enumeration value="Company Confidential (Sec 1)"/>
          <xsd:enumeration value="Company Restricted (Sec 2)"/>
          <xsd:enumeration value="Company Sensitive (Sec 3)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d27e2-85d6-4e10-9bbd-a3e555ecf21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EF1C54-CCF4-4002-B4D9-B23CFD1A9DED}">
  <ds:schemaRefs>
    <ds:schemaRef ds:uri="http://www.w3.org/XML/1998/namespace"/>
    <ds:schemaRef ds:uri="http://purl.org/dc/terms/"/>
    <ds:schemaRef ds:uri="http://schemas.microsoft.com/office/2006/documentManagement/types"/>
    <ds:schemaRef ds:uri="83fd27e2-85d6-4e10-9bbd-a3e555ecf21b"/>
    <ds:schemaRef ds:uri="http://schemas.microsoft.com/office/2006/metadata/properties"/>
    <ds:schemaRef ds:uri="http://purl.org/dc/elements/1.1/"/>
    <ds:schemaRef ds:uri="f1122fed-4606-4ec8-90ef-13536176a38c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19874D8-B35B-4624-808E-9860439867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122fed-4606-4ec8-90ef-13536176a38c"/>
    <ds:schemaRef ds:uri="83fd27e2-85d6-4e10-9bbd-a3e555ecf2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8B59C2-5BEE-4A94-8245-BF987A404D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Capgemini-Engineering-template-master_2025</Template>
  <TotalTime>10429</TotalTime>
  <Words>1597</Words>
  <Application>Microsoft Office PowerPoint</Application>
  <PresentationFormat>Grand écran</PresentationFormat>
  <Paragraphs>334</Paragraphs>
  <Slides>26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3" baseType="lpstr">
      <vt:lpstr>Ubuntu</vt:lpstr>
      <vt:lpstr>Ubuntu Medium</vt:lpstr>
      <vt:lpstr>Arial</vt:lpstr>
      <vt:lpstr>Verdana</vt:lpstr>
      <vt:lpstr>Wingdings</vt:lpstr>
      <vt:lpstr>Ubuntu Light</vt:lpstr>
      <vt:lpstr>Capgemini Engineering 2025</vt:lpstr>
      <vt:lpstr>Présentation PowerPoint</vt:lpstr>
      <vt:lpstr>Présentation PowerPoint</vt:lpstr>
      <vt:lpstr>ELMOS MAIN Requirements in KEY FOUNDRY HVT :   Design a High Precision 48 Mhz OSCILLATOR with a minimum  Error after trimming .  I define 3 specification ranges :    1) Specification 1 ( nominal) : Vdd: 1.35 to 1.65 V  , Temp :-40 to +160dC , with  ERROR &lt;&lt;+/-1%    2) Specification  2  : Vdd: 1.35V to 1.65V , Temp :-55 to +175dC , with ERROR &lt; +/-1%   3) Specification 3 : Vdd: 1.25V to 1.65V , Temp :-55 to +175dC ,with ERROR ≈ +/-1%    Design Priorities :   1) Minimizing Error with Robust Design    2) Power Consumption    3) Layout Area</vt:lpstr>
      <vt:lpstr>Existing Design in KEY Foundry : OSC48M   Architecture Relaxation ramp :</vt:lpstr>
      <vt:lpstr>Présentation PowerPoint</vt:lpstr>
      <vt:lpstr>Existing Design in KEY Foundry : OSC48M  main result  </vt:lpstr>
      <vt:lpstr>OSC48M  LIMITATIONS :   1) Relaxation based on equivalent Resistance Rref with capacitance C1(or C2):        Fosc=1/(2 Rref *C1)  (excluding delai comparator)       Rref resistance Rdppo_ns ( width=2um)      Capacitance  : realized with  cmom capacitance array ( trimming)        as Rref *C1 is not constant versus temperature  Fosc will not be constant .  2) second order effect  : Comparator delai which is not constant versus temperature and supply  Oscillation frequency will be    Fosc = 1/(2Rref*C1+2 Td)  If Fosc is small &lt;&lt; 10 Mhz Td could be neglected here for Fsoc=48Mhz  Td will impact PSRR ,Tc_ppm/K and Error +/- %      </vt:lpstr>
      <vt:lpstr>New Architecture : FLL OSCILLATOR </vt:lpstr>
      <vt:lpstr>FLL ARCHITECTURE PRINCIPLE :  Steady state loop : VSC(average)=VRES            </vt:lpstr>
      <vt:lpstr>Why FLL ARCHITECTURE  ?   1) FLL :Frequency LOCK LOOP     Main avantage : it is a closed loop design so  internal block  delais do not any impact oscillation frequency  versus temperature and supply  ( no Td impact as previous architecture ramp) .    By construction PSRR (dc) should be neglectable     2) Remain the time constant  T= Req * C which should be constant versus temperature and supply  Vdd  .     Key Foundry provide a resistance (Rdppo_ns) which coefficient of temperature Tc1 dépend of width  !   The goal is to get Res*C with the lowest Tc_ppm/K !      </vt:lpstr>
      <vt:lpstr>Model Req*C with excell file : optimum width resistance 4.5um Tc_ppm/k (-40..+175dc)= 31.45 !!</vt:lpstr>
      <vt:lpstr>Design OSCM48 FLL </vt:lpstr>
      <vt:lpstr>Simulation Validation Time constante :T=Req*C </vt:lpstr>
      <vt:lpstr>Results simulation , process TTT (  trimmed  code to get Fsoc=48Mhz)  Temp:-55 to 175dC , Vdd:1.25 to 1.65V</vt:lpstr>
      <vt:lpstr>Resistance with trimming 9 bits</vt:lpstr>
      <vt:lpstr>OPAMP :classical two stages OTA  </vt:lpstr>
      <vt:lpstr>OPAMP Characteristics </vt:lpstr>
      <vt:lpstr>VCO : V/I amplifier loading ring oscillator  providing 96Mhz  Followed by divider 2 to 16 . </vt:lpstr>
      <vt:lpstr>VCO : Simulation PVT  results versus Vc  (Centered at VREF=0.9V)</vt:lpstr>
      <vt:lpstr>Bandgap:providing current 10uA (VCO,OPAMP) and VREF=0.9V (to VCO) (Reused OSC32MCCO)</vt:lpstr>
      <vt:lpstr>Bandgap simulation results versus PVT :temp-55 to 175, Vdd 1.25 to 1.65 , all corners</vt:lpstr>
      <vt:lpstr>Charge PUMP +Translator : loading Switch Cap : . Why Charge pump  ? Reduce RON  SWITCH ( REQ=Cste) (switch Vdd=1.25 mos 1.5V don’t work) </vt:lpstr>
      <vt:lpstr>TOP SIMULATION RESULTS VERSUS PVT (Results simulation 28 Feb) All corners trimmed at Vdd=1.5V and Temp=40dC </vt:lpstr>
      <vt:lpstr>Summary Specification parameter (after trimming) </vt:lpstr>
      <vt:lpstr>Going to 64 Mhz OSCILLATOR  ?   Only two small changes :   increasing the current loading the switch cap by 33%    increasing the current in the VCO by 33%  These two changes could be easily digitally control (1bit) meaning that the IP could provide 48Mhz  and 64Mhz  ..with the same trimmed values !!</vt:lpstr>
      <vt:lpstr>First simulation with bit control SEL48M   : All corner (trimmed) , Temp=40dC, Vdd=1.5V   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Template</dc:subject>
  <dc:creator>MORISSON, Richard</dc:creator>
  <cp:lastModifiedBy>MORISSON, Richard</cp:lastModifiedBy>
  <cp:revision>35</cp:revision>
  <dcterms:created xsi:type="dcterms:W3CDTF">2025-10-12T14:04:08Z</dcterms:created>
  <dcterms:modified xsi:type="dcterms:W3CDTF">2026-02-28T10:22:37Z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0x010100E3DB8F1B61B4E349B1D07C13E9DB8DAC</vt:lpwstr>
  </property>
  <property fmtid="{D5CDD505-2E9C-101B-9397-08002B2CF9AE}" pid="3" name="MediaServiceImageTags">
    <vt:lpwstr/>
  </property>
</Properties>
</file>